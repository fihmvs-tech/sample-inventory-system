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概觀" id="{F144B7AA-D115-4112-B97E-EF629F49296F}">
          <p14:sldIdLst>
            <p14:sldId id="256"/>
            <p14:sldId id="257"/>
            <p14:sldId id="258"/>
          </p14:sldIdLst>
        </p14:section>
        <p14:section name="架構與流程" id="{D139AEBB-C617-4628-B4C5-9E1C798B553D}">
          <p14:sldIdLst>
            <p14:sldId id="259"/>
            <p14:sldId id="260"/>
            <p14:sldId id="261"/>
          </p14:sldIdLst>
        </p14:section>
        <p14:section name="資料與介面" id="{191ABC5E-63F8-4F6E-A7BF-5E46CA495297}">
          <p14:sldIdLst>
            <p14:sldId id="262"/>
            <p14:sldId id="263"/>
            <p14:sldId id="264"/>
          </p14:sldIdLst>
        </p14:section>
        <p14:section name="維運與安全" id="{6CF6B327-4153-4358-90C5-A43939661949}">
          <p14:sldIdLst>
            <p14:sldId id="265"/>
            <p14:sldId id="266"/>
            <p14:sldId id="267"/>
            <p14:sldId id="26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79D9F8-A42F-41FD-83FC-C9FC5A863576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68407B-261F-4A0F-996B-62EFCF2DC9C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645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/>
              <a:t>這份簡報說明展品借還系統的設計架構：使用者怎麼用、資料放在哪裡、程式怎麼分工，以及安全與維運方式。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68407B-261F-4A0F-996B-62EFCF2DC9C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27304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/>
              <a:t>整個系統由四個部分組成，全部使用免費服務。借用者只需要手機相機和瀏覽器；資料存在專案的 </a:t>
            </a:r>
            <a:r>
              <a:rPr lang="en-US" altLang="zh-TW"/>
              <a:t>Google </a:t>
            </a:r>
            <a:r>
              <a:rPr lang="zh-TW" altLang="en-US"/>
              <a:t>試算表，管理者也能直接打開試算表查看。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68407B-261F-4A0F-996B-62EFCF2DC9C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73918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/>
              <a:t>左欄是需求書的項目，右欄是系統的實作方式。每一項都已經實作並通過測試。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68407B-261F-4A0F-996B-62EFCF2DC9C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62952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/>
              <a:t>手機只負責畫面；所有規則和資料都在後端。手機透過 </a:t>
            </a:r>
            <a:r>
              <a:rPr lang="en-US" altLang="zh-TW"/>
              <a:t>HTTPS </a:t>
            </a:r>
            <a:r>
              <a:rPr lang="zh-TW" altLang="en-US"/>
              <a:t>呼叫 </a:t>
            </a:r>
            <a:r>
              <a:rPr lang="en-US" altLang="zh-TW"/>
              <a:t>Apps Script </a:t>
            </a:r>
            <a:r>
              <a:rPr lang="zh-TW" altLang="en-US"/>
              <a:t>的網址，</a:t>
            </a:r>
            <a:r>
              <a:rPr lang="en-US" altLang="zh-TW"/>
              <a:t>Apps Script </a:t>
            </a:r>
            <a:r>
              <a:rPr lang="zh-TW" altLang="en-US"/>
              <a:t>再讀寫試算表。前端由 </a:t>
            </a:r>
            <a:r>
              <a:rPr lang="en-US" altLang="zh-TW"/>
              <a:t>GitHub </a:t>
            </a:r>
            <a:r>
              <a:rPr lang="zh-TW" altLang="en-US"/>
              <a:t>自動部署；每天 </a:t>
            </a:r>
            <a:r>
              <a:rPr lang="en-US" altLang="zh-TW"/>
              <a:t>17:00 </a:t>
            </a:r>
            <a:r>
              <a:rPr lang="zh-TW" altLang="en-US"/>
              <a:t>由 </a:t>
            </a:r>
            <a:r>
              <a:rPr lang="en-US" altLang="zh-TW"/>
              <a:t>Apps Script </a:t>
            </a:r>
            <a:r>
              <a:rPr lang="zh-TW" altLang="en-US"/>
              <a:t>的觸發條件寄出催還信。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68407B-261F-4A0F-996B-62EFCF2DC9C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4015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/>
              <a:t>借用者不用登入：掃描展品、確認清單、填 </a:t>
            </a:r>
            <a:r>
              <a:rPr lang="en-US" altLang="zh-TW"/>
              <a:t>Email </a:t>
            </a:r>
            <a:r>
              <a:rPr lang="zh-TW" altLang="en-US"/>
              <a:t>就完成。同一個 </a:t>
            </a:r>
            <a:r>
              <a:rPr lang="en-US" altLang="zh-TW"/>
              <a:t>QR Code </a:t>
            </a:r>
            <a:r>
              <a:rPr lang="zh-TW" altLang="en-US"/>
              <a:t>依展品狀態自動判斷是借用還是歸還。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68407B-261F-4A0F-996B-62EFCF2DC9C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701864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/>
              <a:t>每一件展品都是獨立的一列借用紀錄，所以可以逐件歸還。剩下的展品如果要改帶去美國，管理者可以用「移轉」開一張新的借用單、更新事由與歸還日；不移轉也可以，未還的展品會繼續記在原借用者名下。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68407B-261F-4A0F-996B-62EFCF2DC9C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43615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/>
              <a:t>Items </a:t>
            </a:r>
            <a:r>
              <a:rPr lang="zh-TW" altLang="en-US"/>
              <a:t>是目前狀態，</a:t>
            </a:r>
            <a:r>
              <a:rPr lang="en-US" altLang="zh-TW"/>
              <a:t>Loans </a:t>
            </a:r>
            <a:r>
              <a:rPr lang="zh-TW" altLang="en-US"/>
              <a:t>是借用紀錄（一件一列），</a:t>
            </a:r>
            <a:r>
              <a:rPr lang="en-US" altLang="zh-TW"/>
              <a:t>Logs </a:t>
            </a:r>
            <a:r>
              <a:rPr lang="zh-TW" altLang="en-US"/>
              <a:t>是不會修改的異動日誌。</a:t>
            </a:r>
            <a:r>
              <a:rPr lang="en-US" altLang="zh-TW"/>
              <a:t>Borrowers </a:t>
            </a:r>
            <a:r>
              <a:rPr lang="zh-TW" altLang="en-US"/>
              <a:t>讓管理者代填時可以從清單選人，</a:t>
            </a:r>
            <a:r>
              <a:rPr lang="en-US" altLang="zh-TW"/>
              <a:t>Settings </a:t>
            </a:r>
            <a:r>
              <a:rPr lang="zh-TW" altLang="en-US"/>
              <a:t>讓管理者不改程式就能調整事由選項、</a:t>
            </a:r>
            <a:r>
              <a:rPr lang="en-US" altLang="zh-TW"/>
              <a:t>Email </a:t>
            </a:r>
            <a:r>
              <a:rPr lang="zh-TW" altLang="en-US"/>
              <a:t>網域等設定。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68407B-261F-4A0F-996B-62EFCF2DC9C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47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/>
              <a:t>借出與歸還只能透過掃碼流程；送修、遺失、報廢只有管理者能設定，而且借出中的展品必須先歸還。每次狀態改變都會寫入 </a:t>
            </a:r>
            <a:r>
              <a:rPr lang="en-US" altLang="zh-TW"/>
              <a:t>Logs</a:t>
            </a:r>
            <a:r>
              <a:rPr lang="zh-TW" altLang="en-US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68407B-261F-4A0F-996B-62EFCF2DC9C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568302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/>
              <a:t>所有功能都打同一個 </a:t>
            </a:r>
            <a:r>
              <a:rPr lang="en-US" altLang="zh-TW"/>
              <a:t>Apps Script </a:t>
            </a:r>
            <a:r>
              <a:rPr lang="zh-TW" altLang="en-US"/>
              <a:t>網址，用 </a:t>
            </a:r>
            <a:r>
              <a:rPr lang="en-US" altLang="zh-TW"/>
              <a:t>action </a:t>
            </a:r>
            <a:r>
              <a:rPr lang="zh-TW" altLang="en-US"/>
              <a:t>欄位決定要做什麼。左邊是借用者可用的功能，不需登入；右邊是管理功能，每次呼叫都會檢查 </a:t>
            </a:r>
            <a:r>
              <a:rPr lang="en-US" altLang="zh-TW"/>
              <a:t>8 </a:t>
            </a:r>
            <a:r>
              <a:rPr lang="zh-TW" altLang="en-US"/>
              <a:t>碼管理者密碼。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68407B-261F-4A0F-996B-62EFCF2DC9C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90513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/>
              <a:t>催還完全自動：每天 </a:t>
            </a:r>
            <a:r>
              <a:rPr lang="en-US" altLang="zh-TW"/>
              <a:t>17:00 </a:t>
            </a:r>
            <a:r>
              <a:rPr lang="zh-TW" altLang="en-US"/>
              <a:t>找出逾期的展品，同一位借用者合併成一封信寄出，並記錄催還次數。寄件者是專案的 </a:t>
            </a:r>
            <a:r>
              <a:rPr lang="en-US" altLang="zh-TW"/>
              <a:t>Google </a:t>
            </a:r>
            <a:r>
              <a:rPr lang="zh-TW" altLang="en-US"/>
              <a:t>帳號；一般 </a:t>
            </a:r>
            <a:r>
              <a:rPr lang="en-US" altLang="zh-TW"/>
              <a:t>Gmail </a:t>
            </a:r>
            <a:r>
              <a:rPr lang="zh-TW" altLang="en-US"/>
              <a:t>帳號每天大約只能用程式寄 </a:t>
            </a:r>
            <a:r>
              <a:rPr lang="en-US" altLang="zh-TW"/>
              <a:t>100 </a:t>
            </a:r>
            <a:r>
              <a:rPr lang="zh-TW" altLang="en-US"/>
              <a:t>封。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68407B-261F-4A0F-996B-62EFCF2DC9C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23418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/>
              <a:t>程式碼都在 </a:t>
            </a:r>
            <a:r>
              <a:rPr lang="en-US" altLang="zh-TW"/>
              <a:t>GitHub</a:t>
            </a:r>
            <a:r>
              <a:rPr lang="zh-TW" altLang="en-US"/>
              <a:t>。前端修改後 </a:t>
            </a:r>
            <a:r>
              <a:rPr lang="en-US" altLang="zh-TW"/>
              <a:t>push </a:t>
            </a:r>
            <a:r>
              <a:rPr lang="zh-TW" altLang="en-US"/>
              <a:t>就會自動上線；後端修改要貼到 </a:t>
            </a:r>
            <a:r>
              <a:rPr lang="en-US" altLang="zh-TW"/>
              <a:t>Apps Script </a:t>
            </a:r>
            <a:r>
              <a:rPr lang="zh-TW" altLang="en-US"/>
              <a:t>編輯器並發布新版本，網址不會變。本機預覽時一律使用示範模式，不會動到正式資料。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68407B-261F-4A0F-996B-62EFCF2DC9C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59214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/>
              <a:t>repo </a:t>
            </a:r>
            <a:r>
              <a:rPr lang="zh-TW" altLang="en-US"/>
              <a:t>是公開的，所以任何秘密都不進 </a:t>
            </a:r>
            <a:r>
              <a:rPr lang="en-US" altLang="zh-TW"/>
              <a:t>Git</a:t>
            </a:r>
            <a:r>
              <a:rPr lang="zh-TW" altLang="en-US"/>
              <a:t>。管理功能用 </a:t>
            </a:r>
            <a:r>
              <a:rPr lang="en-US" altLang="zh-TW"/>
              <a:t>8 </a:t>
            </a:r>
            <a:r>
              <a:rPr lang="zh-TW" altLang="en-US"/>
              <a:t>碼管理者密碼保護；一般使用者看不到別人的 </a:t>
            </a:r>
            <a:r>
              <a:rPr lang="en-US" altLang="zh-TW"/>
              <a:t>Email</a:t>
            </a:r>
            <a:r>
              <a:rPr lang="zh-TW" altLang="en-US"/>
              <a:t>；寫入有鎖定與整批檢查，資料不會出現一半成功的狀態。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68407B-261F-4A0F-996B-62EFCF2DC9C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27226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/>
              <a:t>為了讓同仁願意使用，系統選擇免登入、免安裝，這也帶來 </a:t>
            </a:r>
            <a:r>
              <a:rPr lang="en-US" altLang="zh-TW"/>
              <a:t>API </a:t>
            </a:r>
            <a:r>
              <a:rPr lang="zh-TW" altLang="en-US"/>
              <a:t>網址公開的取捨。下一步建議先用測試展品實際走一次流程，再建立正式展品與標籤。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68407B-261F-4A0F-996B-62EFCF2DC9C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5971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483A02-E42C-11A6-F552-6EFF5CCF5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0E041BB-7C39-3FD9-2AD2-F89331F864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316D70C-B037-7A3F-8C8D-9DEB30781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7350CA-04E8-4F74-B15E-BA0B970B6785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BA1EBA6-18FD-3B2F-1839-4705AC4AE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F9586CF-4264-9F28-0904-87D101B30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9707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70AB50-4FD9-D4F2-8D77-5CC928841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6FB23F1-4D29-11B3-B7AB-48226374C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78E1EEE-C64E-4CAE-C7D9-CE6A5186C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7350CA-04E8-4F74-B15E-BA0B970B6785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15E1782-2F0D-17DC-5880-1DC75D62D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B747D74-3294-11C0-CBDE-91F35BB24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6448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2AF6C2-0F55-55B8-F658-D248CF165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6989212-88EB-3DCF-D42D-5BE227F461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A0B3D0A-409A-D015-7642-9C3528B3B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7350CA-04E8-4F74-B15E-BA0B970B6785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D48B4AB-96D3-6575-F05D-D727C4AED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7AF1A67-4361-9D2C-4C31-3428154B1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79372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89D71D-ADEF-CBDC-7499-3A212E0F1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884630C-D61C-FE18-0A81-108EF4AE1C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5EC2501-E8C8-D498-0155-1CE039972D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2E6C7C6-5137-4221-4657-25BE29BD2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7350CA-04E8-4F74-B15E-BA0B970B6785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23C4EFB-2DFA-A536-8CF5-684D68D19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4728C6E-8CA2-0353-4BDB-B815B6895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55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74F51E-43A9-8B38-E359-1876B7DF0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7EEFE1F-E678-24B6-077F-024DD0BF6D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26CF1A2-4F0B-D028-92A5-DB2F618E69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31F84A37-689E-E84D-A87A-05E9F1D43E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E1F208AE-A344-644E-FAF6-CA6286E5BC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9FFBE9F6-E09D-171E-6E2C-1A7342A51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7350CA-04E8-4F74-B15E-BA0B970B6785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B5CC722C-73B9-32B0-BCA1-27C97E757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5AD3018C-3D0C-297E-E4CC-4C7B2E8E1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0321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9C4963B-F3CF-2F23-99AF-11C2591E4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B2A2DB0-508E-2E68-BE40-833CED708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7350CA-04E8-4F74-B15E-BA0B970B6785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B057971-F358-1FE7-DDA7-957189A52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F83CC0D-6590-62A6-9AC0-161A0B144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4568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3AD3E67A-E057-B0B4-85EB-DFFDAF546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7350CA-04E8-4F74-B15E-BA0B970B6785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C7FBE46-E168-AC84-A9A0-44BC270BD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7DD4043-2FBA-C9CA-F984-46BA2EC7D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1721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089DD5-9068-E575-3081-03249DDB9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3B2FEC8-FEE7-1129-2DA2-05C754258E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753DB1D-0B0E-C410-DAA3-FFF3705938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8DA12BE-DE1A-F4FA-B261-F03443798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7350CA-04E8-4F74-B15E-BA0B970B6785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1355E57-D92A-ED70-7E60-3651E9011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FFC9D2D-E7AD-5116-C1B4-50BBC8FA7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766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D6F5DC-C3B3-5A5D-1FAD-097F9ECF7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5D864430-66B8-D871-EB2B-BC14063963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14A9B03-4E5C-55D0-89CA-26489DFD5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DCC6C79-CDB0-0AE1-8171-4DF804486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7350CA-04E8-4F74-B15E-BA0B970B6785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FB91F97-2F96-CA93-D046-B4C751BB4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7AE12A6-A51F-2B7D-1ED1-72BC5A83A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1501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2191F6-7ADE-A1E0-D4CC-711FCF30A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81DDC64-A03E-578C-5FB1-7368288D99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56F5CA8-F641-72E3-22C3-CB2B3E324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7350CA-04E8-4F74-B15E-BA0B970B6785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DC0D3E1-8413-98DF-CBEF-E40361F3E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1735A46-FD32-FB4D-9D27-49379BB3A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9089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709B941B-6DA8-FF6D-1F26-5DDE90BAE9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956D6DA-ED84-D4C6-2A6A-1CAC67BB4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C07204A-807F-6C28-5F82-C4C375F5D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7350CA-04E8-4F74-B15E-BA0B970B6785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1ADD467-0A8F-009B-93BC-D31BC5B4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DC0FF44-80C7-DE67-91AD-DE2DF1057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57523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C3789258-E94D-1111-9263-40B38AA95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5212C35-6FBB-7BA5-0CA8-B2A79FE31D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D2ACE6C-3811-A12F-CFD3-0363B2B683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7350CA-04E8-4F74-B15E-BA0B970B6785}" type="datetimeFigureOut">
              <a:rPr lang="zh-TW" altLang="en-US" smtClean="0"/>
              <a:t>2026/10/13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80A1D26-BDCD-4AB9-11E1-415F0946FC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1AB2DD1-FE2C-1191-8D33-3504BB63F8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F1B366-B12D-4E81-AEC3-117FBF7F511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6277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3B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6697CF-3A36-B059-81AF-47E15FF4ED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2800" y="2235200"/>
            <a:ext cx="7112000" cy="812800"/>
          </a:xfrm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zh-TW" altLang="en-US" sz="40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智慧展品借還管理系統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294E6BC-1934-3A77-AAB9-2E2F575A33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2800" y="3251200"/>
            <a:ext cx="7112000" cy="889000"/>
          </a:xfrm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600"/>
              </a:spcAft>
            </a:pPr>
            <a:r>
              <a:rPr lang="zh-TW" altLang="en-US" sz="1800">
                <a:solidFill>
                  <a:srgbClr val="C9E4E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手機掃碼 </a:t>
            </a:r>
            <a:r>
              <a:rPr lang="en-US" altLang="zh-TW" sz="1800">
                <a:solidFill>
                  <a:srgbClr val="C9E4E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× Google </a:t>
            </a:r>
            <a:r>
              <a:rPr lang="zh-TW" altLang="en-US" sz="1800">
                <a:solidFill>
                  <a:srgbClr val="C9E4E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試算表 </a:t>
            </a:r>
            <a:r>
              <a:rPr lang="en-US" altLang="zh-TW" sz="1800">
                <a:solidFill>
                  <a:srgbClr val="C9E4E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× Apps Script</a:t>
            </a:r>
          </a:p>
          <a:p>
            <a:pPr algn="l">
              <a:spcAft>
                <a:spcPts val="600"/>
              </a:spcAft>
            </a:pPr>
            <a:r>
              <a:rPr lang="zh-TW" altLang="en-US" sz="1800">
                <a:solidFill>
                  <a:srgbClr val="C9E4E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輕量化、免安裝、免伺服器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EF9D55B-8174-C9AB-3EAC-07DF39A8BBD3}"/>
              </a:ext>
            </a:extLst>
          </p:cNvPr>
          <p:cNvSpPr txBox="1"/>
          <p:nvPr/>
        </p:nvSpPr>
        <p:spPr>
          <a:xfrm>
            <a:off x="812800" y="18542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6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設計架構說明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CB6E723-FEDA-F135-41A3-9425BA0BDA9A}"/>
              </a:ext>
            </a:extLst>
          </p:cNvPr>
          <p:cNvSpPr txBox="1"/>
          <p:nvPr/>
        </p:nvSpPr>
        <p:spPr>
          <a:xfrm>
            <a:off x="812800" y="5969000"/>
            <a:ext cx="635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200">
                <a:solidFill>
                  <a:srgbClr val="9FB8B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sample-inventory-system </a:t>
            </a:r>
            <a:r>
              <a:rPr lang="zh-TW" altLang="en-US" sz="1200">
                <a:solidFill>
                  <a:srgbClr val="9FB8B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・ </a:t>
            </a:r>
            <a:r>
              <a:rPr lang="en-US" altLang="zh-TW" sz="1200">
                <a:solidFill>
                  <a:srgbClr val="9FB8B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2026 </a:t>
            </a:r>
            <a:r>
              <a:rPr lang="zh-TW" altLang="en-US" sz="1200">
                <a:solidFill>
                  <a:srgbClr val="9FB8B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年 </a:t>
            </a:r>
            <a:r>
              <a:rPr lang="en-US" altLang="zh-TW" sz="1200">
                <a:solidFill>
                  <a:srgbClr val="9FB8B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10 </a:t>
            </a:r>
            <a:r>
              <a:rPr lang="zh-TW" altLang="en-US" sz="1200">
                <a:solidFill>
                  <a:srgbClr val="9FB8B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月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A674DBB3-3C23-00CA-272A-F7DD1A57B33F}"/>
              </a:ext>
            </a:extLst>
          </p:cNvPr>
          <p:cNvSpPr/>
          <p:nvPr/>
        </p:nvSpPr>
        <p:spPr>
          <a:xfrm>
            <a:off x="8331200" y="1676400"/>
            <a:ext cx="2844800" cy="284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1EBF303-428C-E005-6552-6043CB6D524A}"/>
              </a:ext>
            </a:extLst>
          </p:cNvPr>
          <p:cNvSpPr/>
          <p:nvPr/>
        </p:nvSpPr>
        <p:spPr>
          <a:xfrm>
            <a:off x="8534400" y="1879600"/>
            <a:ext cx="762000" cy="7620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99F516E-8B45-1ED9-903D-AF981EF9E8B0}"/>
              </a:ext>
            </a:extLst>
          </p:cNvPr>
          <p:cNvSpPr/>
          <p:nvPr/>
        </p:nvSpPr>
        <p:spPr>
          <a:xfrm>
            <a:off x="8636000" y="1981200"/>
            <a:ext cx="558800" cy="5588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81567B6-ABE4-4FD8-C231-059C5A938E56}"/>
              </a:ext>
            </a:extLst>
          </p:cNvPr>
          <p:cNvSpPr/>
          <p:nvPr/>
        </p:nvSpPr>
        <p:spPr>
          <a:xfrm>
            <a:off x="8763000" y="2108200"/>
            <a:ext cx="304800" cy="3048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96AF58C-1FAD-A95D-7174-5EAE5A818FBB}"/>
              </a:ext>
            </a:extLst>
          </p:cNvPr>
          <p:cNvSpPr/>
          <p:nvPr/>
        </p:nvSpPr>
        <p:spPr>
          <a:xfrm>
            <a:off x="10210800" y="1879600"/>
            <a:ext cx="762000" cy="7620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82D5D05-897C-B660-7BE5-D4894B28AFF8}"/>
              </a:ext>
            </a:extLst>
          </p:cNvPr>
          <p:cNvSpPr/>
          <p:nvPr/>
        </p:nvSpPr>
        <p:spPr>
          <a:xfrm>
            <a:off x="10312400" y="1981200"/>
            <a:ext cx="558800" cy="5588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8BC1C10-EC7C-C339-36F4-32AEA2E438F3}"/>
              </a:ext>
            </a:extLst>
          </p:cNvPr>
          <p:cNvSpPr/>
          <p:nvPr/>
        </p:nvSpPr>
        <p:spPr>
          <a:xfrm>
            <a:off x="10439400" y="2108200"/>
            <a:ext cx="304800" cy="3048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0E93658-9017-B223-77AE-123AED0B2DA2}"/>
              </a:ext>
            </a:extLst>
          </p:cNvPr>
          <p:cNvSpPr/>
          <p:nvPr/>
        </p:nvSpPr>
        <p:spPr>
          <a:xfrm>
            <a:off x="8534400" y="3556000"/>
            <a:ext cx="762000" cy="7620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6D4257E-31AE-7186-6AC0-E34E474906B9}"/>
              </a:ext>
            </a:extLst>
          </p:cNvPr>
          <p:cNvSpPr/>
          <p:nvPr/>
        </p:nvSpPr>
        <p:spPr>
          <a:xfrm>
            <a:off x="8636000" y="3657600"/>
            <a:ext cx="558800" cy="5588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DC32206-FCDA-F8E6-BA13-B3E4E042B64D}"/>
              </a:ext>
            </a:extLst>
          </p:cNvPr>
          <p:cNvSpPr/>
          <p:nvPr/>
        </p:nvSpPr>
        <p:spPr>
          <a:xfrm>
            <a:off x="8763000" y="3784600"/>
            <a:ext cx="304800" cy="3048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12B4F9B-FA3F-C1F3-3023-125E24640612}"/>
              </a:ext>
            </a:extLst>
          </p:cNvPr>
          <p:cNvSpPr/>
          <p:nvPr/>
        </p:nvSpPr>
        <p:spPr>
          <a:xfrm>
            <a:off x="9448800" y="18796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3F1440C-7A6E-22E3-7A8E-E248D0131797}"/>
              </a:ext>
            </a:extLst>
          </p:cNvPr>
          <p:cNvSpPr/>
          <p:nvPr/>
        </p:nvSpPr>
        <p:spPr>
          <a:xfrm>
            <a:off x="9753600" y="18796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700E7F5-46D5-3600-9012-9354FCAFF3F0}"/>
              </a:ext>
            </a:extLst>
          </p:cNvPr>
          <p:cNvSpPr/>
          <p:nvPr/>
        </p:nvSpPr>
        <p:spPr>
          <a:xfrm>
            <a:off x="9906000" y="20320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78BB036-0C2C-51E2-2CF1-AB6CC55DC7BA}"/>
              </a:ext>
            </a:extLst>
          </p:cNvPr>
          <p:cNvSpPr/>
          <p:nvPr/>
        </p:nvSpPr>
        <p:spPr>
          <a:xfrm>
            <a:off x="9448800" y="21844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E309BA5-ECEA-3392-FD01-3FFA7E165CAC}"/>
              </a:ext>
            </a:extLst>
          </p:cNvPr>
          <p:cNvSpPr/>
          <p:nvPr/>
        </p:nvSpPr>
        <p:spPr>
          <a:xfrm>
            <a:off x="9601200" y="23368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D2C26EC-F63E-BFAC-3CAA-7BEA23E2293C}"/>
              </a:ext>
            </a:extLst>
          </p:cNvPr>
          <p:cNvSpPr/>
          <p:nvPr/>
        </p:nvSpPr>
        <p:spPr>
          <a:xfrm>
            <a:off x="9906000" y="23368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22737E2-420D-4671-80C6-9811429B4BE6}"/>
              </a:ext>
            </a:extLst>
          </p:cNvPr>
          <p:cNvSpPr/>
          <p:nvPr/>
        </p:nvSpPr>
        <p:spPr>
          <a:xfrm>
            <a:off x="9753600" y="24892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5617794-94C1-10A7-5EE4-587C741CA3BD}"/>
              </a:ext>
            </a:extLst>
          </p:cNvPr>
          <p:cNvSpPr/>
          <p:nvPr/>
        </p:nvSpPr>
        <p:spPr>
          <a:xfrm>
            <a:off x="8534400" y="27940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6E800F9-A390-289D-0C61-922763C79AAD}"/>
              </a:ext>
            </a:extLst>
          </p:cNvPr>
          <p:cNvSpPr/>
          <p:nvPr/>
        </p:nvSpPr>
        <p:spPr>
          <a:xfrm>
            <a:off x="8839200" y="27940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CF2643B-8139-34DF-8E2B-4B3D336E89CE}"/>
              </a:ext>
            </a:extLst>
          </p:cNvPr>
          <p:cNvSpPr/>
          <p:nvPr/>
        </p:nvSpPr>
        <p:spPr>
          <a:xfrm>
            <a:off x="9144000" y="29464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19C8FB3-6C76-5A44-A9A5-1A651EDEF9A5}"/>
              </a:ext>
            </a:extLst>
          </p:cNvPr>
          <p:cNvSpPr/>
          <p:nvPr/>
        </p:nvSpPr>
        <p:spPr>
          <a:xfrm>
            <a:off x="8686800" y="30988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9D06E8D-321B-13DA-F9BD-364D9286046F}"/>
              </a:ext>
            </a:extLst>
          </p:cNvPr>
          <p:cNvSpPr/>
          <p:nvPr/>
        </p:nvSpPr>
        <p:spPr>
          <a:xfrm>
            <a:off x="8991600" y="32512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B3AC7A0-24DB-D4B1-9389-03E9A9120E20}"/>
              </a:ext>
            </a:extLst>
          </p:cNvPr>
          <p:cNvSpPr/>
          <p:nvPr/>
        </p:nvSpPr>
        <p:spPr>
          <a:xfrm>
            <a:off x="9448800" y="27940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75A327E-91B4-7AE4-FEE5-38322C3B5E4F}"/>
              </a:ext>
            </a:extLst>
          </p:cNvPr>
          <p:cNvSpPr/>
          <p:nvPr/>
        </p:nvSpPr>
        <p:spPr>
          <a:xfrm>
            <a:off x="9601200" y="2946400"/>
            <a:ext cx="152400" cy="152400"/>
          </a:xfrm>
          <a:prstGeom prst="rect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891CC1A-9336-1628-036B-A288870E14A3}"/>
              </a:ext>
            </a:extLst>
          </p:cNvPr>
          <p:cNvSpPr/>
          <p:nvPr/>
        </p:nvSpPr>
        <p:spPr>
          <a:xfrm>
            <a:off x="9906000" y="27940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DEAE5FF-A5F0-21E0-33AB-29344BA3D399}"/>
              </a:ext>
            </a:extLst>
          </p:cNvPr>
          <p:cNvSpPr/>
          <p:nvPr/>
        </p:nvSpPr>
        <p:spPr>
          <a:xfrm>
            <a:off x="10058400" y="30988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009F9B3E-FBED-470C-37CB-4266B42601A5}"/>
              </a:ext>
            </a:extLst>
          </p:cNvPr>
          <p:cNvSpPr/>
          <p:nvPr/>
        </p:nvSpPr>
        <p:spPr>
          <a:xfrm>
            <a:off x="10363200" y="27940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2122DD8-5018-AFD7-D526-AD6500835600}"/>
              </a:ext>
            </a:extLst>
          </p:cNvPr>
          <p:cNvSpPr/>
          <p:nvPr/>
        </p:nvSpPr>
        <p:spPr>
          <a:xfrm>
            <a:off x="10668000" y="29464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5EAC040-573E-675C-CDE6-647D625E5220}"/>
              </a:ext>
            </a:extLst>
          </p:cNvPr>
          <p:cNvSpPr/>
          <p:nvPr/>
        </p:nvSpPr>
        <p:spPr>
          <a:xfrm>
            <a:off x="10820400" y="32512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3C78ABF4-B0B5-0582-9889-ABEF789D7F7F}"/>
              </a:ext>
            </a:extLst>
          </p:cNvPr>
          <p:cNvSpPr/>
          <p:nvPr/>
        </p:nvSpPr>
        <p:spPr>
          <a:xfrm>
            <a:off x="10515600" y="32512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B67C6A5-FD7B-F17C-26E8-57F013A34B74}"/>
              </a:ext>
            </a:extLst>
          </p:cNvPr>
          <p:cNvSpPr/>
          <p:nvPr/>
        </p:nvSpPr>
        <p:spPr>
          <a:xfrm>
            <a:off x="10210800" y="34036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DD63FF9-CEFD-BB10-922F-9BF8A6403E58}"/>
              </a:ext>
            </a:extLst>
          </p:cNvPr>
          <p:cNvSpPr/>
          <p:nvPr/>
        </p:nvSpPr>
        <p:spPr>
          <a:xfrm>
            <a:off x="9753600" y="32512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6A49ECD-A3C7-9900-5B09-8A77AF3B8EFC}"/>
              </a:ext>
            </a:extLst>
          </p:cNvPr>
          <p:cNvSpPr/>
          <p:nvPr/>
        </p:nvSpPr>
        <p:spPr>
          <a:xfrm>
            <a:off x="9448800" y="34036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3964052-A231-8A3D-0405-33093C16DE63}"/>
              </a:ext>
            </a:extLst>
          </p:cNvPr>
          <p:cNvSpPr/>
          <p:nvPr/>
        </p:nvSpPr>
        <p:spPr>
          <a:xfrm>
            <a:off x="9296400" y="30988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214B8DB-FB68-F0F3-30DD-C180896773D6}"/>
              </a:ext>
            </a:extLst>
          </p:cNvPr>
          <p:cNvSpPr/>
          <p:nvPr/>
        </p:nvSpPr>
        <p:spPr>
          <a:xfrm>
            <a:off x="9448800" y="37084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90CDA8B4-5446-041E-E88E-F3BBDEF52FBE}"/>
              </a:ext>
            </a:extLst>
          </p:cNvPr>
          <p:cNvSpPr/>
          <p:nvPr/>
        </p:nvSpPr>
        <p:spPr>
          <a:xfrm>
            <a:off x="9601200" y="35560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D89A462F-617B-023A-2A97-BD42D0479BE8}"/>
              </a:ext>
            </a:extLst>
          </p:cNvPr>
          <p:cNvSpPr/>
          <p:nvPr/>
        </p:nvSpPr>
        <p:spPr>
          <a:xfrm>
            <a:off x="9906000" y="3708400"/>
            <a:ext cx="152400" cy="152400"/>
          </a:xfrm>
          <a:prstGeom prst="rect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B9F2DB1-EA87-A115-CA6C-3CCDB28F725F}"/>
              </a:ext>
            </a:extLst>
          </p:cNvPr>
          <p:cNvSpPr/>
          <p:nvPr/>
        </p:nvSpPr>
        <p:spPr>
          <a:xfrm>
            <a:off x="10058400" y="40132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1865D17-1A28-6986-E684-159B7C4A0D92}"/>
              </a:ext>
            </a:extLst>
          </p:cNvPr>
          <p:cNvSpPr/>
          <p:nvPr/>
        </p:nvSpPr>
        <p:spPr>
          <a:xfrm>
            <a:off x="10363200" y="37084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FB638697-85B3-001E-0AED-343B6A58D5BB}"/>
              </a:ext>
            </a:extLst>
          </p:cNvPr>
          <p:cNvSpPr/>
          <p:nvPr/>
        </p:nvSpPr>
        <p:spPr>
          <a:xfrm>
            <a:off x="10515600" y="3860800"/>
            <a:ext cx="152400" cy="152400"/>
          </a:xfrm>
          <a:prstGeom prst="rect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B447331-67C5-57C6-C06C-AEE77EAF3DDD}"/>
              </a:ext>
            </a:extLst>
          </p:cNvPr>
          <p:cNvSpPr/>
          <p:nvPr/>
        </p:nvSpPr>
        <p:spPr>
          <a:xfrm>
            <a:off x="10820400" y="37084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276B800-D7E7-0226-F351-81010A0D078C}"/>
              </a:ext>
            </a:extLst>
          </p:cNvPr>
          <p:cNvSpPr/>
          <p:nvPr/>
        </p:nvSpPr>
        <p:spPr>
          <a:xfrm>
            <a:off x="10668000" y="41656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2957D5F-3089-AF44-43E7-2A57E2E1BCF7}"/>
              </a:ext>
            </a:extLst>
          </p:cNvPr>
          <p:cNvSpPr/>
          <p:nvPr/>
        </p:nvSpPr>
        <p:spPr>
          <a:xfrm>
            <a:off x="10210800" y="41656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C05605D-D2E2-FAE0-3584-71BD33389779}"/>
              </a:ext>
            </a:extLst>
          </p:cNvPr>
          <p:cNvSpPr/>
          <p:nvPr/>
        </p:nvSpPr>
        <p:spPr>
          <a:xfrm>
            <a:off x="9753600" y="40132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B664739-6063-6C82-B695-7924EDC63A03}"/>
              </a:ext>
            </a:extLst>
          </p:cNvPr>
          <p:cNvSpPr/>
          <p:nvPr/>
        </p:nvSpPr>
        <p:spPr>
          <a:xfrm>
            <a:off x="9448800" y="41656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46E72134-504C-0BD0-FBD7-BCD6EF0089AB}"/>
              </a:ext>
            </a:extLst>
          </p:cNvPr>
          <p:cNvSpPr/>
          <p:nvPr/>
        </p:nvSpPr>
        <p:spPr>
          <a:xfrm>
            <a:off x="10363200" y="35560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22EC13C8-0685-6FD3-6B03-42AD1752F007}"/>
              </a:ext>
            </a:extLst>
          </p:cNvPr>
          <p:cNvSpPr/>
          <p:nvPr/>
        </p:nvSpPr>
        <p:spPr>
          <a:xfrm>
            <a:off x="10820400" y="27940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A654980D-80B9-5871-446E-C7F8869FFCF8}"/>
              </a:ext>
            </a:extLst>
          </p:cNvPr>
          <p:cNvSpPr/>
          <p:nvPr/>
        </p:nvSpPr>
        <p:spPr>
          <a:xfrm>
            <a:off x="10058400" y="26416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1D8F7D3D-4D0C-AD41-7795-9C59ACB06CE6}"/>
              </a:ext>
            </a:extLst>
          </p:cNvPr>
          <p:cNvSpPr/>
          <p:nvPr/>
        </p:nvSpPr>
        <p:spPr>
          <a:xfrm>
            <a:off x="8991600" y="2641600"/>
            <a:ext cx="152400" cy="152400"/>
          </a:xfrm>
          <a:prstGeom prst="rect">
            <a:avLst/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2F783319-8AA6-5DAB-1B74-C8E001C06BB8}"/>
              </a:ext>
            </a:extLst>
          </p:cNvPr>
          <p:cNvSpPr txBox="1"/>
          <p:nvPr/>
        </p:nvSpPr>
        <p:spPr>
          <a:xfrm>
            <a:off x="8128000" y="4826000"/>
            <a:ext cx="325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zh-TW" altLang="en-US" sz="1200">
                <a:solidFill>
                  <a:srgbClr val="C9E4E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每件展品一張 </a:t>
            </a:r>
            <a:r>
              <a:rPr lang="en-US" altLang="zh-TW" sz="1200">
                <a:solidFill>
                  <a:srgbClr val="C9E4E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QR Code</a:t>
            </a:r>
            <a:r>
              <a:rPr lang="zh-TW" altLang="en-US" sz="1200">
                <a:solidFill>
                  <a:srgbClr val="C9E4E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，手機相機一掃就開啟</a:t>
            </a:r>
          </a:p>
        </p:txBody>
      </p:sp>
    </p:spTree>
    <p:extLst>
      <p:ext uri="{BB962C8B-B14F-4D97-AF65-F5344CB8AC3E}">
        <p14:creationId xmlns:p14="http://schemas.microsoft.com/office/powerpoint/2010/main" val="1761528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5E46DC-ACD4-EA5B-1012-BDD2F1FFE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584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zh-TW" altLang="en-US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四個元件組成，零安裝、零伺服器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B164D2E-4069-9D81-6A01-FCEF09BFB18F}"/>
              </a:ext>
            </a:extLst>
          </p:cNvPr>
          <p:cNvSpPr txBox="1"/>
          <p:nvPr/>
        </p:nvSpPr>
        <p:spPr>
          <a:xfrm>
            <a:off x="609600" y="2032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01 </a:t>
            </a:r>
            <a:r>
              <a:rPr lang="zh-TW" altLang="en-US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概觀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99832D2-6808-AC3F-8256-47FF8E40E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2</a:t>
            </a:fld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E878BAD2-F332-AE52-3C89-D29837AB6836}"/>
              </a:ext>
            </a:extLst>
          </p:cNvPr>
          <p:cNvSpPr/>
          <p:nvPr/>
        </p:nvSpPr>
        <p:spPr>
          <a:xfrm>
            <a:off x="609600" y="1397000"/>
            <a:ext cx="2590800" cy="31750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6B03B613-9C7B-2D33-3D40-221B587A4B5D}"/>
              </a:ext>
            </a:extLst>
          </p:cNvPr>
          <p:cNvSpPr/>
          <p:nvPr/>
        </p:nvSpPr>
        <p:spPr>
          <a:xfrm>
            <a:off x="838200" y="1625600"/>
            <a:ext cx="508000" cy="508000"/>
          </a:xfrm>
          <a:prstGeom prst="ellipse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sz="16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1</a:t>
            </a:r>
            <a:endParaRPr lang="zh-TW" altLang="en-US" sz="1600" b="1">
              <a:solidFill>
                <a:srgbClr val="FFFFFF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0D9A03B-EA9B-BDA6-86AA-835A329FD211}"/>
              </a:ext>
            </a:extLst>
          </p:cNvPr>
          <p:cNvSpPr txBox="1"/>
          <p:nvPr/>
        </p:nvSpPr>
        <p:spPr>
          <a:xfrm>
            <a:off x="838200" y="23368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手機網頁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C94ABFC-4EB6-D396-12EB-67D0D6A090F6}"/>
              </a:ext>
            </a:extLst>
          </p:cNvPr>
          <p:cNvSpPr txBox="1"/>
          <p:nvPr/>
        </p:nvSpPr>
        <p:spPr>
          <a:xfrm>
            <a:off x="838200" y="27940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借用者用手機內建相機掃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QR Code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，直接開啟網頁，不用安裝任何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App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4ECBB256-ABC4-5956-945D-F99DD429152C}"/>
              </a:ext>
            </a:extLst>
          </p:cNvPr>
          <p:cNvSpPr/>
          <p:nvPr/>
        </p:nvSpPr>
        <p:spPr>
          <a:xfrm>
            <a:off x="838200" y="3937000"/>
            <a:ext cx="2133600" cy="406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sz="1200" b="1">
                <a:solidFill>
                  <a:srgbClr val="1F6F78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web/ </a:t>
            </a:r>
            <a:r>
              <a:rPr lang="zh-TW" altLang="en-US" sz="1200" b="1">
                <a:solidFill>
                  <a:srgbClr val="1F6F78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・ </a:t>
            </a:r>
            <a:r>
              <a:rPr lang="en-US" altLang="zh-TW" sz="1200" b="1">
                <a:solidFill>
                  <a:srgbClr val="1F6F78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GitHub Pages</a:t>
            </a:r>
            <a:endParaRPr lang="zh-TW" altLang="en-US" sz="1200" b="1">
              <a:solidFill>
                <a:srgbClr val="1F6F78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DAC93096-C153-868D-80EC-33667E2E0268}"/>
              </a:ext>
            </a:extLst>
          </p:cNvPr>
          <p:cNvSpPr/>
          <p:nvPr/>
        </p:nvSpPr>
        <p:spPr>
          <a:xfrm>
            <a:off x="3403600" y="1397000"/>
            <a:ext cx="2590800" cy="31750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AB1F4EFB-0A0D-FB1B-7578-5DEE7901CFE2}"/>
              </a:ext>
            </a:extLst>
          </p:cNvPr>
          <p:cNvSpPr/>
          <p:nvPr/>
        </p:nvSpPr>
        <p:spPr>
          <a:xfrm>
            <a:off x="3632200" y="1625600"/>
            <a:ext cx="508000" cy="508000"/>
          </a:xfrm>
          <a:prstGeom prst="ellipse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sz="16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2</a:t>
            </a:r>
            <a:endParaRPr lang="zh-TW" altLang="en-US" sz="1600" b="1">
              <a:solidFill>
                <a:srgbClr val="FFFFFF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445EDD2-D6D4-62C6-5668-F9FA62AA68D5}"/>
              </a:ext>
            </a:extLst>
          </p:cNvPr>
          <p:cNvSpPr txBox="1"/>
          <p:nvPr/>
        </p:nvSpPr>
        <p:spPr>
          <a:xfrm>
            <a:off x="3632200" y="23368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Apps Script </a:t>
            </a:r>
            <a:r>
              <a:rPr lang="zh-TW" altLang="en-US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後端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9700E31-B012-6D8A-9913-15BF5DFB3CBA}"/>
              </a:ext>
            </a:extLst>
          </p:cNvPr>
          <p:cNvSpPr txBox="1"/>
          <p:nvPr/>
        </p:nvSpPr>
        <p:spPr>
          <a:xfrm>
            <a:off x="3632200" y="27940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Google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的雲端程式當作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API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，負責借用、歸還、權限與資料驗證。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29093E15-AA43-83AA-B144-70A4045900A2}"/>
              </a:ext>
            </a:extLst>
          </p:cNvPr>
          <p:cNvSpPr/>
          <p:nvPr/>
        </p:nvSpPr>
        <p:spPr>
          <a:xfrm>
            <a:off x="3632200" y="3937000"/>
            <a:ext cx="2133600" cy="406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sz="1200" b="1">
                <a:solidFill>
                  <a:srgbClr val="1F6F78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apps-script/ </a:t>
            </a:r>
            <a:r>
              <a:rPr lang="zh-TW" altLang="en-US" sz="1200" b="1">
                <a:solidFill>
                  <a:srgbClr val="1F6F78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・ </a:t>
            </a:r>
            <a:r>
              <a:rPr lang="en-US" altLang="zh-TW" sz="1200" b="1">
                <a:solidFill>
                  <a:srgbClr val="1F6F78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Web App</a:t>
            </a:r>
            <a:endParaRPr lang="zh-TW" altLang="en-US" sz="1200" b="1">
              <a:solidFill>
                <a:srgbClr val="1F6F78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DBAE47D0-BB27-7436-1462-85FDD3F9EC6A}"/>
              </a:ext>
            </a:extLst>
          </p:cNvPr>
          <p:cNvSpPr/>
          <p:nvPr/>
        </p:nvSpPr>
        <p:spPr>
          <a:xfrm>
            <a:off x="6197600" y="1397000"/>
            <a:ext cx="2590800" cy="31750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A4CC8E18-EA76-673E-430D-D773222B5D0B}"/>
              </a:ext>
            </a:extLst>
          </p:cNvPr>
          <p:cNvSpPr/>
          <p:nvPr/>
        </p:nvSpPr>
        <p:spPr>
          <a:xfrm>
            <a:off x="6426200" y="1625600"/>
            <a:ext cx="508000" cy="508000"/>
          </a:xfrm>
          <a:prstGeom prst="ellipse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sz="16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3</a:t>
            </a:r>
            <a:endParaRPr lang="zh-TW" altLang="en-US" sz="1600" b="1">
              <a:solidFill>
                <a:srgbClr val="FFFFFF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1AF1B30-CE44-6D34-1425-85669E1AC272}"/>
              </a:ext>
            </a:extLst>
          </p:cNvPr>
          <p:cNvSpPr txBox="1"/>
          <p:nvPr/>
        </p:nvSpPr>
        <p:spPr>
          <a:xfrm>
            <a:off x="6426200" y="23368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Google </a:t>
            </a:r>
            <a:r>
              <a:rPr lang="zh-TW" altLang="en-US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試算表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2773D1A-4CF9-A518-3ACA-A5CDE07E0470}"/>
              </a:ext>
            </a:extLst>
          </p:cNvPr>
          <p:cNvSpPr txBox="1"/>
          <p:nvPr/>
        </p:nvSpPr>
        <p:spPr>
          <a:xfrm>
            <a:off x="6426200" y="27940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五張工作表就是資料庫，管理者可直接在試算表查看、篩選。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AC416025-1510-87EB-9945-B4020E80E0E7}"/>
              </a:ext>
            </a:extLst>
          </p:cNvPr>
          <p:cNvSpPr/>
          <p:nvPr/>
        </p:nvSpPr>
        <p:spPr>
          <a:xfrm>
            <a:off x="6426200" y="3937000"/>
            <a:ext cx="2133600" cy="406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zh-TW" altLang="en-US" sz="1200" b="1">
                <a:solidFill>
                  <a:srgbClr val="1F6F78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專案的 </a:t>
            </a:r>
            <a:r>
              <a:rPr lang="en-US" altLang="zh-TW" sz="1200" b="1">
                <a:solidFill>
                  <a:srgbClr val="1F6F78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Google </a:t>
            </a:r>
            <a:r>
              <a:rPr lang="zh-TW" altLang="en-US" sz="1200" b="1">
                <a:solidFill>
                  <a:srgbClr val="1F6F78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帳號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5ECC1F0F-B5D9-F899-5CBB-59265AFD5844}"/>
              </a:ext>
            </a:extLst>
          </p:cNvPr>
          <p:cNvSpPr/>
          <p:nvPr/>
        </p:nvSpPr>
        <p:spPr>
          <a:xfrm>
            <a:off x="8991600" y="1397000"/>
            <a:ext cx="2590800" cy="31750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F46433AC-3D07-D19C-5C44-E228A73742B8}"/>
              </a:ext>
            </a:extLst>
          </p:cNvPr>
          <p:cNvSpPr/>
          <p:nvPr/>
        </p:nvSpPr>
        <p:spPr>
          <a:xfrm>
            <a:off x="9220200" y="1625600"/>
            <a:ext cx="508000" cy="508000"/>
          </a:xfrm>
          <a:prstGeom prst="ellipse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sz="16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4</a:t>
            </a:r>
            <a:endParaRPr lang="zh-TW" altLang="en-US" sz="1600" b="1">
              <a:solidFill>
                <a:srgbClr val="FFFFFF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CEADEAA-BA2A-C188-9170-5F3C02656CDF}"/>
              </a:ext>
            </a:extLst>
          </p:cNvPr>
          <p:cNvSpPr txBox="1"/>
          <p:nvPr/>
        </p:nvSpPr>
        <p:spPr>
          <a:xfrm>
            <a:off x="9220200" y="23368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每日自動催還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8A6DB086-A6E3-7044-1511-A9AD7AF6678D}"/>
              </a:ext>
            </a:extLst>
          </p:cNvPr>
          <p:cNvSpPr txBox="1"/>
          <p:nvPr/>
        </p:nvSpPr>
        <p:spPr>
          <a:xfrm>
            <a:off x="9220200" y="27940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每天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17:00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檢查逾期，自動寄信提醒借用者歸還。</a:t>
            </a:r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0B696A05-1992-0AC2-05E3-DA024479A689}"/>
              </a:ext>
            </a:extLst>
          </p:cNvPr>
          <p:cNvSpPr/>
          <p:nvPr/>
        </p:nvSpPr>
        <p:spPr>
          <a:xfrm>
            <a:off x="9220200" y="3937000"/>
            <a:ext cx="2133600" cy="406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zh-TW" altLang="en-US" sz="1200" b="1">
                <a:solidFill>
                  <a:srgbClr val="1F6F78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時間觸發 ・ </a:t>
            </a:r>
            <a:r>
              <a:rPr lang="en-US" altLang="zh-TW" sz="1200" b="1">
                <a:solidFill>
                  <a:srgbClr val="1F6F78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MailApp</a:t>
            </a:r>
            <a:endParaRPr lang="zh-TW" altLang="en-US" sz="1200" b="1">
              <a:solidFill>
                <a:srgbClr val="1F6F78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1880EA7E-A6A9-03F1-DD42-7761D97FE5B8}"/>
              </a:ext>
            </a:extLst>
          </p:cNvPr>
          <p:cNvSpPr/>
          <p:nvPr/>
        </p:nvSpPr>
        <p:spPr>
          <a:xfrm>
            <a:off x="609600" y="4876800"/>
            <a:ext cx="10972800" cy="711200"/>
          </a:xfrm>
          <a:prstGeom prst="roundRect">
            <a:avLst>
              <a:gd name="adj" fmla="val 8000"/>
            </a:avLst>
          </a:prstGeom>
          <a:solidFill>
            <a:srgbClr val="FCEF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50800" rIns="101600" bIns="50800" rtlCol="0" anchor="ctr"/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全部使用免費服務：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GitHub Pages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放前端、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Google Apps Script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跑後端、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Google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試算表存資料，不需要自己架伺服器。</a:t>
            </a:r>
          </a:p>
        </p:txBody>
      </p:sp>
    </p:spTree>
    <p:extLst>
      <p:ext uri="{BB962C8B-B14F-4D97-AF65-F5344CB8AC3E}">
        <p14:creationId xmlns:p14="http://schemas.microsoft.com/office/powerpoint/2010/main" val="20030522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EC6764-97A7-5E8E-772D-FE6CC86D3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584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zh-TW" altLang="en-US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需求書的每一項，系統怎麼做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847AE6A-7D17-8B72-192F-D422C824B9A9}"/>
              </a:ext>
            </a:extLst>
          </p:cNvPr>
          <p:cNvSpPr txBox="1"/>
          <p:nvPr/>
        </p:nvSpPr>
        <p:spPr>
          <a:xfrm>
            <a:off x="609600" y="2032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01 </a:t>
            </a:r>
            <a:r>
              <a:rPr lang="zh-TW" altLang="en-US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概觀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6AF02D0-36EE-651D-6D99-3351AEB2A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3</a:t>
            </a:fld>
            <a:endParaRPr lang="zh-TW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D5EDAFD-A5BD-F646-45FC-9065129A48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0852897"/>
              </p:ext>
            </p:extLst>
          </p:nvPr>
        </p:nvGraphicFramePr>
        <p:xfrm>
          <a:off x="609600" y="1320800"/>
          <a:ext cx="10972800" cy="426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2074600069"/>
                    </a:ext>
                  </a:extLst>
                </a:gridCol>
                <a:gridCol w="8178800">
                  <a:extLst>
                    <a:ext uri="{9D8B030D-6E8A-4147-A177-3AD203B41FA5}">
                      <a16:colId xmlns:a16="http://schemas.microsoft.com/office/drawing/2014/main" val="1129972031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lang="zh-TW" altLang="en-US" sz="1400" b="1">
                          <a:solidFill>
                            <a:srgbClr val="FFFFFF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需求書項目</a:t>
                      </a:r>
                    </a:p>
                  </a:txBody>
                  <a:tcPr marL="127000" marR="127000" marT="63500" marB="63500" anchor="ctr">
                    <a:solidFill>
                      <a:srgbClr val="0F3B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400" b="1">
                          <a:solidFill>
                            <a:srgbClr val="FFFFFF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系統做法</a:t>
                      </a:r>
                    </a:p>
                  </a:txBody>
                  <a:tcPr marL="127000" marR="127000" marT="63500" marB="63500" anchor="ctr">
                    <a:solidFill>
                      <a:srgbClr val="0F3B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896952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zh-TW" altLang="en-US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免安裝 </a:t>
                      </a:r>
                      <a:r>
                        <a:rPr lang="en-US" altLang="zh-TW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App</a:t>
                      </a:r>
                      <a:r>
                        <a:rPr lang="zh-TW" altLang="en-US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（</a:t>
                      </a:r>
                      <a:r>
                        <a:rPr lang="en-US" altLang="zh-TW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3.2</a:t>
                      </a:r>
                      <a:r>
                        <a:rPr lang="zh-TW" altLang="en-US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）</a:t>
                      </a:r>
                    </a:p>
                  </a:txBody>
                  <a:tcPr marL="127000" marR="127000" marT="63500" marB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QR Code </a:t>
                      </a:r>
                      <a:r>
                        <a:rPr lang="zh-TW" altLang="en-US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內容是網址（</a:t>
                      </a:r>
                      <a:r>
                        <a:rPr lang="en-US" altLang="zh-TW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…/?item=A31</a:t>
                      </a:r>
                      <a:r>
                        <a:rPr lang="zh-TW" altLang="en-US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），手機相機一掃就開啟網頁</a:t>
                      </a:r>
                    </a:p>
                  </a:txBody>
                  <a:tcPr marL="127000" marR="127000" marT="63500" marB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9177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zh-TW" altLang="en-US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購物車式連續掃描</a:t>
                      </a:r>
                    </a:p>
                  </a:txBody>
                  <a:tcPr marL="127000" marR="127000" marT="63500" marB="635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清單存在手機瀏覽器；頁面內也能開相機連續掃多件</a:t>
                      </a:r>
                    </a:p>
                  </a:txBody>
                  <a:tcPr marL="127000" marR="127000" marT="63500" marB="63500" anchor="ctr">
                    <a:solidFill>
                      <a:srgbClr val="F3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1061716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zh-TW" altLang="en-US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管理者代填</a:t>
                      </a:r>
                    </a:p>
                  </a:txBody>
                  <a:tcPr marL="127000" marR="127000" marT="63500" marB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管理者登入後送出，紀錄標示「管理者</a:t>
                      </a:r>
                      <a:r>
                        <a:rPr lang="en-US" altLang="zh-TW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(</a:t>
                      </a:r>
                      <a:r>
                        <a:rPr lang="zh-TW" altLang="en-US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姓名</a:t>
                      </a:r>
                      <a:r>
                        <a:rPr lang="en-US" altLang="zh-TW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)</a:t>
                      </a:r>
                      <a:r>
                        <a:rPr lang="zh-TW" altLang="en-US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代填」</a:t>
                      </a:r>
                    </a:p>
                  </a:txBody>
                  <a:tcPr marL="127000" marR="127000" marT="63500" marB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423837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zh-TW" altLang="en-US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分批歸還（</a:t>
                      </a:r>
                      <a:r>
                        <a:rPr lang="en-US" altLang="zh-TW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3.3</a:t>
                      </a:r>
                      <a:r>
                        <a:rPr lang="zh-TW" altLang="en-US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）</a:t>
                      </a:r>
                    </a:p>
                  </a:txBody>
                  <a:tcPr marL="127000" marR="127000" marT="63500" marB="635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借用紀錄一件一列，逐件結清；未還的繼續記在借用者名下</a:t>
                      </a:r>
                    </a:p>
                  </a:txBody>
                  <a:tcPr marL="127000" marR="127000" marT="63500" marB="63500" anchor="ctr">
                    <a:solidFill>
                      <a:srgbClr val="F3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40863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zh-TW" altLang="en-US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自動催還（</a:t>
                      </a:r>
                      <a:r>
                        <a:rPr lang="en-US" altLang="zh-TW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3.4</a:t>
                      </a:r>
                      <a:r>
                        <a:rPr lang="zh-TW" altLang="en-US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）</a:t>
                      </a:r>
                    </a:p>
                  </a:txBody>
                  <a:tcPr marL="127000" marR="127000" marT="63500" marB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每天定時檢查，超過預計歸還日（</a:t>
                      </a:r>
                      <a:r>
                        <a:rPr lang="en-US" altLang="zh-TW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10/9 </a:t>
                      </a:r>
                      <a:r>
                        <a:rPr lang="zh-TW" altLang="en-US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到期，</a:t>
                      </a:r>
                      <a:r>
                        <a:rPr lang="en-US" altLang="zh-TW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10/10 </a:t>
                      </a:r>
                      <a:r>
                        <a:rPr lang="zh-TW" altLang="en-US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起）就寄信</a:t>
                      </a:r>
                    </a:p>
                  </a:txBody>
                  <a:tcPr marL="127000" marR="127000" marT="63500" marB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0930808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zh-TW" altLang="en-US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異動履歷（</a:t>
                      </a:r>
                      <a:r>
                        <a:rPr lang="en-US" altLang="zh-TW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3.5</a:t>
                      </a:r>
                      <a:r>
                        <a:rPr lang="zh-TW" altLang="en-US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）</a:t>
                      </a:r>
                    </a:p>
                  </a:txBody>
                  <a:tcPr marL="127000" marR="127000" marT="63500" marB="635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借出、部分歸還、完全歸還、送修、移轉、催還都寫入 </a:t>
                      </a:r>
                      <a:r>
                        <a:rPr lang="en-US" altLang="zh-TW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Logs</a:t>
                      </a:r>
                      <a:endParaRPr lang="zh-TW" altLang="en-US" sz="1400" b="0">
                        <a:solidFill>
                          <a:srgbClr val="1F2A30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  <a:sym typeface="Microsoft JhengHei" panose="020B0604030504040204" pitchFamily="34" charset="-120"/>
                      </a:endParaRPr>
                    </a:p>
                  </a:txBody>
                  <a:tcPr marL="127000" marR="127000" marT="63500" marB="63500" anchor="ctr">
                    <a:solidFill>
                      <a:srgbClr val="F3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420525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altLang="zh-TW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QR Code </a:t>
                      </a:r>
                      <a:r>
                        <a:rPr lang="zh-TW" altLang="en-US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管理（</a:t>
                      </a:r>
                      <a:r>
                        <a:rPr lang="en-US" altLang="zh-TW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3.1</a:t>
                      </a:r>
                      <a:r>
                        <a:rPr lang="zh-TW" altLang="en-US" sz="14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）</a:t>
                      </a:r>
                    </a:p>
                  </a:txBody>
                  <a:tcPr marL="127000" marR="127000" marT="63500" marB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管理頁勾選展品，直接列印 </a:t>
                      </a:r>
                      <a:r>
                        <a:rPr lang="en-US" altLang="zh-TW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QR Code </a:t>
                      </a:r>
                      <a:r>
                        <a:rPr lang="zh-TW" altLang="en-US" sz="14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標籤</a:t>
                      </a:r>
                    </a:p>
                  </a:txBody>
                  <a:tcPr marL="127000" marR="127000" marT="63500" marB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02145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28458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FA5102-F5D6-9625-A7A9-46EE0665C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584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zh-TW" altLang="en-US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系統架構：前端、後端、資料分開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338A7A0-9EA7-AB45-9653-1352603D0A27}"/>
              </a:ext>
            </a:extLst>
          </p:cNvPr>
          <p:cNvSpPr txBox="1"/>
          <p:nvPr/>
        </p:nvSpPr>
        <p:spPr>
          <a:xfrm>
            <a:off x="609600" y="2032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02 </a:t>
            </a:r>
            <a:r>
              <a:rPr lang="zh-TW" altLang="en-US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架構與流程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D3C435-FE93-1ECF-B4FD-F5B70FD5A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4</a:t>
            </a:fld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77A58CB4-D2B5-021F-E693-B4CABEE15049}"/>
              </a:ext>
            </a:extLst>
          </p:cNvPr>
          <p:cNvSpPr/>
          <p:nvPr/>
        </p:nvSpPr>
        <p:spPr>
          <a:xfrm>
            <a:off x="609600" y="1524000"/>
            <a:ext cx="2667000" cy="16510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zh-TW" altLang="en-US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手機瀏覽器</a:t>
            </a:r>
          </a:p>
          <a:p>
            <a:pPr algn="ctr"/>
            <a:r>
              <a:rPr lang="zh-TW" altLang="en-US" sz="13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借用者・管理者</a:t>
            </a:r>
          </a:p>
          <a:p>
            <a:pPr algn="ctr"/>
            <a:r>
              <a:rPr lang="en-US" altLang="zh-TW" sz="1300" b="1">
                <a:solidFill>
                  <a:srgbClr val="1F6F78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web/</a:t>
            </a:r>
            <a:r>
              <a:rPr lang="zh-TW" altLang="en-US" sz="1300" b="1">
                <a:solidFill>
                  <a:srgbClr val="1F6F78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（</a:t>
            </a:r>
            <a:r>
              <a:rPr lang="en-US" altLang="zh-TW" sz="1300" b="1">
                <a:solidFill>
                  <a:srgbClr val="1F6F78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GitHub Pages</a:t>
            </a:r>
            <a:r>
              <a:rPr lang="zh-TW" altLang="en-US" sz="1300" b="1">
                <a:solidFill>
                  <a:srgbClr val="1F6F78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）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6324D620-B78D-FC75-4F25-625197643E8C}"/>
              </a:ext>
            </a:extLst>
          </p:cNvPr>
          <p:cNvSpPr/>
          <p:nvPr/>
        </p:nvSpPr>
        <p:spPr>
          <a:xfrm>
            <a:off x="4762500" y="1524000"/>
            <a:ext cx="2667000" cy="1651000"/>
          </a:xfrm>
          <a:prstGeom prst="roundRect">
            <a:avLst>
              <a:gd name="adj" fmla="val 8000"/>
            </a:avLst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Apps Script Web App</a:t>
            </a:r>
          </a:p>
          <a:p>
            <a:pPr algn="ctr"/>
            <a:r>
              <a:rPr lang="en-US" altLang="zh-TW" sz="13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doPost </a:t>
            </a:r>
            <a:r>
              <a:rPr lang="zh-TW" altLang="en-US" sz="13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路由・權限檢查</a:t>
            </a:r>
          </a:p>
          <a:p>
            <a:pPr algn="ctr"/>
            <a:r>
              <a:rPr lang="zh-TW" altLang="en-US" sz="13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寫入時加鎖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AE4BD02E-582C-DB86-10AE-4D50600D5FD4}"/>
              </a:ext>
            </a:extLst>
          </p:cNvPr>
          <p:cNvSpPr/>
          <p:nvPr/>
        </p:nvSpPr>
        <p:spPr>
          <a:xfrm>
            <a:off x="8915400" y="1524000"/>
            <a:ext cx="2667000" cy="16510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Google </a:t>
            </a:r>
            <a:r>
              <a:rPr lang="zh-TW" altLang="en-US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試算表</a:t>
            </a:r>
          </a:p>
          <a:p>
            <a:pPr algn="ctr"/>
            <a:r>
              <a:rPr lang="en-US" altLang="zh-TW" sz="13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Items</a:t>
            </a:r>
            <a:r>
              <a:rPr lang="zh-TW" altLang="en-US" sz="13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・</a:t>
            </a:r>
            <a:r>
              <a:rPr lang="en-US" altLang="zh-TW" sz="13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Loans</a:t>
            </a:r>
            <a:r>
              <a:rPr lang="zh-TW" altLang="en-US" sz="13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・</a:t>
            </a:r>
            <a:r>
              <a:rPr lang="en-US" altLang="zh-TW" sz="13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Logs</a:t>
            </a:r>
          </a:p>
          <a:p>
            <a:pPr algn="ctr"/>
            <a:r>
              <a:rPr lang="en-US" altLang="zh-TW" sz="13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Borrowers</a:t>
            </a:r>
            <a:r>
              <a:rPr lang="zh-TW" altLang="en-US" sz="13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・</a:t>
            </a:r>
            <a:r>
              <a:rPr lang="en-US" altLang="zh-TW" sz="13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Settings</a:t>
            </a:r>
            <a:endParaRPr lang="zh-TW" altLang="en-US" sz="1300">
              <a:solidFill>
                <a:srgbClr val="5F6B7A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A9CF6242-512B-A708-1F80-3A595A66C810}"/>
              </a:ext>
            </a:extLst>
          </p:cNvPr>
          <p:cNvCxnSpPr/>
          <p:nvPr/>
        </p:nvCxnSpPr>
        <p:spPr>
          <a:xfrm>
            <a:off x="3276600" y="2349500"/>
            <a:ext cx="1485900" cy="0"/>
          </a:xfrm>
          <a:prstGeom prst="straightConnector1">
            <a:avLst/>
          </a:prstGeom>
          <a:ln w="31750">
            <a:solidFill>
              <a:srgbClr val="1F6F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23CF4623-6F56-899B-FF7C-43A2F235CD50}"/>
              </a:ext>
            </a:extLst>
          </p:cNvPr>
          <p:cNvSpPr txBox="1"/>
          <p:nvPr/>
        </p:nvSpPr>
        <p:spPr>
          <a:xfrm>
            <a:off x="3276600" y="2438400"/>
            <a:ext cx="14859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zh-TW" sz="11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HTTPS POST</a:t>
            </a:r>
          </a:p>
          <a:p>
            <a:pPr algn="ctr"/>
            <a:r>
              <a:rPr lang="en-US" altLang="zh-TW" sz="11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JSON</a:t>
            </a:r>
            <a:endParaRPr lang="zh-TW" altLang="en-US" sz="1100">
              <a:solidFill>
                <a:srgbClr val="5F6B7A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6A0D50E1-076E-359C-F03F-66A156DF8446}"/>
              </a:ext>
            </a:extLst>
          </p:cNvPr>
          <p:cNvCxnSpPr/>
          <p:nvPr/>
        </p:nvCxnSpPr>
        <p:spPr>
          <a:xfrm>
            <a:off x="7429500" y="2349500"/>
            <a:ext cx="1485900" cy="0"/>
          </a:xfrm>
          <a:prstGeom prst="straightConnector1">
            <a:avLst/>
          </a:prstGeom>
          <a:ln w="31750">
            <a:solidFill>
              <a:srgbClr val="1F6F7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8061FAE-D411-195C-7193-520A6406B8D4}"/>
              </a:ext>
            </a:extLst>
          </p:cNvPr>
          <p:cNvSpPr txBox="1"/>
          <p:nvPr/>
        </p:nvSpPr>
        <p:spPr>
          <a:xfrm>
            <a:off x="7429500" y="2438400"/>
            <a:ext cx="14859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zh-TW" altLang="en-US" sz="11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讀取／寫入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96887A30-F283-9F39-72D6-C1186A48594B}"/>
              </a:ext>
            </a:extLst>
          </p:cNvPr>
          <p:cNvSpPr/>
          <p:nvPr/>
        </p:nvSpPr>
        <p:spPr>
          <a:xfrm>
            <a:off x="609600" y="4064000"/>
            <a:ext cx="2667000" cy="88900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sz="16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GitHub repo</a:t>
            </a:r>
          </a:p>
          <a:p>
            <a:pPr algn="ctr"/>
            <a:r>
              <a:rPr lang="en-US" altLang="zh-TW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push </a:t>
            </a:r>
            <a:r>
              <a:rPr lang="zh-TW" altLang="en-US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後自動部署前端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6D6D0D1A-F566-8E01-3226-799BB0B01D6F}"/>
              </a:ext>
            </a:extLst>
          </p:cNvPr>
          <p:cNvSpPr/>
          <p:nvPr/>
        </p:nvSpPr>
        <p:spPr>
          <a:xfrm>
            <a:off x="4762500" y="4064000"/>
            <a:ext cx="2667000" cy="889000"/>
          </a:xfrm>
          <a:prstGeom prst="roundRect">
            <a:avLst>
              <a:gd name="adj" fmla="val 8000"/>
            </a:avLst>
          </a:prstGeom>
          <a:solidFill>
            <a:srgbClr val="FCEF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zh-TW" altLang="en-US" sz="16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每日 </a:t>
            </a:r>
            <a:r>
              <a:rPr lang="en-US" altLang="zh-TW" sz="16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17:00 </a:t>
            </a:r>
            <a:r>
              <a:rPr lang="zh-TW" altLang="en-US" sz="16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排程</a:t>
            </a:r>
          </a:p>
          <a:p>
            <a:pPr algn="ctr"/>
            <a:r>
              <a:rPr lang="en-US" altLang="zh-TW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Apps Script </a:t>
            </a:r>
            <a:r>
              <a:rPr lang="zh-TW" altLang="en-US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時間觸發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5858D4AD-3AE2-59DE-012B-63057C96BCDD}"/>
              </a:ext>
            </a:extLst>
          </p:cNvPr>
          <p:cNvSpPr/>
          <p:nvPr/>
        </p:nvSpPr>
        <p:spPr>
          <a:xfrm>
            <a:off x="8915400" y="4064000"/>
            <a:ext cx="2667000" cy="889000"/>
          </a:xfrm>
          <a:prstGeom prst="roundRect">
            <a:avLst>
              <a:gd name="adj" fmla="val 8000"/>
            </a:avLst>
          </a:prstGeom>
          <a:solidFill>
            <a:srgbClr val="FCEF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zh-TW" altLang="en-US" sz="16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催還 </a:t>
            </a:r>
            <a:r>
              <a:rPr lang="en-US" altLang="zh-TW" sz="16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Email</a:t>
            </a:r>
          </a:p>
          <a:p>
            <a:pPr algn="ctr"/>
            <a:r>
              <a:rPr lang="zh-TW" altLang="en-US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寄給逾期的借用者</a:t>
            </a:r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A5E6DE5C-CA3E-C5F1-5390-116984E3C0DE}"/>
              </a:ext>
            </a:extLst>
          </p:cNvPr>
          <p:cNvCxnSpPr/>
          <p:nvPr/>
        </p:nvCxnSpPr>
        <p:spPr>
          <a:xfrm flipV="1">
            <a:off x="1943100" y="3200400"/>
            <a:ext cx="0" cy="863600"/>
          </a:xfrm>
          <a:prstGeom prst="straightConnector1">
            <a:avLst/>
          </a:prstGeom>
          <a:ln w="25400">
            <a:solidFill>
              <a:srgbClr val="5F6B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9D8B9D5F-EB79-D667-98AB-BD933DA4CDF2}"/>
              </a:ext>
            </a:extLst>
          </p:cNvPr>
          <p:cNvCxnSpPr/>
          <p:nvPr/>
        </p:nvCxnSpPr>
        <p:spPr>
          <a:xfrm flipV="1">
            <a:off x="6096000" y="3200400"/>
            <a:ext cx="0" cy="863600"/>
          </a:xfrm>
          <a:prstGeom prst="straightConnector1">
            <a:avLst/>
          </a:prstGeom>
          <a:ln w="25400">
            <a:solidFill>
              <a:srgbClr val="A86A1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601A646D-2AC9-D3E8-EA37-3162BF4DBD7D}"/>
              </a:ext>
            </a:extLst>
          </p:cNvPr>
          <p:cNvCxnSpPr/>
          <p:nvPr/>
        </p:nvCxnSpPr>
        <p:spPr>
          <a:xfrm>
            <a:off x="7429500" y="4508500"/>
            <a:ext cx="1485900" cy="0"/>
          </a:xfrm>
          <a:prstGeom prst="straightConnector1">
            <a:avLst/>
          </a:prstGeom>
          <a:ln w="25400">
            <a:solidFill>
              <a:srgbClr val="A86A1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E6B3CE2E-3E6F-108C-8411-6E8BECA3744B}"/>
              </a:ext>
            </a:extLst>
          </p:cNvPr>
          <p:cNvSpPr txBox="1"/>
          <p:nvPr/>
        </p:nvSpPr>
        <p:spPr>
          <a:xfrm>
            <a:off x="7429500" y="4216400"/>
            <a:ext cx="14859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zh-TW" sz="11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MailApp</a:t>
            </a:r>
            <a:endParaRPr lang="zh-TW" altLang="en-US" sz="1100">
              <a:solidFill>
                <a:srgbClr val="5F6B7A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FFDD4A1D-945F-2A9F-CD58-1E8B597C6AEB}"/>
              </a:ext>
            </a:extLst>
          </p:cNvPr>
          <p:cNvSpPr txBox="1"/>
          <p:nvPr/>
        </p:nvSpPr>
        <p:spPr>
          <a:xfrm>
            <a:off x="609600" y="53975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前端只放畫面，資料與規則都在後端：手機只能透過 </a:t>
            </a:r>
            <a:r>
              <a:rPr lang="en-US" altLang="zh-TW" sz="14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API </a:t>
            </a:r>
            <a:r>
              <a:rPr lang="zh-TW" altLang="en-US" sz="14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存取試算表，無法直接修改資料。</a:t>
            </a:r>
          </a:p>
        </p:txBody>
      </p:sp>
    </p:spTree>
    <p:extLst>
      <p:ext uri="{BB962C8B-B14F-4D97-AF65-F5344CB8AC3E}">
        <p14:creationId xmlns:p14="http://schemas.microsoft.com/office/powerpoint/2010/main" val="507243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B7CEB5-F17E-CE49-E42A-B479E8409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584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zh-TW" altLang="en-US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使用流程：像掃碼點餐一樣借還展品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5671699-74D1-5BC6-44E0-17CE614FE7D7}"/>
              </a:ext>
            </a:extLst>
          </p:cNvPr>
          <p:cNvSpPr txBox="1"/>
          <p:nvPr/>
        </p:nvSpPr>
        <p:spPr>
          <a:xfrm>
            <a:off x="609600" y="2032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02 </a:t>
            </a:r>
            <a:r>
              <a:rPr lang="zh-TW" altLang="en-US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架構與流程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0ECE4A-37A9-74D3-AD78-030C10D3C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1A7BC052-1971-9F7C-8B81-34227DD90BB6}"/>
              </a:ext>
            </a:extLst>
          </p:cNvPr>
          <p:cNvSpPr/>
          <p:nvPr/>
        </p:nvSpPr>
        <p:spPr>
          <a:xfrm>
            <a:off x="1346200" y="1346200"/>
            <a:ext cx="558800" cy="558800"/>
          </a:xfrm>
          <a:prstGeom prst="ellipse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1</a:t>
            </a:r>
            <a:endParaRPr lang="zh-TW" altLang="en-US" b="1">
              <a:solidFill>
                <a:srgbClr val="FFFFFF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C9260887-F20A-2F9E-22CA-4305B475D0C4}"/>
              </a:ext>
            </a:extLst>
          </p:cNvPr>
          <p:cNvCxnSpPr/>
          <p:nvPr/>
        </p:nvCxnSpPr>
        <p:spPr>
          <a:xfrm>
            <a:off x="1981200" y="1625600"/>
            <a:ext cx="1524000" cy="0"/>
          </a:xfrm>
          <a:prstGeom prst="straightConnector1">
            <a:avLst/>
          </a:prstGeom>
          <a:ln w="25400">
            <a:solidFill>
              <a:srgbClr val="C9CE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EC3D8D63-8B0C-EBC8-4DF7-6B5EC0FAB952}"/>
              </a:ext>
            </a:extLst>
          </p:cNvPr>
          <p:cNvSpPr/>
          <p:nvPr/>
        </p:nvSpPr>
        <p:spPr>
          <a:xfrm>
            <a:off x="609600" y="2108200"/>
            <a:ext cx="2032000" cy="16256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293D8E-5235-F289-AEFE-697013C2456C}"/>
              </a:ext>
            </a:extLst>
          </p:cNvPr>
          <p:cNvSpPr txBox="1"/>
          <p:nvPr/>
        </p:nvSpPr>
        <p:spPr>
          <a:xfrm>
            <a:off x="787400" y="22860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6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掃描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5A375DB-9E47-1167-8A63-0A2FC9631375}"/>
              </a:ext>
            </a:extLst>
          </p:cNvPr>
          <p:cNvSpPr txBox="1"/>
          <p:nvPr/>
        </p:nvSpPr>
        <p:spPr>
          <a:xfrm>
            <a:off x="787400" y="26924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手機內建相機掃展品上的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QR Code</a:t>
            </a:r>
            <a:endParaRPr lang="zh-TW" altLang="en-US" sz="1400">
              <a:solidFill>
                <a:srgbClr val="1F2A30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4D25DEF2-3E1A-76D1-A1DB-C6C3E0E12311}"/>
              </a:ext>
            </a:extLst>
          </p:cNvPr>
          <p:cNvSpPr/>
          <p:nvPr/>
        </p:nvSpPr>
        <p:spPr>
          <a:xfrm>
            <a:off x="3581400" y="1346200"/>
            <a:ext cx="558800" cy="558800"/>
          </a:xfrm>
          <a:prstGeom prst="ellipse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2</a:t>
            </a:r>
            <a:endParaRPr lang="zh-TW" altLang="en-US" b="1">
              <a:solidFill>
                <a:srgbClr val="FFFFFF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B8DE4FEB-43B1-09C8-F134-D434ADA18977}"/>
              </a:ext>
            </a:extLst>
          </p:cNvPr>
          <p:cNvCxnSpPr/>
          <p:nvPr/>
        </p:nvCxnSpPr>
        <p:spPr>
          <a:xfrm>
            <a:off x="4216400" y="1625600"/>
            <a:ext cx="1524000" cy="0"/>
          </a:xfrm>
          <a:prstGeom prst="straightConnector1">
            <a:avLst/>
          </a:prstGeom>
          <a:ln w="25400">
            <a:solidFill>
              <a:srgbClr val="C9CE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0043B606-D0AD-2386-A9A1-89F77BD65367}"/>
              </a:ext>
            </a:extLst>
          </p:cNvPr>
          <p:cNvSpPr/>
          <p:nvPr/>
        </p:nvSpPr>
        <p:spPr>
          <a:xfrm>
            <a:off x="2844800" y="2108200"/>
            <a:ext cx="2032000" cy="16256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4B16E5A-574C-00B7-5A59-0E6806B8AC70}"/>
              </a:ext>
            </a:extLst>
          </p:cNvPr>
          <p:cNvSpPr txBox="1"/>
          <p:nvPr/>
        </p:nvSpPr>
        <p:spPr>
          <a:xfrm>
            <a:off x="3022600" y="22860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6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開啟網頁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071DD93-08F7-ACE8-51AD-2EC8CB92886B}"/>
              </a:ext>
            </a:extLst>
          </p:cNvPr>
          <p:cNvSpPr txBox="1"/>
          <p:nvPr/>
        </p:nvSpPr>
        <p:spPr>
          <a:xfrm>
            <a:off x="3022600" y="26924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網址帶展品編號，自動查詢目前狀態</a:t>
            </a:r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9339B722-E1FD-B9B2-CB54-36B7C059EA2B}"/>
              </a:ext>
            </a:extLst>
          </p:cNvPr>
          <p:cNvSpPr/>
          <p:nvPr/>
        </p:nvSpPr>
        <p:spPr>
          <a:xfrm>
            <a:off x="5816600" y="1346200"/>
            <a:ext cx="558800" cy="558800"/>
          </a:xfrm>
          <a:prstGeom prst="ellipse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3</a:t>
            </a:r>
            <a:endParaRPr lang="zh-TW" altLang="en-US" b="1">
              <a:solidFill>
                <a:srgbClr val="FFFFFF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5FA47E45-F81B-F1BB-FEB5-3D5B801A1F76}"/>
              </a:ext>
            </a:extLst>
          </p:cNvPr>
          <p:cNvCxnSpPr/>
          <p:nvPr/>
        </p:nvCxnSpPr>
        <p:spPr>
          <a:xfrm>
            <a:off x="6451600" y="1625600"/>
            <a:ext cx="1524000" cy="0"/>
          </a:xfrm>
          <a:prstGeom prst="straightConnector1">
            <a:avLst/>
          </a:prstGeom>
          <a:ln w="25400">
            <a:solidFill>
              <a:srgbClr val="C9CE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DA4AF945-6D0A-101E-FB04-8AE74A142385}"/>
              </a:ext>
            </a:extLst>
          </p:cNvPr>
          <p:cNvSpPr/>
          <p:nvPr/>
        </p:nvSpPr>
        <p:spPr>
          <a:xfrm>
            <a:off x="5080000" y="2108200"/>
            <a:ext cx="2032000" cy="16256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3D3E7FA-648D-7268-21A7-3A826D9FCA08}"/>
              </a:ext>
            </a:extLst>
          </p:cNvPr>
          <p:cNvSpPr txBox="1"/>
          <p:nvPr/>
        </p:nvSpPr>
        <p:spPr>
          <a:xfrm>
            <a:off x="5257800" y="22860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6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放進清單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019DE08F-35B0-FB55-D8DB-90E4EFFB2303}"/>
              </a:ext>
            </a:extLst>
          </p:cNvPr>
          <p:cNvSpPr txBox="1"/>
          <p:nvPr/>
        </p:nvSpPr>
        <p:spPr>
          <a:xfrm>
            <a:off x="5257800" y="26924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在庫→借用清單</a:t>
            </a:r>
          </a:p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借出→歸還清單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2BBEC8AD-AD5A-EF33-8F42-52E145D65FE9}"/>
              </a:ext>
            </a:extLst>
          </p:cNvPr>
          <p:cNvSpPr/>
          <p:nvPr/>
        </p:nvSpPr>
        <p:spPr>
          <a:xfrm>
            <a:off x="8051800" y="1346200"/>
            <a:ext cx="558800" cy="558800"/>
          </a:xfrm>
          <a:prstGeom prst="ellipse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4</a:t>
            </a:r>
            <a:endParaRPr lang="zh-TW" altLang="en-US" b="1">
              <a:solidFill>
                <a:srgbClr val="FFFFFF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D2B23785-4F6A-9F24-81FE-7BC47CA57B26}"/>
              </a:ext>
            </a:extLst>
          </p:cNvPr>
          <p:cNvCxnSpPr/>
          <p:nvPr/>
        </p:nvCxnSpPr>
        <p:spPr>
          <a:xfrm>
            <a:off x="8686800" y="1625600"/>
            <a:ext cx="1524000" cy="0"/>
          </a:xfrm>
          <a:prstGeom prst="straightConnector1">
            <a:avLst/>
          </a:prstGeom>
          <a:ln w="25400">
            <a:solidFill>
              <a:srgbClr val="C9CE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900E841B-533B-C71A-80B8-1316516B9231}"/>
              </a:ext>
            </a:extLst>
          </p:cNvPr>
          <p:cNvSpPr/>
          <p:nvPr/>
        </p:nvSpPr>
        <p:spPr>
          <a:xfrm>
            <a:off x="7315200" y="2108200"/>
            <a:ext cx="2032000" cy="16256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6260EB38-6F41-7FD9-C8FE-BA5C71E7F361}"/>
              </a:ext>
            </a:extLst>
          </p:cNvPr>
          <p:cNvSpPr txBox="1"/>
          <p:nvPr/>
        </p:nvSpPr>
        <p:spPr>
          <a:xfrm>
            <a:off x="7493000" y="22860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6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填寫送出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AC348950-A82E-651A-2EA2-FB2AE71951E4}"/>
              </a:ext>
            </a:extLst>
          </p:cNvPr>
          <p:cNvSpPr txBox="1"/>
          <p:nvPr/>
        </p:nvSpPr>
        <p:spPr>
          <a:xfrm>
            <a:off x="7493000" y="26924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填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Email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、事由與預計歸還日</a:t>
            </a:r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2CD25D32-EEE5-2BC0-D329-90A729DF74E8}"/>
              </a:ext>
            </a:extLst>
          </p:cNvPr>
          <p:cNvSpPr/>
          <p:nvPr/>
        </p:nvSpPr>
        <p:spPr>
          <a:xfrm>
            <a:off x="10287000" y="1346200"/>
            <a:ext cx="558800" cy="558800"/>
          </a:xfrm>
          <a:prstGeom prst="ellipse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5</a:t>
            </a:r>
            <a:endParaRPr lang="zh-TW" altLang="en-US" b="1">
              <a:solidFill>
                <a:srgbClr val="FFFFFF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25BB4F40-F292-5EFD-9CCB-068C69C4F1AD}"/>
              </a:ext>
            </a:extLst>
          </p:cNvPr>
          <p:cNvSpPr/>
          <p:nvPr/>
        </p:nvSpPr>
        <p:spPr>
          <a:xfrm>
            <a:off x="9550400" y="2108200"/>
            <a:ext cx="2032000" cy="16256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0D1845BF-2305-B829-93A8-5ADB6B9BC567}"/>
              </a:ext>
            </a:extLst>
          </p:cNvPr>
          <p:cNvSpPr txBox="1"/>
          <p:nvPr/>
        </p:nvSpPr>
        <p:spPr>
          <a:xfrm>
            <a:off x="9728200" y="22860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6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寫入紀錄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45DDCA34-A94A-7CF1-79FB-370B5D696EE4}"/>
              </a:ext>
            </a:extLst>
          </p:cNvPr>
          <p:cNvSpPr txBox="1"/>
          <p:nvPr/>
        </p:nvSpPr>
        <p:spPr>
          <a:xfrm>
            <a:off x="9728200" y="26924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Loans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一件一列，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Logs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記錄異動</a:t>
            </a: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9FA66FBB-D4DC-A733-9632-B159F4E7A562}"/>
              </a:ext>
            </a:extLst>
          </p:cNvPr>
          <p:cNvSpPr/>
          <p:nvPr/>
        </p:nvSpPr>
        <p:spPr>
          <a:xfrm>
            <a:off x="609600" y="4013200"/>
            <a:ext cx="5384800" cy="132080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50800" rIns="203200" bIns="50800" rtlCol="0" anchor="ctr"/>
          <a:lstStyle/>
          <a:p>
            <a:r>
              <a:rPr lang="zh-TW" altLang="en-US" sz="15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連續掃描不中斷</a:t>
            </a:r>
          </a:p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清單存在手機瀏覽器，用相機再掃一件開了新分頁，清單也會延續；頁面內也能開相機連續掃。</a:t>
            </a:r>
          </a:p>
        </p:txBody>
      </p:sp>
      <p:sp>
        <p:nvSpPr>
          <p:cNvPr id="30" name="矩形: 圓角 29">
            <a:extLst>
              <a:ext uri="{FF2B5EF4-FFF2-40B4-BE49-F238E27FC236}">
                <a16:creationId xmlns:a16="http://schemas.microsoft.com/office/drawing/2014/main" id="{9256AF2B-6B44-962E-5DD1-C39F9046252A}"/>
              </a:ext>
            </a:extLst>
          </p:cNvPr>
          <p:cNvSpPr/>
          <p:nvPr/>
        </p:nvSpPr>
        <p:spPr>
          <a:xfrm>
            <a:off x="6197600" y="4013200"/>
            <a:ext cx="5384800" cy="132080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50800" rIns="203200" bIns="50800" rtlCol="0" anchor="ctr"/>
          <a:lstStyle/>
          <a:p>
            <a:r>
              <a:rPr lang="zh-TW" altLang="en-US" sz="15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歸還一定要掃實體展品</a:t>
            </a:r>
          </a:p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「我的借用」只能查詢、不能按歸還，避免展品沒帶回來就被登記歸還。</a:t>
            </a:r>
          </a:p>
        </p:txBody>
      </p:sp>
    </p:spTree>
    <p:extLst>
      <p:ext uri="{BB962C8B-B14F-4D97-AF65-F5344CB8AC3E}">
        <p14:creationId xmlns:p14="http://schemas.microsoft.com/office/powerpoint/2010/main" val="2987759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B4F10AA-2117-9B8A-C639-CD2E90F99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584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zh-TW" altLang="en-US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分批歸還：借 </a:t>
            </a:r>
            <a:r>
              <a:rPr lang="en-US" altLang="zh-TW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10 </a:t>
            </a:r>
            <a:r>
              <a:rPr lang="zh-TW" altLang="en-US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件去日本，</a:t>
            </a:r>
            <a:r>
              <a:rPr lang="en-US" altLang="zh-TW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5 </a:t>
            </a:r>
            <a:r>
              <a:rPr lang="zh-TW" altLang="en-US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件轉往美國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26ED3EB-96C8-B236-A32D-B76295886591}"/>
              </a:ext>
            </a:extLst>
          </p:cNvPr>
          <p:cNvSpPr txBox="1"/>
          <p:nvPr/>
        </p:nvSpPr>
        <p:spPr>
          <a:xfrm>
            <a:off x="609600" y="2032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02 </a:t>
            </a:r>
            <a:r>
              <a:rPr lang="zh-TW" altLang="en-US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架構與流程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E213B5F-3D22-4982-7E7A-ED77CDAE9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74DAA88A-BCF9-268C-A08E-0E25E418E1D3}"/>
              </a:ext>
            </a:extLst>
          </p:cNvPr>
          <p:cNvSpPr/>
          <p:nvPr/>
        </p:nvSpPr>
        <p:spPr>
          <a:xfrm>
            <a:off x="609600" y="1320800"/>
            <a:ext cx="2514600" cy="406400"/>
          </a:xfrm>
          <a:prstGeom prst="roundRect">
            <a:avLst>
              <a:gd name="adj" fmla="val 8000"/>
            </a:avLst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zh-TW" altLang="en-US" sz="14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① 借出 </a:t>
            </a:r>
            <a:r>
              <a:rPr lang="en-US" altLang="zh-TW" sz="14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10 </a:t>
            </a:r>
            <a:r>
              <a:rPr lang="zh-TW" altLang="en-US" sz="14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件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469DD38-F87A-784B-B823-FB393261C105}"/>
              </a:ext>
            </a:extLst>
          </p:cNvPr>
          <p:cNvSpPr/>
          <p:nvPr/>
        </p:nvSpPr>
        <p:spPr>
          <a:xfrm>
            <a:off x="685800" y="1905000"/>
            <a:ext cx="190500" cy="190500"/>
          </a:xfrm>
          <a:prstGeom prst="rect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5D9766-9342-E32D-63EC-B297296BA3D8}"/>
              </a:ext>
            </a:extLst>
          </p:cNvPr>
          <p:cNvSpPr/>
          <p:nvPr/>
        </p:nvSpPr>
        <p:spPr>
          <a:xfrm>
            <a:off x="927100" y="1905000"/>
            <a:ext cx="190500" cy="190500"/>
          </a:xfrm>
          <a:prstGeom prst="rect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C639D19-C155-565C-65FC-C9864E07DF7D}"/>
              </a:ext>
            </a:extLst>
          </p:cNvPr>
          <p:cNvSpPr/>
          <p:nvPr/>
        </p:nvSpPr>
        <p:spPr>
          <a:xfrm>
            <a:off x="1168400" y="1905000"/>
            <a:ext cx="190500" cy="190500"/>
          </a:xfrm>
          <a:prstGeom prst="rect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1E438AA-F4E5-8C6F-11F3-56FECD701AF4}"/>
              </a:ext>
            </a:extLst>
          </p:cNvPr>
          <p:cNvSpPr/>
          <p:nvPr/>
        </p:nvSpPr>
        <p:spPr>
          <a:xfrm>
            <a:off x="1409700" y="1905000"/>
            <a:ext cx="190500" cy="190500"/>
          </a:xfrm>
          <a:prstGeom prst="rect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239C1E9-B721-89FD-7F83-08AFF1552596}"/>
              </a:ext>
            </a:extLst>
          </p:cNvPr>
          <p:cNvSpPr/>
          <p:nvPr/>
        </p:nvSpPr>
        <p:spPr>
          <a:xfrm>
            <a:off x="1651000" y="1905000"/>
            <a:ext cx="190500" cy="190500"/>
          </a:xfrm>
          <a:prstGeom prst="rect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B2E56DD-C895-F153-852D-4701B549911B}"/>
              </a:ext>
            </a:extLst>
          </p:cNvPr>
          <p:cNvSpPr/>
          <p:nvPr/>
        </p:nvSpPr>
        <p:spPr>
          <a:xfrm>
            <a:off x="1892300" y="1905000"/>
            <a:ext cx="190500" cy="190500"/>
          </a:xfrm>
          <a:prstGeom prst="rect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52CF3D6-C325-E6EA-DD1C-A7F54FCC3959}"/>
              </a:ext>
            </a:extLst>
          </p:cNvPr>
          <p:cNvSpPr/>
          <p:nvPr/>
        </p:nvSpPr>
        <p:spPr>
          <a:xfrm>
            <a:off x="2133600" y="1905000"/>
            <a:ext cx="190500" cy="190500"/>
          </a:xfrm>
          <a:prstGeom prst="rect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5D9AD41-07E7-C2AB-3B9B-D6C53EAD0876}"/>
              </a:ext>
            </a:extLst>
          </p:cNvPr>
          <p:cNvSpPr/>
          <p:nvPr/>
        </p:nvSpPr>
        <p:spPr>
          <a:xfrm>
            <a:off x="2374900" y="1905000"/>
            <a:ext cx="190500" cy="190500"/>
          </a:xfrm>
          <a:prstGeom prst="rect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40BA71E-5233-A79A-410D-6F94DB202EFD}"/>
              </a:ext>
            </a:extLst>
          </p:cNvPr>
          <p:cNvSpPr/>
          <p:nvPr/>
        </p:nvSpPr>
        <p:spPr>
          <a:xfrm>
            <a:off x="2616200" y="1905000"/>
            <a:ext cx="190500" cy="190500"/>
          </a:xfrm>
          <a:prstGeom prst="rect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9599C46-F5A2-68DB-445F-D91E5C5206F4}"/>
              </a:ext>
            </a:extLst>
          </p:cNvPr>
          <p:cNvSpPr/>
          <p:nvPr/>
        </p:nvSpPr>
        <p:spPr>
          <a:xfrm>
            <a:off x="2857500" y="1905000"/>
            <a:ext cx="190500" cy="190500"/>
          </a:xfrm>
          <a:prstGeom prst="rect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A221365A-D6D7-3C66-4ABB-FB7BF05EF774}"/>
              </a:ext>
            </a:extLst>
          </p:cNvPr>
          <p:cNvSpPr/>
          <p:nvPr/>
        </p:nvSpPr>
        <p:spPr>
          <a:xfrm>
            <a:off x="609600" y="2286000"/>
            <a:ext cx="2514600" cy="17272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8889136-748F-6D97-F13E-151751864DD0}"/>
              </a:ext>
            </a:extLst>
          </p:cNvPr>
          <p:cNvSpPr txBox="1"/>
          <p:nvPr/>
        </p:nvSpPr>
        <p:spPr>
          <a:xfrm>
            <a:off x="787400" y="24638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借用單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L-A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寫入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10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列，每列都是「借出中」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E94AC85F-4C33-BBC2-ABBE-7DBBF5299402}"/>
              </a:ext>
            </a:extLst>
          </p:cNvPr>
          <p:cNvSpPr/>
          <p:nvPr/>
        </p:nvSpPr>
        <p:spPr>
          <a:xfrm>
            <a:off x="3429000" y="1320800"/>
            <a:ext cx="2514600" cy="406400"/>
          </a:xfrm>
          <a:prstGeom prst="roundRect">
            <a:avLst>
              <a:gd name="adj" fmla="val 8000"/>
            </a:avLst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zh-TW" altLang="en-US" sz="14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② 歸還 </a:t>
            </a:r>
            <a:r>
              <a:rPr lang="en-US" altLang="zh-TW" sz="14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5 </a:t>
            </a:r>
            <a:r>
              <a:rPr lang="zh-TW" altLang="en-US" sz="14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件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012E3A4-04D4-DAC1-DEDA-D168DE239FDF}"/>
              </a:ext>
            </a:extLst>
          </p:cNvPr>
          <p:cNvSpPr/>
          <p:nvPr/>
        </p:nvSpPr>
        <p:spPr>
          <a:xfrm>
            <a:off x="35052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A94FDB6-DFCA-611D-BF52-222C62BC8EFB}"/>
              </a:ext>
            </a:extLst>
          </p:cNvPr>
          <p:cNvSpPr/>
          <p:nvPr/>
        </p:nvSpPr>
        <p:spPr>
          <a:xfrm>
            <a:off x="37465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B059DD7-3065-BBC5-5856-260A85E4732B}"/>
              </a:ext>
            </a:extLst>
          </p:cNvPr>
          <p:cNvSpPr/>
          <p:nvPr/>
        </p:nvSpPr>
        <p:spPr>
          <a:xfrm>
            <a:off x="39878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F0F9E9F-BD48-444B-3134-CA0654DFE10B}"/>
              </a:ext>
            </a:extLst>
          </p:cNvPr>
          <p:cNvSpPr/>
          <p:nvPr/>
        </p:nvSpPr>
        <p:spPr>
          <a:xfrm>
            <a:off x="42291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3B4C8C2-54DF-6938-4618-3821F90E8A5C}"/>
              </a:ext>
            </a:extLst>
          </p:cNvPr>
          <p:cNvSpPr/>
          <p:nvPr/>
        </p:nvSpPr>
        <p:spPr>
          <a:xfrm>
            <a:off x="44704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CBA1E05-B15B-3E3B-E27C-B6173B493341}"/>
              </a:ext>
            </a:extLst>
          </p:cNvPr>
          <p:cNvSpPr/>
          <p:nvPr/>
        </p:nvSpPr>
        <p:spPr>
          <a:xfrm>
            <a:off x="4711700" y="1905000"/>
            <a:ext cx="190500" cy="190500"/>
          </a:xfrm>
          <a:prstGeom prst="rect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AE8A455-DFFF-445E-0708-A36F5D60F66A}"/>
              </a:ext>
            </a:extLst>
          </p:cNvPr>
          <p:cNvSpPr/>
          <p:nvPr/>
        </p:nvSpPr>
        <p:spPr>
          <a:xfrm>
            <a:off x="4953000" y="1905000"/>
            <a:ext cx="190500" cy="190500"/>
          </a:xfrm>
          <a:prstGeom prst="rect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4119CFA-A0D7-7141-1A67-C86B49115A6A}"/>
              </a:ext>
            </a:extLst>
          </p:cNvPr>
          <p:cNvSpPr/>
          <p:nvPr/>
        </p:nvSpPr>
        <p:spPr>
          <a:xfrm>
            <a:off x="5194300" y="1905000"/>
            <a:ext cx="190500" cy="190500"/>
          </a:xfrm>
          <a:prstGeom prst="rect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B8E5795-B867-718D-5EC7-65950D07C8F9}"/>
              </a:ext>
            </a:extLst>
          </p:cNvPr>
          <p:cNvSpPr/>
          <p:nvPr/>
        </p:nvSpPr>
        <p:spPr>
          <a:xfrm>
            <a:off x="5435600" y="1905000"/>
            <a:ext cx="190500" cy="190500"/>
          </a:xfrm>
          <a:prstGeom prst="rect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08F42F1-F2ED-1C96-FD54-FEB7F00E7924}"/>
              </a:ext>
            </a:extLst>
          </p:cNvPr>
          <p:cNvSpPr/>
          <p:nvPr/>
        </p:nvSpPr>
        <p:spPr>
          <a:xfrm>
            <a:off x="5676900" y="1905000"/>
            <a:ext cx="190500" cy="190500"/>
          </a:xfrm>
          <a:prstGeom prst="rect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131DDBB6-D496-4D86-E9C7-56786D12F76B}"/>
              </a:ext>
            </a:extLst>
          </p:cNvPr>
          <p:cNvSpPr/>
          <p:nvPr/>
        </p:nvSpPr>
        <p:spPr>
          <a:xfrm>
            <a:off x="3429000" y="2286000"/>
            <a:ext cx="2514600" cy="17272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6DD986B-CFAB-BEBF-502A-256ED1C9B491}"/>
              </a:ext>
            </a:extLst>
          </p:cNvPr>
          <p:cNvSpPr txBox="1"/>
          <p:nvPr/>
        </p:nvSpPr>
        <p:spPr>
          <a:xfrm>
            <a:off x="3606800" y="24638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掃碼歸還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5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件，這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5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列改為「已歸還」，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Logs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記「部分歸還」</a:t>
            </a:r>
          </a:p>
        </p:txBody>
      </p:sp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8B704415-4BD8-90F0-15D1-DD4C71D7B061}"/>
              </a:ext>
            </a:extLst>
          </p:cNvPr>
          <p:cNvSpPr/>
          <p:nvPr/>
        </p:nvSpPr>
        <p:spPr>
          <a:xfrm>
            <a:off x="6248400" y="1320800"/>
            <a:ext cx="2514600" cy="406400"/>
          </a:xfrm>
          <a:prstGeom prst="roundRect">
            <a:avLst>
              <a:gd name="adj" fmla="val 8000"/>
            </a:avLst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zh-TW" altLang="en-US" sz="14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③ 移轉 </a:t>
            </a:r>
            <a:r>
              <a:rPr lang="en-US" altLang="zh-TW" sz="14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5 </a:t>
            </a:r>
            <a:r>
              <a:rPr lang="zh-TW" altLang="en-US" sz="14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件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1D48667-C014-310C-16F0-D0B3A6062281}"/>
              </a:ext>
            </a:extLst>
          </p:cNvPr>
          <p:cNvSpPr/>
          <p:nvPr/>
        </p:nvSpPr>
        <p:spPr>
          <a:xfrm>
            <a:off x="63246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36DB90E-2119-617D-FEFA-0F0994FB1140}"/>
              </a:ext>
            </a:extLst>
          </p:cNvPr>
          <p:cNvSpPr/>
          <p:nvPr/>
        </p:nvSpPr>
        <p:spPr>
          <a:xfrm>
            <a:off x="65659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4D69274-C44C-FF22-9A24-FF2863DA2EAD}"/>
              </a:ext>
            </a:extLst>
          </p:cNvPr>
          <p:cNvSpPr/>
          <p:nvPr/>
        </p:nvSpPr>
        <p:spPr>
          <a:xfrm>
            <a:off x="68072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EF49FDC-200C-AB54-D161-C3F51354DDD9}"/>
              </a:ext>
            </a:extLst>
          </p:cNvPr>
          <p:cNvSpPr/>
          <p:nvPr/>
        </p:nvSpPr>
        <p:spPr>
          <a:xfrm>
            <a:off x="70485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FD903B7-579D-1E88-06DE-2719D24A9019}"/>
              </a:ext>
            </a:extLst>
          </p:cNvPr>
          <p:cNvSpPr/>
          <p:nvPr/>
        </p:nvSpPr>
        <p:spPr>
          <a:xfrm>
            <a:off x="72898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F8C292D-579A-7C27-B125-3105C7534300}"/>
              </a:ext>
            </a:extLst>
          </p:cNvPr>
          <p:cNvSpPr/>
          <p:nvPr/>
        </p:nvSpPr>
        <p:spPr>
          <a:xfrm>
            <a:off x="7531100" y="1905000"/>
            <a:ext cx="190500" cy="190500"/>
          </a:xfrm>
          <a:prstGeom prst="rect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BC3C824-BCB7-2888-38E7-CEEA6193944D}"/>
              </a:ext>
            </a:extLst>
          </p:cNvPr>
          <p:cNvSpPr/>
          <p:nvPr/>
        </p:nvSpPr>
        <p:spPr>
          <a:xfrm>
            <a:off x="7772400" y="1905000"/>
            <a:ext cx="190500" cy="190500"/>
          </a:xfrm>
          <a:prstGeom prst="rect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0371816-E156-6A46-445C-5E92166F0DC3}"/>
              </a:ext>
            </a:extLst>
          </p:cNvPr>
          <p:cNvSpPr/>
          <p:nvPr/>
        </p:nvSpPr>
        <p:spPr>
          <a:xfrm>
            <a:off x="8013700" y="1905000"/>
            <a:ext cx="190500" cy="190500"/>
          </a:xfrm>
          <a:prstGeom prst="rect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1249865-81A4-4E72-4201-ADBF40F28277}"/>
              </a:ext>
            </a:extLst>
          </p:cNvPr>
          <p:cNvSpPr/>
          <p:nvPr/>
        </p:nvSpPr>
        <p:spPr>
          <a:xfrm>
            <a:off x="8255000" y="1905000"/>
            <a:ext cx="190500" cy="190500"/>
          </a:xfrm>
          <a:prstGeom prst="rect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F3498628-9697-06E8-9122-1D2AADA0CB14}"/>
              </a:ext>
            </a:extLst>
          </p:cNvPr>
          <p:cNvSpPr/>
          <p:nvPr/>
        </p:nvSpPr>
        <p:spPr>
          <a:xfrm>
            <a:off x="8496300" y="1905000"/>
            <a:ext cx="190500" cy="190500"/>
          </a:xfrm>
          <a:prstGeom prst="rect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71CC7F3D-66AF-6DEF-E714-3E659C09C164}"/>
              </a:ext>
            </a:extLst>
          </p:cNvPr>
          <p:cNvSpPr/>
          <p:nvPr/>
        </p:nvSpPr>
        <p:spPr>
          <a:xfrm>
            <a:off x="6248400" y="2286000"/>
            <a:ext cx="2514600" cy="17272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95D9D5C1-7286-A63D-F503-3AAE2E4F7838}"/>
              </a:ext>
            </a:extLst>
          </p:cNvPr>
          <p:cNvSpPr txBox="1"/>
          <p:nvPr/>
        </p:nvSpPr>
        <p:spPr>
          <a:xfrm>
            <a:off x="6426200" y="24638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管理者移轉剩下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5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件：原列改「已移轉」，新借用單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L-B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記錄事由「展覽出國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-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美國」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20899E6D-3FE4-5C11-670B-C1650464C56E}"/>
              </a:ext>
            </a:extLst>
          </p:cNvPr>
          <p:cNvSpPr/>
          <p:nvPr/>
        </p:nvSpPr>
        <p:spPr>
          <a:xfrm>
            <a:off x="9067800" y="1320800"/>
            <a:ext cx="2514600" cy="406400"/>
          </a:xfrm>
          <a:prstGeom prst="roundRect">
            <a:avLst>
              <a:gd name="adj" fmla="val 8000"/>
            </a:avLst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zh-TW" altLang="en-US" sz="14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④ 全部歸還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CF715659-1776-F411-549A-208DD8AEF891}"/>
              </a:ext>
            </a:extLst>
          </p:cNvPr>
          <p:cNvSpPr/>
          <p:nvPr/>
        </p:nvSpPr>
        <p:spPr>
          <a:xfrm>
            <a:off x="91440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E34DB94-7964-12FA-FE03-67DA58202BCF}"/>
              </a:ext>
            </a:extLst>
          </p:cNvPr>
          <p:cNvSpPr/>
          <p:nvPr/>
        </p:nvSpPr>
        <p:spPr>
          <a:xfrm>
            <a:off x="93853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EF1FC6C-D102-ABA9-6E5A-423B623636D0}"/>
              </a:ext>
            </a:extLst>
          </p:cNvPr>
          <p:cNvSpPr/>
          <p:nvPr/>
        </p:nvSpPr>
        <p:spPr>
          <a:xfrm>
            <a:off x="96266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814032F-DBF3-49A7-C3D0-55E42E632F50}"/>
              </a:ext>
            </a:extLst>
          </p:cNvPr>
          <p:cNvSpPr/>
          <p:nvPr/>
        </p:nvSpPr>
        <p:spPr>
          <a:xfrm>
            <a:off x="98679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ECFA5BDD-88C3-FC26-25C9-1EDFDD67BD6D}"/>
              </a:ext>
            </a:extLst>
          </p:cNvPr>
          <p:cNvSpPr/>
          <p:nvPr/>
        </p:nvSpPr>
        <p:spPr>
          <a:xfrm>
            <a:off x="101092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C08513CD-6B51-A047-4862-80E26CEEED79}"/>
              </a:ext>
            </a:extLst>
          </p:cNvPr>
          <p:cNvSpPr/>
          <p:nvPr/>
        </p:nvSpPr>
        <p:spPr>
          <a:xfrm>
            <a:off x="103505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19C172FF-5E3B-E091-E90A-318779AC21C4}"/>
              </a:ext>
            </a:extLst>
          </p:cNvPr>
          <p:cNvSpPr/>
          <p:nvPr/>
        </p:nvSpPr>
        <p:spPr>
          <a:xfrm>
            <a:off x="105918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F0DB8894-59B1-2C6B-04CC-7AC5B691D66F}"/>
              </a:ext>
            </a:extLst>
          </p:cNvPr>
          <p:cNvSpPr/>
          <p:nvPr/>
        </p:nvSpPr>
        <p:spPr>
          <a:xfrm>
            <a:off x="108331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0CC9CD97-0453-3663-183C-F0B8DD0052C4}"/>
              </a:ext>
            </a:extLst>
          </p:cNvPr>
          <p:cNvSpPr/>
          <p:nvPr/>
        </p:nvSpPr>
        <p:spPr>
          <a:xfrm>
            <a:off x="110744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00488A7-9A89-BD17-4031-1EAC7C1D3E68}"/>
              </a:ext>
            </a:extLst>
          </p:cNvPr>
          <p:cNvSpPr/>
          <p:nvPr/>
        </p:nvSpPr>
        <p:spPr>
          <a:xfrm>
            <a:off x="11315700" y="1905000"/>
            <a:ext cx="190500" cy="1905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5856886D-979F-1E06-9193-20ECB2DBC6A6}"/>
              </a:ext>
            </a:extLst>
          </p:cNvPr>
          <p:cNvSpPr/>
          <p:nvPr/>
        </p:nvSpPr>
        <p:spPr>
          <a:xfrm>
            <a:off x="9067800" y="2286000"/>
            <a:ext cx="2514600" cy="17272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0BC430E8-6A7B-4698-96EB-9194009C39EA}"/>
              </a:ext>
            </a:extLst>
          </p:cNvPr>
          <p:cNvSpPr txBox="1"/>
          <p:nvPr/>
        </p:nvSpPr>
        <p:spPr>
          <a:xfrm>
            <a:off x="9245600" y="24638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5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件全部歸還，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L-B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結清，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Logs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記「完全歸還」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5DA7D872-2C32-F34C-F74A-DB489D0D696E}"/>
              </a:ext>
            </a:extLst>
          </p:cNvPr>
          <p:cNvSpPr/>
          <p:nvPr/>
        </p:nvSpPr>
        <p:spPr>
          <a:xfrm>
            <a:off x="609600" y="4292600"/>
            <a:ext cx="152400" cy="152400"/>
          </a:xfrm>
          <a:prstGeom prst="rect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A5BC68C-C04F-FF2F-55E8-2189BF7693D3}"/>
              </a:ext>
            </a:extLst>
          </p:cNvPr>
          <p:cNvSpPr txBox="1"/>
          <p:nvPr/>
        </p:nvSpPr>
        <p:spPr>
          <a:xfrm>
            <a:off x="838200" y="42545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借出中（</a:t>
            </a:r>
            <a:r>
              <a:rPr lang="en-US" altLang="zh-TW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L-A</a:t>
            </a:r>
            <a:r>
              <a:rPr lang="zh-TW" altLang="en-US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）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AE97E8C1-095E-290E-C8A3-1806DDF6045A}"/>
              </a:ext>
            </a:extLst>
          </p:cNvPr>
          <p:cNvSpPr/>
          <p:nvPr/>
        </p:nvSpPr>
        <p:spPr>
          <a:xfrm>
            <a:off x="3403600" y="4292600"/>
            <a:ext cx="152400" cy="152400"/>
          </a:xfrm>
          <a:prstGeom prst="rect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529122B9-A30F-8DA4-BE36-51C7EC10AC58}"/>
              </a:ext>
            </a:extLst>
          </p:cNvPr>
          <p:cNvSpPr txBox="1"/>
          <p:nvPr/>
        </p:nvSpPr>
        <p:spPr>
          <a:xfrm>
            <a:off x="3632200" y="42545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借出中（新借用單 </a:t>
            </a:r>
            <a:r>
              <a:rPr lang="en-US" altLang="zh-TW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L-B</a:t>
            </a:r>
            <a:r>
              <a:rPr lang="zh-TW" altLang="en-US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）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DBF8A910-F40F-AB8F-6B18-6C2BA0D61EC6}"/>
              </a:ext>
            </a:extLst>
          </p:cNvPr>
          <p:cNvSpPr/>
          <p:nvPr/>
        </p:nvSpPr>
        <p:spPr>
          <a:xfrm>
            <a:off x="6197600" y="4292600"/>
            <a:ext cx="152400" cy="152400"/>
          </a:xfrm>
          <a:prstGeom prst="rect">
            <a:avLst/>
          </a:prstGeom>
          <a:solidFill>
            <a:srgbClr val="C9CE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9E8C8A8F-FF58-2FBE-A017-5009E7B59176}"/>
              </a:ext>
            </a:extLst>
          </p:cNvPr>
          <p:cNvSpPr txBox="1"/>
          <p:nvPr/>
        </p:nvSpPr>
        <p:spPr>
          <a:xfrm>
            <a:off x="6426200" y="42545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已歸還／已移轉</a:t>
            </a: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D78EDE8B-70B2-983B-3F5E-A03A1ED89B7D}"/>
              </a:ext>
            </a:extLst>
          </p:cNvPr>
          <p:cNvSpPr/>
          <p:nvPr/>
        </p:nvSpPr>
        <p:spPr>
          <a:xfrm>
            <a:off x="609600" y="4826000"/>
            <a:ext cx="10972800" cy="762000"/>
          </a:xfrm>
          <a:prstGeom prst="roundRect">
            <a:avLst>
              <a:gd name="adj" fmla="val 8000"/>
            </a:avLst>
          </a:prstGeom>
          <a:solidFill>
            <a:srgbClr val="FCEF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50800" rIns="101600" bIns="50800" rtlCol="0" anchor="ctr"/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移轉是選用的：不移轉時，未還的展品本來就繼續記在借用者名下，到期一樣會被催還。</a:t>
            </a:r>
          </a:p>
        </p:txBody>
      </p:sp>
    </p:spTree>
    <p:extLst>
      <p:ext uri="{BB962C8B-B14F-4D97-AF65-F5344CB8AC3E}">
        <p14:creationId xmlns:p14="http://schemas.microsoft.com/office/powerpoint/2010/main" val="2294026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5FAF13-9DE6-6F26-7FAA-0D8F64500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584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zh-TW" altLang="en-US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資料結構：五張工作表就是資料庫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0048961-824E-CA66-EEDA-C159A785016C}"/>
              </a:ext>
            </a:extLst>
          </p:cNvPr>
          <p:cNvSpPr txBox="1"/>
          <p:nvPr/>
        </p:nvSpPr>
        <p:spPr>
          <a:xfrm>
            <a:off x="609600" y="2032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03 </a:t>
            </a:r>
            <a:r>
              <a:rPr lang="zh-TW" altLang="en-US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資料與介面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4C84C09-18CA-F017-9B0D-0AE8D453F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7</a:t>
            </a:fld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6907D43C-699B-E25D-EEDE-0DA539B0C0BD}"/>
              </a:ext>
            </a:extLst>
          </p:cNvPr>
          <p:cNvSpPr/>
          <p:nvPr/>
        </p:nvSpPr>
        <p:spPr>
          <a:xfrm>
            <a:off x="609600" y="1320800"/>
            <a:ext cx="3454400" cy="21844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420816C-BA85-6A5E-FC03-0554CBC4E29C}"/>
              </a:ext>
            </a:extLst>
          </p:cNvPr>
          <p:cNvSpPr txBox="1"/>
          <p:nvPr/>
        </p:nvSpPr>
        <p:spPr>
          <a:xfrm>
            <a:off x="812800" y="1498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7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Items</a:t>
            </a:r>
            <a:r>
              <a:rPr lang="zh-TW" altLang="en-US" sz="17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　展品主檔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D4F73E9-D1D6-C6FC-DD05-95FA583B3493}"/>
              </a:ext>
            </a:extLst>
          </p:cNvPr>
          <p:cNvSpPr txBox="1"/>
          <p:nvPr/>
        </p:nvSpPr>
        <p:spPr>
          <a:xfrm>
            <a:off x="812800" y="19050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每件展品一列，記錄目前狀態與借用者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A5B25AC-BBE6-6FCA-D353-CD3F922C0148}"/>
              </a:ext>
            </a:extLst>
          </p:cNvPr>
          <p:cNvSpPr txBox="1"/>
          <p:nvPr/>
        </p:nvSpPr>
        <p:spPr>
          <a:xfrm>
            <a:off x="812800" y="2565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200">
                <a:solidFill>
                  <a:srgbClr val="1F6F78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item_id, name, category, location, status, current_borrower_name, expected_return_date</a:t>
            </a:r>
            <a:endParaRPr lang="zh-TW" altLang="en-US" sz="1200">
              <a:solidFill>
                <a:srgbClr val="1F6F78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57D1B795-49C9-B117-B7E4-18617DE62D82}"/>
              </a:ext>
            </a:extLst>
          </p:cNvPr>
          <p:cNvSpPr/>
          <p:nvPr/>
        </p:nvSpPr>
        <p:spPr>
          <a:xfrm>
            <a:off x="4368800" y="1320800"/>
            <a:ext cx="3454400" cy="21844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2FD2DB9-4BA5-BB43-010F-A90628DFAAD3}"/>
              </a:ext>
            </a:extLst>
          </p:cNvPr>
          <p:cNvSpPr txBox="1"/>
          <p:nvPr/>
        </p:nvSpPr>
        <p:spPr>
          <a:xfrm>
            <a:off x="4572000" y="1498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7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Loans</a:t>
            </a:r>
            <a:r>
              <a:rPr lang="zh-TW" altLang="en-US" sz="17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　借用紀錄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72D06D5-405C-B729-66AD-1EE508152551}"/>
              </a:ext>
            </a:extLst>
          </p:cNvPr>
          <p:cNvSpPr txBox="1"/>
          <p:nvPr/>
        </p:nvSpPr>
        <p:spPr>
          <a:xfrm>
            <a:off x="4572000" y="19050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一件一列；同一張借用單共用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loan_id</a:t>
            </a:r>
            <a:endParaRPr lang="zh-TW" altLang="en-US" sz="1400">
              <a:solidFill>
                <a:srgbClr val="1F2A30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96354F-C66E-43DE-3345-FC2769AE5098}"/>
              </a:ext>
            </a:extLst>
          </p:cNvPr>
          <p:cNvSpPr txBox="1"/>
          <p:nvPr/>
        </p:nvSpPr>
        <p:spPr>
          <a:xfrm>
            <a:off x="4572000" y="2565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200">
                <a:solidFill>
                  <a:srgbClr val="1F6F78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loan_id, item_id, borrower_email, reason, expected_return_date, status, returned_at</a:t>
            </a:r>
            <a:endParaRPr lang="zh-TW" altLang="en-US" sz="1200">
              <a:solidFill>
                <a:srgbClr val="1F6F78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ED99449F-6E5F-83B0-5E39-03F577FBFA22}"/>
              </a:ext>
            </a:extLst>
          </p:cNvPr>
          <p:cNvSpPr/>
          <p:nvPr/>
        </p:nvSpPr>
        <p:spPr>
          <a:xfrm>
            <a:off x="8128000" y="1320800"/>
            <a:ext cx="3454400" cy="21844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3477CC5-E8A7-913A-74FC-A4584556619C}"/>
              </a:ext>
            </a:extLst>
          </p:cNvPr>
          <p:cNvSpPr txBox="1"/>
          <p:nvPr/>
        </p:nvSpPr>
        <p:spPr>
          <a:xfrm>
            <a:off x="8331200" y="1498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7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Logs</a:t>
            </a:r>
            <a:r>
              <a:rPr lang="zh-TW" altLang="en-US" sz="17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　異動日誌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DBA5D85-29DA-14C0-0282-6914821E6CD5}"/>
              </a:ext>
            </a:extLst>
          </p:cNvPr>
          <p:cNvSpPr txBox="1"/>
          <p:nvPr/>
        </p:nvSpPr>
        <p:spPr>
          <a:xfrm>
            <a:off x="8331200" y="19050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每次異動新增一筆，只增不改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D435E27-C93B-6633-2FFE-CE88C09B9D68}"/>
              </a:ext>
            </a:extLst>
          </p:cNvPr>
          <p:cNvSpPr txBox="1"/>
          <p:nvPr/>
        </p:nvSpPr>
        <p:spPr>
          <a:xfrm>
            <a:off x="8331200" y="2565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200">
                <a:solidFill>
                  <a:srgbClr val="1F6F78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timestamp, action, item_id, loan_id, borrower_email, operator, detail</a:t>
            </a:r>
            <a:endParaRPr lang="zh-TW" altLang="en-US" sz="1200">
              <a:solidFill>
                <a:srgbClr val="1F6F78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09784829-EF67-9F57-9863-A53179D26E7B}"/>
              </a:ext>
            </a:extLst>
          </p:cNvPr>
          <p:cNvSpPr/>
          <p:nvPr/>
        </p:nvSpPr>
        <p:spPr>
          <a:xfrm>
            <a:off x="609600" y="3708400"/>
            <a:ext cx="3454400" cy="21844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2C15AC6-84D0-1308-021C-42403DA22848}"/>
              </a:ext>
            </a:extLst>
          </p:cNvPr>
          <p:cNvSpPr txBox="1"/>
          <p:nvPr/>
        </p:nvSpPr>
        <p:spPr>
          <a:xfrm>
            <a:off x="812800" y="3886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7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Borrowers</a:t>
            </a:r>
            <a:r>
              <a:rPr lang="zh-TW" altLang="en-US" sz="17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　常用借用者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B718DA9-9C47-2FC2-79FC-14B7C905FFBD}"/>
              </a:ext>
            </a:extLst>
          </p:cNvPr>
          <p:cNvSpPr txBox="1"/>
          <p:nvPr/>
        </p:nvSpPr>
        <p:spPr>
          <a:xfrm>
            <a:off x="812800" y="4292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借用時自動記錄，供管理者代填選擇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BB6FDB74-FD91-B678-7DCC-4E55172D98F8}"/>
              </a:ext>
            </a:extLst>
          </p:cNvPr>
          <p:cNvSpPr txBox="1"/>
          <p:nvPr/>
        </p:nvSpPr>
        <p:spPr>
          <a:xfrm>
            <a:off x="812800" y="49530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200">
                <a:solidFill>
                  <a:srgbClr val="1F6F78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email, name, last_used_at</a:t>
            </a:r>
            <a:endParaRPr lang="zh-TW" altLang="en-US" sz="1200">
              <a:solidFill>
                <a:srgbClr val="1F6F78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F3A81225-FABB-5CED-4AEF-B1B148828CCE}"/>
              </a:ext>
            </a:extLst>
          </p:cNvPr>
          <p:cNvSpPr/>
          <p:nvPr/>
        </p:nvSpPr>
        <p:spPr>
          <a:xfrm>
            <a:off x="4368800" y="3708400"/>
            <a:ext cx="3454400" cy="21844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D485B95B-F6FD-6E25-D604-3464950E2B99}"/>
              </a:ext>
            </a:extLst>
          </p:cNvPr>
          <p:cNvSpPr txBox="1"/>
          <p:nvPr/>
        </p:nvSpPr>
        <p:spPr>
          <a:xfrm>
            <a:off x="4572000" y="3886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7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Settings</a:t>
            </a:r>
            <a:r>
              <a:rPr lang="zh-TW" altLang="en-US" sz="17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　系統設定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83FA2B55-1CC8-30E5-8487-690AEBC6FF2B}"/>
              </a:ext>
            </a:extLst>
          </p:cNvPr>
          <p:cNvSpPr txBox="1"/>
          <p:nvPr/>
        </p:nvSpPr>
        <p:spPr>
          <a:xfrm>
            <a:off x="4572000" y="4292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管理者可直接在試算表修改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F61AB94-0EFE-4377-38B5-623B1756A612}"/>
              </a:ext>
            </a:extLst>
          </p:cNvPr>
          <p:cNvSpPr txBox="1"/>
          <p:nvPr/>
        </p:nvSpPr>
        <p:spPr>
          <a:xfrm>
            <a:off x="4572000" y="49530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200">
                <a:solidFill>
                  <a:srgbClr val="1F6F78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REASONS, EMAIL_DOMAIN, ADMIN_EMAILS, REMINDER_HOUR, APP_URL</a:t>
            </a:r>
            <a:endParaRPr lang="zh-TW" altLang="en-US" sz="1200">
              <a:solidFill>
                <a:srgbClr val="1F6F78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F0F98D95-DEBC-EE7A-0419-401CCA94CCA9}"/>
              </a:ext>
            </a:extLst>
          </p:cNvPr>
          <p:cNvSpPr/>
          <p:nvPr/>
        </p:nvSpPr>
        <p:spPr>
          <a:xfrm>
            <a:off x="8128000" y="3708400"/>
            <a:ext cx="3454400" cy="2184400"/>
          </a:xfrm>
          <a:prstGeom prst="roundRect">
            <a:avLst>
              <a:gd name="adj" fmla="val 8000"/>
            </a:avLst>
          </a:prstGeom>
          <a:solidFill>
            <a:srgbClr val="FCEF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73FD3FA6-EF38-0F9B-9E4A-6C30CF848D1B}"/>
              </a:ext>
            </a:extLst>
          </p:cNvPr>
          <p:cNvSpPr txBox="1"/>
          <p:nvPr/>
        </p:nvSpPr>
        <p:spPr>
          <a:xfrm>
            <a:off x="8331200" y="3886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700" b="1">
                <a:solidFill>
                  <a:srgbClr val="A86A1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設計重點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1873FA6-9E3C-BB5F-B56F-70AEDD7EEFFC}"/>
              </a:ext>
            </a:extLst>
          </p:cNvPr>
          <p:cNvSpPr txBox="1"/>
          <p:nvPr/>
        </p:nvSpPr>
        <p:spPr>
          <a:xfrm>
            <a:off x="8331200" y="4318000"/>
            <a:ext cx="3098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A86A12"/>
              </a:buClr>
              <a:buFont typeface="+mj-lt"/>
              <a:buChar char="•"/>
            </a:pP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依標題列名稱讀寫，欄位順序可調整</a:t>
            </a:r>
          </a:p>
          <a:p>
            <a:pPr marL="203200" indent="-203200">
              <a:spcAft>
                <a:spcPts val="900"/>
              </a:spcAft>
              <a:buClr>
                <a:srgbClr val="A86A12"/>
              </a:buClr>
              <a:buFont typeface="+mj-lt"/>
              <a:buChar char="•"/>
            </a:pP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編號設為純文字，保留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001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的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0</a:t>
            </a:r>
          </a:p>
          <a:p>
            <a:pPr marL="203200" indent="-203200">
              <a:spcAft>
                <a:spcPts val="900"/>
              </a:spcAft>
              <a:buClr>
                <a:srgbClr val="A86A12"/>
              </a:buClr>
              <a:buFont typeface="+mj-lt"/>
              <a:buChar char="•"/>
            </a:pP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日期存成真正的日期，可排序篩選</a:t>
            </a:r>
          </a:p>
        </p:txBody>
      </p:sp>
    </p:spTree>
    <p:extLst>
      <p:ext uri="{BB962C8B-B14F-4D97-AF65-F5344CB8AC3E}">
        <p14:creationId xmlns:p14="http://schemas.microsoft.com/office/powerpoint/2010/main" val="3018516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B9CA6B-323A-519E-2450-C0383CD97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584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zh-TW" altLang="en-US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展品狀態：誰能在什麼時候改變它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8746C37-F57D-94CF-B135-D0935C39A6B4}"/>
              </a:ext>
            </a:extLst>
          </p:cNvPr>
          <p:cNvSpPr txBox="1"/>
          <p:nvPr/>
        </p:nvSpPr>
        <p:spPr>
          <a:xfrm>
            <a:off x="609600" y="2032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03 </a:t>
            </a:r>
            <a:r>
              <a:rPr lang="zh-TW" altLang="en-US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資料與介面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DDF6D4-26D3-EAC4-ACF4-F4A8D4331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6B03154-9CDE-6A6C-23FD-132D2E239375}"/>
              </a:ext>
            </a:extLst>
          </p:cNvPr>
          <p:cNvSpPr/>
          <p:nvPr/>
        </p:nvSpPr>
        <p:spPr>
          <a:xfrm>
            <a:off x="1498600" y="1905000"/>
            <a:ext cx="1651000" cy="1651000"/>
          </a:xfrm>
          <a:prstGeom prst="ellipse">
            <a:avLst/>
          </a:prstGeom>
          <a:solidFill>
            <a:srgbClr val="E4F1EF"/>
          </a:solidFill>
          <a:ln w="15875">
            <a:solidFill>
              <a:srgbClr val="1F6F7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>
            <a:noAutofit/>
          </a:bodyPr>
          <a:lstStyle/>
          <a:p>
            <a:pPr algn="ctr"/>
            <a:r>
              <a:rPr lang="zh-TW" altLang="en-US" sz="22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在庫</a:t>
            </a:r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4FCD4D5-4D09-4A31-5F0D-B22FA741A4D1}"/>
              </a:ext>
            </a:extLst>
          </p:cNvPr>
          <p:cNvSpPr/>
          <p:nvPr/>
        </p:nvSpPr>
        <p:spPr>
          <a:xfrm>
            <a:off x="5054600" y="1905000"/>
            <a:ext cx="1651000" cy="1651000"/>
          </a:xfrm>
          <a:prstGeom prst="ellipse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zh-TW" altLang="en-US" sz="22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借出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21077CC4-033D-8D36-AAB0-5CD7F18BD912}"/>
              </a:ext>
            </a:extLst>
          </p:cNvPr>
          <p:cNvCxnSpPr/>
          <p:nvPr/>
        </p:nvCxnSpPr>
        <p:spPr>
          <a:xfrm>
            <a:off x="3124200" y="2476500"/>
            <a:ext cx="1955800" cy="0"/>
          </a:xfrm>
          <a:prstGeom prst="straightConnector1">
            <a:avLst/>
          </a:prstGeom>
          <a:ln w="31750">
            <a:solidFill>
              <a:srgbClr val="1F6F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F155E37B-6E32-8D6D-35EB-6C7F222F77A2}"/>
              </a:ext>
            </a:extLst>
          </p:cNvPr>
          <p:cNvSpPr txBox="1"/>
          <p:nvPr/>
        </p:nvSpPr>
        <p:spPr>
          <a:xfrm>
            <a:off x="3175000" y="2159000"/>
            <a:ext cx="187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zh-TW" altLang="en-US" sz="1300" b="1">
                <a:solidFill>
                  <a:srgbClr val="1F6F78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掃碼借用</a:t>
            </a:r>
          </a:p>
        </p:txBody>
      </p: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48407C9F-54F9-54AF-E3DC-2607990EF016}"/>
              </a:ext>
            </a:extLst>
          </p:cNvPr>
          <p:cNvCxnSpPr/>
          <p:nvPr/>
        </p:nvCxnSpPr>
        <p:spPr>
          <a:xfrm flipH="1">
            <a:off x="3098800" y="3048000"/>
            <a:ext cx="2006600" cy="0"/>
          </a:xfrm>
          <a:prstGeom prst="straightConnector1">
            <a:avLst/>
          </a:prstGeom>
          <a:ln w="31750">
            <a:solidFill>
              <a:srgbClr val="1F6F7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7743F89-4CC7-F569-A873-94D7693A6C5C}"/>
              </a:ext>
            </a:extLst>
          </p:cNvPr>
          <p:cNvSpPr txBox="1"/>
          <p:nvPr/>
        </p:nvSpPr>
        <p:spPr>
          <a:xfrm>
            <a:off x="3175000" y="3149600"/>
            <a:ext cx="187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zh-TW" altLang="en-US" sz="1300" b="1">
                <a:solidFill>
                  <a:srgbClr val="1F6F78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掃碼歸還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74CD75C-5522-BC10-4399-C4777963D1C3}"/>
              </a:ext>
            </a:extLst>
          </p:cNvPr>
          <p:cNvSpPr txBox="1"/>
          <p:nvPr/>
        </p:nvSpPr>
        <p:spPr>
          <a:xfrm>
            <a:off x="4673600" y="36830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zh-TW" altLang="en-US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移轉：換新借用單，</a:t>
            </a:r>
          </a:p>
          <a:p>
            <a:pPr algn="ctr"/>
            <a:r>
              <a:rPr lang="zh-TW" altLang="en-US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仍是借出（管理者）</a:t>
            </a:r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3D439B74-BE3F-41DA-9C25-2593E9BD1397}"/>
              </a:ext>
            </a:extLst>
          </p:cNvPr>
          <p:cNvCxnSpPr/>
          <p:nvPr/>
        </p:nvCxnSpPr>
        <p:spPr>
          <a:xfrm>
            <a:off x="2324100" y="3581400"/>
            <a:ext cx="0" cy="990600"/>
          </a:xfrm>
          <a:prstGeom prst="straightConnector1">
            <a:avLst/>
          </a:prstGeom>
          <a:ln w="25400">
            <a:solidFill>
              <a:srgbClr val="5F6B7A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FD771671-24CB-A57E-0FB3-054667FD89ED}"/>
              </a:ext>
            </a:extLst>
          </p:cNvPr>
          <p:cNvSpPr txBox="1"/>
          <p:nvPr/>
        </p:nvSpPr>
        <p:spPr>
          <a:xfrm>
            <a:off x="2438400" y="3937000"/>
            <a:ext cx="2032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管理者變更／恢復在庫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04F25B12-29A0-2A11-BCAB-B2D38B752C87}"/>
              </a:ext>
            </a:extLst>
          </p:cNvPr>
          <p:cNvSpPr/>
          <p:nvPr/>
        </p:nvSpPr>
        <p:spPr>
          <a:xfrm>
            <a:off x="711200" y="4597400"/>
            <a:ext cx="990600" cy="558800"/>
          </a:xfrm>
          <a:prstGeom prst="roundRect">
            <a:avLst>
              <a:gd name="adj" fmla="val 8000"/>
            </a:avLst>
          </a:prstGeom>
          <a:solidFill>
            <a:srgbClr val="FCEF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zh-TW" altLang="en-US" sz="1500" b="1">
                <a:solidFill>
                  <a:srgbClr val="A86A1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送修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EA24DBB0-85E6-455B-F2D1-CBFF7BCB8107}"/>
              </a:ext>
            </a:extLst>
          </p:cNvPr>
          <p:cNvSpPr/>
          <p:nvPr/>
        </p:nvSpPr>
        <p:spPr>
          <a:xfrm>
            <a:off x="1828800" y="4597400"/>
            <a:ext cx="990600" cy="558800"/>
          </a:xfrm>
          <a:prstGeom prst="roundRect">
            <a:avLst>
              <a:gd name="adj" fmla="val 8000"/>
            </a:avLst>
          </a:prstGeom>
          <a:solidFill>
            <a:srgbClr val="F9E1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zh-TW" altLang="en-US" sz="1500" b="1">
                <a:solidFill>
                  <a:srgbClr val="B03A2E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遺失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2F5477DD-F57A-35CA-BDC4-150479BB7358}"/>
              </a:ext>
            </a:extLst>
          </p:cNvPr>
          <p:cNvSpPr/>
          <p:nvPr/>
        </p:nvSpPr>
        <p:spPr>
          <a:xfrm>
            <a:off x="2946400" y="4597400"/>
            <a:ext cx="990600" cy="55880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zh-TW" altLang="en-US" sz="1500" b="1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報廢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6AFF4E21-2743-11AD-D2DB-A7CA708CFE39}"/>
              </a:ext>
            </a:extLst>
          </p:cNvPr>
          <p:cNvSpPr/>
          <p:nvPr/>
        </p:nvSpPr>
        <p:spPr>
          <a:xfrm>
            <a:off x="7493000" y="1397000"/>
            <a:ext cx="4089400" cy="309880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E0AB0F64-F810-40B6-1FBB-70F09E8982CD}"/>
              </a:ext>
            </a:extLst>
          </p:cNvPr>
          <p:cNvSpPr txBox="1"/>
          <p:nvPr/>
        </p:nvSpPr>
        <p:spPr>
          <a:xfrm>
            <a:off x="7772400" y="1600200"/>
            <a:ext cx="3556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規則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C25F340-F522-8EAC-A454-6C9176FBF6B1}"/>
              </a:ext>
            </a:extLst>
          </p:cNvPr>
          <p:cNvSpPr txBox="1"/>
          <p:nvPr/>
        </p:nvSpPr>
        <p:spPr>
          <a:xfrm>
            <a:off x="7772400" y="2057400"/>
            <a:ext cx="3581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1F6F78"/>
              </a:buClr>
              <a:buFont typeface="+mj-lt"/>
              <a:buChar char="•"/>
            </a:pP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只有「在庫」能借用，只有「借出」能歸還</a:t>
            </a:r>
          </a:p>
          <a:p>
            <a:pPr marL="203200" indent="-203200">
              <a:spcAft>
                <a:spcPts val="900"/>
              </a:spcAft>
              <a:buClr>
                <a:srgbClr val="1F6F78"/>
              </a:buClr>
              <a:buFont typeface="+mj-lt"/>
              <a:buChar char="•"/>
            </a:pP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送修、遺失、報廢只有管理者能設定</a:t>
            </a:r>
          </a:p>
          <a:p>
            <a:pPr marL="203200" indent="-203200">
              <a:spcAft>
                <a:spcPts val="900"/>
              </a:spcAft>
              <a:buClr>
                <a:srgbClr val="1F6F78"/>
              </a:buClr>
              <a:buFont typeface="+mj-lt"/>
              <a:buChar char="•"/>
            </a:pP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借出中不能直接改成送修或遺失，要先歸還</a:t>
            </a:r>
          </a:p>
          <a:p>
            <a:pPr marL="203200" indent="-203200">
              <a:spcAft>
                <a:spcPts val="900"/>
              </a:spcAft>
              <a:buClr>
                <a:srgbClr val="1F6F78"/>
              </a:buClr>
              <a:buFont typeface="+mj-lt"/>
              <a:buChar char="•"/>
            </a:pP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一張借用單整批檢查：有一件不能借，整張都不成立</a:t>
            </a:r>
          </a:p>
          <a:p>
            <a:pPr marL="203200" indent="-203200">
              <a:spcAft>
                <a:spcPts val="900"/>
              </a:spcAft>
              <a:buClr>
                <a:srgbClr val="1F6F78"/>
              </a:buClr>
              <a:buFont typeface="+mj-lt"/>
              <a:buChar char="•"/>
            </a:pP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每次狀態改變都寫入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Logs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，可查完整履歷</a:t>
            </a:r>
          </a:p>
        </p:txBody>
      </p:sp>
    </p:spTree>
    <p:extLst>
      <p:ext uri="{BB962C8B-B14F-4D97-AF65-F5344CB8AC3E}">
        <p14:creationId xmlns:p14="http://schemas.microsoft.com/office/powerpoint/2010/main" val="7091232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141DE-8759-4DC2-ACF2-88AFBCDB6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584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zh-TW" altLang="en-US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後端 </a:t>
            </a:r>
            <a:r>
              <a:rPr lang="en-US" altLang="zh-TW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API</a:t>
            </a:r>
            <a:r>
              <a:rPr lang="zh-TW" altLang="en-US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：一個網址，用 </a:t>
            </a:r>
            <a:r>
              <a:rPr lang="en-US" altLang="zh-TW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action </a:t>
            </a:r>
            <a:r>
              <a:rPr lang="zh-TW" altLang="en-US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區分功能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E31719E-D6F3-FBF4-BD97-27A6BFB1F1E2}"/>
              </a:ext>
            </a:extLst>
          </p:cNvPr>
          <p:cNvSpPr txBox="1"/>
          <p:nvPr/>
        </p:nvSpPr>
        <p:spPr>
          <a:xfrm>
            <a:off x="609600" y="2032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03 </a:t>
            </a:r>
            <a:r>
              <a:rPr lang="zh-TW" altLang="en-US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資料與介面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2BE1D-D0C7-E0FA-323E-C87C9AE33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9</a:t>
            </a:fld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A0C7F796-2EA3-D09D-24C2-F11A55E6C18D}"/>
              </a:ext>
            </a:extLst>
          </p:cNvPr>
          <p:cNvSpPr/>
          <p:nvPr/>
        </p:nvSpPr>
        <p:spPr>
          <a:xfrm>
            <a:off x="609600" y="1320800"/>
            <a:ext cx="5334000" cy="36830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067271B-6B1C-23C3-7EE5-73C2BCCFEC53}"/>
              </a:ext>
            </a:extLst>
          </p:cNvPr>
          <p:cNvSpPr txBox="1"/>
          <p:nvPr/>
        </p:nvSpPr>
        <p:spPr>
          <a:xfrm>
            <a:off x="863600" y="14986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6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一般使用者（不需登入）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F5962F7-FFEC-5F32-D091-A9C2166C875C}"/>
              </a:ext>
            </a:extLst>
          </p:cNvPr>
          <p:cNvSpPr txBox="1"/>
          <p:nvPr/>
        </p:nvSpPr>
        <p:spPr>
          <a:xfrm>
            <a:off x="863600" y="19812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400" b="1">
                <a:solidFill>
                  <a:srgbClr val="1F6F78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getConfig</a:t>
            </a:r>
            <a:endParaRPr lang="zh-TW" altLang="en-US" sz="1400" b="1">
              <a:solidFill>
                <a:srgbClr val="1F6F78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F34C6AE-EEF3-9E53-C6F0-8C7C90FD22F4}"/>
              </a:ext>
            </a:extLst>
          </p:cNvPr>
          <p:cNvSpPr txBox="1"/>
          <p:nvPr/>
        </p:nvSpPr>
        <p:spPr>
          <a:xfrm>
            <a:off x="2667000" y="1981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讀取借用事由等設定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CDB72F-F386-B5F3-D128-0D2CA1178329}"/>
              </a:ext>
            </a:extLst>
          </p:cNvPr>
          <p:cNvSpPr txBox="1"/>
          <p:nvPr/>
        </p:nvSpPr>
        <p:spPr>
          <a:xfrm>
            <a:off x="863600" y="2514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400" b="1">
                <a:solidFill>
                  <a:srgbClr val="1F6F78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getItem</a:t>
            </a:r>
            <a:endParaRPr lang="zh-TW" altLang="en-US" sz="1400" b="1">
              <a:solidFill>
                <a:srgbClr val="1F6F78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593EFFE-374C-B785-E3DF-6369639676E3}"/>
              </a:ext>
            </a:extLst>
          </p:cNvPr>
          <p:cNvSpPr txBox="1"/>
          <p:nvPr/>
        </p:nvSpPr>
        <p:spPr>
          <a:xfrm>
            <a:off x="2667000" y="2514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查詢展品目前狀態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974AFB0-B41F-856C-00A2-FB976A55FD00}"/>
              </a:ext>
            </a:extLst>
          </p:cNvPr>
          <p:cNvSpPr txBox="1"/>
          <p:nvPr/>
        </p:nvSpPr>
        <p:spPr>
          <a:xfrm>
            <a:off x="863600" y="30480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400" b="1">
                <a:solidFill>
                  <a:srgbClr val="1F6F78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checkout</a:t>
            </a:r>
            <a:endParaRPr lang="zh-TW" altLang="en-US" sz="1400" b="1">
              <a:solidFill>
                <a:srgbClr val="1F6F78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9E70100-1D1B-CA82-6600-97AB4FA09B75}"/>
              </a:ext>
            </a:extLst>
          </p:cNvPr>
          <p:cNvSpPr txBox="1"/>
          <p:nvPr/>
        </p:nvSpPr>
        <p:spPr>
          <a:xfrm>
            <a:off x="2667000" y="30480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借用（一次多件）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B8794E5-8892-58FB-BB48-ED5A7A4B2E3B}"/>
              </a:ext>
            </a:extLst>
          </p:cNvPr>
          <p:cNvSpPr txBox="1"/>
          <p:nvPr/>
        </p:nvSpPr>
        <p:spPr>
          <a:xfrm>
            <a:off x="863600" y="3581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400" b="1">
                <a:solidFill>
                  <a:srgbClr val="1F6F78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checkin</a:t>
            </a:r>
            <a:endParaRPr lang="zh-TW" altLang="en-US" sz="1400" b="1">
              <a:solidFill>
                <a:srgbClr val="1F6F78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1E79C09-3F5B-6358-2B9D-2115A13EA70F}"/>
              </a:ext>
            </a:extLst>
          </p:cNvPr>
          <p:cNvSpPr txBox="1"/>
          <p:nvPr/>
        </p:nvSpPr>
        <p:spPr>
          <a:xfrm>
            <a:off x="2667000" y="3581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歸還（可分批）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2E82167-98CE-24D1-7ECD-7CAC8C50AF90}"/>
              </a:ext>
            </a:extLst>
          </p:cNvPr>
          <p:cNvSpPr txBox="1"/>
          <p:nvPr/>
        </p:nvSpPr>
        <p:spPr>
          <a:xfrm>
            <a:off x="863600" y="41148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400" b="1">
                <a:solidFill>
                  <a:srgbClr val="1F6F78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myLoans</a:t>
            </a:r>
            <a:endParaRPr lang="zh-TW" altLang="en-US" sz="1400" b="1">
              <a:solidFill>
                <a:srgbClr val="1F6F78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F967CF1-FF67-CFCB-2CC9-F15567F22547}"/>
              </a:ext>
            </a:extLst>
          </p:cNvPr>
          <p:cNvSpPr txBox="1"/>
          <p:nvPr/>
        </p:nvSpPr>
        <p:spPr>
          <a:xfrm>
            <a:off x="2667000" y="4114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查詢自己借用中的展品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8FE3E1EA-60FB-ADBA-E188-5B36685B9FD1}"/>
              </a:ext>
            </a:extLst>
          </p:cNvPr>
          <p:cNvSpPr/>
          <p:nvPr/>
        </p:nvSpPr>
        <p:spPr>
          <a:xfrm>
            <a:off x="6248400" y="1320800"/>
            <a:ext cx="5334000" cy="3683000"/>
          </a:xfrm>
          <a:prstGeom prst="roundRect">
            <a:avLst>
              <a:gd name="adj" fmla="val 8000"/>
            </a:avLst>
          </a:prstGeom>
          <a:solidFill>
            <a:srgbClr val="0F3B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21F5982-200E-A160-7960-B3C2088898E8}"/>
              </a:ext>
            </a:extLst>
          </p:cNvPr>
          <p:cNvSpPr txBox="1"/>
          <p:nvPr/>
        </p:nvSpPr>
        <p:spPr>
          <a:xfrm>
            <a:off x="6502400" y="14986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6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管理者（需管理者密碼）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62F6778-955B-65FC-A23C-CE16A14A70B2}"/>
              </a:ext>
            </a:extLst>
          </p:cNvPr>
          <p:cNvSpPr txBox="1"/>
          <p:nvPr/>
        </p:nvSpPr>
        <p:spPr>
          <a:xfrm>
            <a:off x="6502400" y="19050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400" b="1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listItems</a:t>
            </a:r>
            <a:endParaRPr lang="zh-TW" altLang="en-US" sz="1400" b="1">
              <a:solidFill>
                <a:srgbClr val="C9E4E0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302E908D-1563-E973-56AA-8EFF066A234E}"/>
              </a:ext>
            </a:extLst>
          </p:cNvPr>
          <p:cNvSpPr txBox="1"/>
          <p:nvPr/>
        </p:nvSpPr>
        <p:spPr>
          <a:xfrm>
            <a:off x="8483600" y="1905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展品列表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AD5AACE0-059F-41D5-59F9-9756DD3C0B6F}"/>
              </a:ext>
            </a:extLst>
          </p:cNvPr>
          <p:cNvSpPr txBox="1"/>
          <p:nvPr/>
        </p:nvSpPr>
        <p:spPr>
          <a:xfrm>
            <a:off x="6502400" y="22352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400" b="1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saveItem</a:t>
            </a:r>
            <a:endParaRPr lang="zh-TW" altLang="en-US" sz="1400" b="1">
              <a:solidFill>
                <a:srgbClr val="C9E4E0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956A89D4-CD68-FCE2-3E04-A0770210A14D}"/>
              </a:ext>
            </a:extLst>
          </p:cNvPr>
          <p:cNvSpPr txBox="1"/>
          <p:nvPr/>
        </p:nvSpPr>
        <p:spPr>
          <a:xfrm>
            <a:off x="8483600" y="22352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新增／編輯展品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52508E6B-AFD6-D03E-D058-3EF1AA5B12E7}"/>
              </a:ext>
            </a:extLst>
          </p:cNvPr>
          <p:cNvSpPr txBox="1"/>
          <p:nvPr/>
        </p:nvSpPr>
        <p:spPr>
          <a:xfrm>
            <a:off x="6502400" y="25654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400" b="1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deleteItem</a:t>
            </a:r>
            <a:endParaRPr lang="zh-TW" altLang="en-US" sz="1400" b="1">
              <a:solidFill>
                <a:srgbClr val="C9E4E0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5A94F009-DE58-9CA8-85AE-9DC575063882}"/>
              </a:ext>
            </a:extLst>
          </p:cNvPr>
          <p:cNvSpPr txBox="1"/>
          <p:nvPr/>
        </p:nvSpPr>
        <p:spPr>
          <a:xfrm>
            <a:off x="8483600" y="25654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刪除展品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BBD6D4B-BBC8-9158-B893-1048538F584D}"/>
              </a:ext>
            </a:extLst>
          </p:cNvPr>
          <p:cNvSpPr txBox="1"/>
          <p:nvPr/>
        </p:nvSpPr>
        <p:spPr>
          <a:xfrm>
            <a:off x="6502400" y="28956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400" b="1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setItemStatus</a:t>
            </a:r>
            <a:endParaRPr lang="zh-TW" altLang="en-US" sz="1400" b="1">
              <a:solidFill>
                <a:srgbClr val="C9E4E0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4625E39-0CEC-4B97-1B36-78B01F676784}"/>
              </a:ext>
            </a:extLst>
          </p:cNvPr>
          <p:cNvSpPr txBox="1"/>
          <p:nvPr/>
        </p:nvSpPr>
        <p:spPr>
          <a:xfrm>
            <a:off x="8483600" y="28956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送修／遺失／報廢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DABA2135-401A-629D-F867-47D9E09E6917}"/>
              </a:ext>
            </a:extLst>
          </p:cNvPr>
          <p:cNvSpPr txBox="1"/>
          <p:nvPr/>
        </p:nvSpPr>
        <p:spPr>
          <a:xfrm>
            <a:off x="6502400" y="3225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400" b="1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transfer</a:t>
            </a:r>
            <a:endParaRPr lang="zh-TW" altLang="en-US" sz="1400" b="1">
              <a:solidFill>
                <a:srgbClr val="C9E4E0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1B53B124-8FE0-5E06-36D0-C86CD6135FF8}"/>
              </a:ext>
            </a:extLst>
          </p:cNvPr>
          <p:cNvSpPr txBox="1"/>
          <p:nvPr/>
        </p:nvSpPr>
        <p:spPr>
          <a:xfrm>
            <a:off x="8483600" y="3225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移轉借用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F680003F-A4D6-65A3-AB1D-A3F23E2EA095}"/>
              </a:ext>
            </a:extLst>
          </p:cNvPr>
          <p:cNvSpPr txBox="1"/>
          <p:nvPr/>
        </p:nvSpPr>
        <p:spPr>
          <a:xfrm>
            <a:off x="6502400" y="35560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400" b="1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getHistory</a:t>
            </a:r>
            <a:endParaRPr lang="zh-TW" altLang="en-US" sz="1400" b="1">
              <a:solidFill>
                <a:srgbClr val="C9E4E0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C2D913F3-C39D-CDD0-C4A9-F1314D015154}"/>
              </a:ext>
            </a:extLst>
          </p:cNvPr>
          <p:cNvSpPr txBox="1"/>
          <p:nvPr/>
        </p:nvSpPr>
        <p:spPr>
          <a:xfrm>
            <a:off x="8483600" y="3556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單品履歷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7DC09B1-FA74-A276-E979-90909135534F}"/>
              </a:ext>
            </a:extLst>
          </p:cNvPr>
          <p:cNvSpPr txBox="1"/>
          <p:nvPr/>
        </p:nvSpPr>
        <p:spPr>
          <a:xfrm>
            <a:off x="6502400" y="38862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400" b="1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listOverdue</a:t>
            </a:r>
            <a:endParaRPr lang="zh-TW" altLang="en-US" sz="1400" b="1">
              <a:solidFill>
                <a:srgbClr val="C9E4E0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7A3DFF31-A8F6-16F3-2528-3641D2C3CD00}"/>
              </a:ext>
            </a:extLst>
          </p:cNvPr>
          <p:cNvSpPr txBox="1"/>
          <p:nvPr/>
        </p:nvSpPr>
        <p:spPr>
          <a:xfrm>
            <a:off x="8483600" y="38862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逾期清單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8430D8C5-DDBA-352D-F270-11A11CBA3107}"/>
              </a:ext>
            </a:extLst>
          </p:cNvPr>
          <p:cNvSpPr txBox="1"/>
          <p:nvPr/>
        </p:nvSpPr>
        <p:spPr>
          <a:xfrm>
            <a:off x="6502400" y="42164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400" b="1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sendReminders</a:t>
            </a:r>
            <a:endParaRPr lang="zh-TW" altLang="en-US" sz="1400" b="1">
              <a:solidFill>
                <a:srgbClr val="C9E4E0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29AA1930-7FA0-8CD5-5214-1F27745C0EA3}"/>
              </a:ext>
            </a:extLst>
          </p:cNvPr>
          <p:cNvSpPr txBox="1"/>
          <p:nvPr/>
        </p:nvSpPr>
        <p:spPr>
          <a:xfrm>
            <a:off x="8483600" y="42164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立即寄催還信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305CC5D2-4E83-6787-AC10-022A6CCD0AAB}"/>
              </a:ext>
            </a:extLst>
          </p:cNvPr>
          <p:cNvSpPr txBox="1"/>
          <p:nvPr/>
        </p:nvSpPr>
        <p:spPr>
          <a:xfrm>
            <a:off x="6502400" y="45466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400" b="1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verifyAdmin</a:t>
            </a:r>
            <a:endParaRPr lang="zh-TW" altLang="en-US" sz="1400" b="1">
              <a:solidFill>
                <a:srgbClr val="C9E4E0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603C87F2-3782-CA9D-3632-BA4A8EBE37A5}"/>
              </a:ext>
            </a:extLst>
          </p:cNvPr>
          <p:cNvSpPr txBox="1"/>
          <p:nvPr/>
        </p:nvSpPr>
        <p:spPr>
          <a:xfrm>
            <a:off x="8483600" y="45466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驗證密碼</a:t>
            </a:r>
          </a:p>
        </p:txBody>
      </p:sp>
      <p:sp>
        <p:nvSpPr>
          <p:cNvPr id="37" name="矩形: 圓角 36">
            <a:extLst>
              <a:ext uri="{FF2B5EF4-FFF2-40B4-BE49-F238E27FC236}">
                <a16:creationId xmlns:a16="http://schemas.microsoft.com/office/drawing/2014/main" id="{3A115988-8E32-B067-711B-3C86B21F481E}"/>
              </a:ext>
            </a:extLst>
          </p:cNvPr>
          <p:cNvSpPr/>
          <p:nvPr/>
        </p:nvSpPr>
        <p:spPr>
          <a:xfrm>
            <a:off x="609600" y="5207000"/>
            <a:ext cx="10972800" cy="8382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55A8051A-6ADC-D1B4-0200-9DC2F1C5026D}"/>
              </a:ext>
            </a:extLst>
          </p:cNvPr>
          <p:cNvSpPr txBox="1"/>
          <p:nvPr/>
        </p:nvSpPr>
        <p:spPr>
          <a:xfrm>
            <a:off x="863600" y="5334000"/>
            <a:ext cx="10464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600"/>
              </a:spcAft>
            </a:pP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POST {"action":"checkout", "itemIds":["A31","A32"], ...}  →  {"ok":true, "data":{...}}</a:t>
            </a:r>
          </a:p>
          <a:p>
            <a:pPr>
              <a:spcAft>
                <a:spcPts val="600"/>
              </a:spcAft>
            </a:pPr>
            <a:r>
              <a:rPr lang="zh-TW" altLang="en-US" sz="1200">
                <a:solidFill>
                  <a:srgbClr val="9FB8B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以 </a:t>
            </a:r>
            <a:r>
              <a:rPr lang="en-US" altLang="zh-TW" sz="1200">
                <a:solidFill>
                  <a:srgbClr val="9FB8B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text/plain </a:t>
            </a:r>
            <a:r>
              <a:rPr lang="zh-TW" altLang="en-US" sz="1200">
                <a:solidFill>
                  <a:srgbClr val="9FB8B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送出，避開瀏覽器 </a:t>
            </a:r>
            <a:r>
              <a:rPr lang="en-US" altLang="zh-TW" sz="1200">
                <a:solidFill>
                  <a:srgbClr val="9FB8B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CORS </a:t>
            </a:r>
            <a:r>
              <a:rPr lang="zh-TW" altLang="en-US" sz="1200">
                <a:solidFill>
                  <a:srgbClr val="9FB8B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預檢；失敗時回傳 </a:t>
            </a:r>
            <a:r>
              <a:rPr lang="en-US" altLang="zh-TW" sz="1200">
                <a:solidFill>
                  <a:srgbClr val="9FB8B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{"ok":false, "error":"</a:t>
            </a:r>
            <a:r>
              <a:rPr lang="zh-TW" altLang="en-US" sz="1200">
                <a:solidFill>
                  <a:srgbClr val="9FB8B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錯誤訊息</a:t>
            </a:r>
            <a:r>
              <a:rPr lang="en-US" altLang="zh-TW" sz="1200">
                <a:solidFill>
                  <a:srgbClr val="9FB8B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"}</a:t>
            </a:r>
            <a:endParaRPr lang="zh-TW" altLang="en-US" sz="1200">
              <a:solidFill>
                <a:srgbClr val="9FB8BD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02363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73962B-3166-0765-E7F6-03CA02ABD7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584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zh-TW" altLang="en-US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每日自動催還：不用再靠 </a:t>
            </a:r>
            <a:r>
              <a:rPr lang="en-US" altLang="zh-TW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LINE </a:t>
            </a:r>
            <a:r>
              <a:rPr lang="zh-TW" altLang="en-US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群組追人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C5A6FB5-EB4A-6B9F-CB3E-65AA80907CBC}"/>
              </a:ext>
            </a:extLst>
          </p:cNvPr>
          <p:cNvSpPr txBox="1"/>
          <p:nvPr/>
        </p:nvSpPr>
        <p:spPr>
          <a:xfrm>
            <a:off x="609600" y="2032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04 </a:t>
            </a:r>
            <a:r>
              <a:rPr lang="zh-TW" altLang="en-US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維運與安全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10BD0FA-9B1C-7792-2566-27A25D3C9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10</a:t>
            </a:fld>
            <a:endParaRPr lang="zh-TW" altLang="en-US"/>
          </a:p>
        </p:txBody>
      </p:sp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AF4460C5-BA0A-D6C9-3423-4A5506F5C712}"/>
              </a:ext>
            </a:extLst>
          </p:cNvPr>
          <p:cNvCxnSpPr/>
          <p:nvPr/>
        </p:nvCxnSpPr>
        <p:spPr>
          <a:xfrm>
            <a:off x="838200" y="1854200"/>
            <a:ext cx="0" cy="355600"/>
          </a:xfrm>
          <a:prstGeom prst="straightConnector1">
            <a:avLst/>
          </a:prstGeom>
          <a:ln w="19050">
            <a:solidFill>
              <a:srgbClr val="C9CE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橢圓 5">
            <a:extLst>
              <a:ext uri="{FF2B5EF4-FFF2-40B4-BE49-F238E27FC236}">
                <a16:creationId xmlns:a16="http://schemas.microsoft.com/office/drawing/2014/main" id="{E2E87860-D5EE-D2EE-8B2E-4E41517A21B4}"/>
              </a:ext>
            </a:extLst>
          </p:cNvPr>
          <p:cNvSpPr/>
          <p:nvPr/>
        </p:nvSpPr>
        <p:spPr>
          <a:xfrm>
            <a:off x="609600" y="1397000"/>
            <a:ext cx="457200" cy="457200"/>
          </a:xfrm>
          <a:prstGeom prst="ellipse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sz="15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1</a:t>
            </a:r>
            <a:endParaRPr lang="zh-TW" altLang="en-US" sz="1500" b="1">
              <a:solidFill>
                <a:srgbClr val="FFFFFF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BD11C58-C328-AE97-92FD-91B8E98AF1A1}"/>
              </a:ext>
            </a:extLst>
          </p:cNvPr>
          <p:cNvSpPr txBox="1"/>
          <p:nvPr/>
        </p:nvSpPr>
        <p:spPr>
          <a:xfrm>
            <a:off x="1244600" y="14859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每天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17:00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，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Apps Script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觸發條件自動執行</a:t>
            </a:r>
          </a:p>
        </p:txBody>
      </p: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BEFA74AF-4A43-8D70-FAB8-7468E0C561A6}"/>
              </a:ext>
            </a:extLst>
          </p:cNvPr>
          <p:cNvCxnSpPr/>
          <p:nvPr/>
        </p:nvCxnSpPr>
        <p:spPr>
          <a:xfrm>
            <a:off x="838200" y="2692400"/>
            <a:ext cx="0" cy="355600"/>
          </a:xfrm>
          <a:prstGeom prst="straightConnector1">
            <a:avLst/>
          </a:prstGeom>
          <a:ln w="19050">
            <a:solidFill>
              <a:srgbClr val="C9CE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3F1D346E-8461-9806-DE65-EA3814AEE5F5}"/>
              </a:ext>
            </a:extLst>
          </p:cNvPr>
          <p:cNvSpPr/>
          <p:nvPr/>
        </p:nvSpPr>
        <p:spPr>
          <a:xfrm>
            <a:off x="609600" y="2235200"/>
            <a:ext cx="457200" cy="457200"/>
          </a:xfrm>
          <a:prstGeom prst="ellipse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sz="15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2</a:t>
            </a:r>
            <a:endParaRPr lang="zh-TW" altLang="en-US" sz="1500" b="1">
              <a:solidFill>
                <a:srgbClr val="FFFFFF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431F20A-7601-D33B-B880-B0FEA92AF4ED}"/>
              </a:ext>
            </a:extLst>
          </p:cNvPr>
          <p:cNvSpPr txBox="1"/>
          <p:nvPr/>
        </p:nvSpPr>
        <p:spPr>
          <a:xfrm>
            <a:off x="1244600" y="23241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找出「借出中」且預計歸還日早於今天的展品</a:t>
            </a:r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C7E6E51B-14E7-4B13-FDE7-A338E813E388}"/>
              </a:ext>
            </a:extLst>
          </p:cNvPr>
          <p:cNvCxnSpPr/>
          <p:nvPr/>
        </p:nvCxnSpPr>
        <p:spPr>
          <a:xfrm>
            <a:off x="838200" y="3530600"/>
            <a:ext cx="0" cy="355600"/>
          </a:xfrm>
          <a:prstGeom prst="straightConnector1">
            <a:avLst/>
          </a:prstGeom>
          <a:ln w="19050">
            <a:solidFill>
              <a:srgbClr val="C9CE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橢圓 11">
            <a:extLst>
              <a:ext uri="{FF2B5EF4-FFF2-40B4-BE49-F238E27FC236}">
                <a16:creationId xmlns:a16="http://schemas.microsoft.com/office/drawing/2014/main" id="{DC44C75D-DD84-9698-E92A-2E95FD13D711}"/>
              </a:ext>
            </a:extLst>
          </p:cNvPr>
          <p:cNvSpPr/>
          <p:nvPr/>
        </p:nvSpPr>
        <p:spPr>
          <a:xfrm>
            <a:off x="609600" y="3073400"/>
            <a:ext cx="457200" cy="457200"/>
          </a:xfrm>
          <a:prstGeom prst="ellipse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sz="15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3</a:t>
            </a:r>
            <a:endParaRPr lang="zh-TW" altLang="en-US" sz="1500" b="1">
              <a:solidFill>
                <a:srgbClr val="FFFFFF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BF2956D-B02C-8B89-F063-F8961212CC31}"/>
              </a:ext>
            </a:extLst>
          </p:cNvPr>
          <p:cNvSpPr txBox="1"/>
          <p:nvPr/>
        </p:nvSpPr>
        <p:spPr>
          <a:xfrm>
            <a:off x="1244600" y="31623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同一位借用者的多件展品合併成一封信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BEBB1090-B3B8-1D07-2432-0ADA1F217DF3}"/>
              </a:ext>
            </a:extLst>
          </p:cNvPr>
          <p:cNvCxnSpPr/>
          <p:nvPr/>
        </p:nvCxnSpPr>
        <p:spPr>
          <a:xfrm>
            <a:off x="838200" y="4368800"/>
            <a:ext cx="0" cy="355600"/>
          </a:xfrm>
          <a:prstGeom prst="straightConnector1">
            <a:avLst/>
          </a:prstGeom>
          <a:ln w="19050">
            <a:solidFill>
              <a:srgbClr val="C9CE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橢圓 14">
            <a:extLst>
              <a:ext uri="{FF2B5EF4-FFF2-40B4-BE49-F238E27FC236}">
                <a16:creationId xmlns:a16="http://schemas.microsoft.com/office/drawing/2014/main" id="{2C54416E-51FA-9BE6-0DB7-85373F8D7894}"/>
              </a:ext>
            </a:extLst>
          </p:cNvPr>
          <p:cNvSpPr/>
          <p:nvPr/>
        </p:nvSpPr>
        <p:spPr>
          <a:xfrm>
            <a:off x="609600" y="3911600"/>
            <a:ext cx="457200" cy="457200"/>
          </a:xfrm>
          <a:prstGeom prst="ellipse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sz="15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4</a:t>
            </a:r>
            <a:endParaRPr lang="zh-TW" altLang="en-US" sz="1500" b="1">
              <a:solidFill>
                <a:srgbClr val="FFFFFF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DA939358-4F32-8693-A50B-5045C6B9BC9A}"/>
              </a:ext>
            </a:extLst>
          </p:cNvPr>
          <p:cNvSpPr txBox="1"/>
          <p:nvPr/>
        </p:nvSpPr>
        <p:spPr>
          <a:xfrm>
            <a:off x="1244600" y="40005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寄給借用者，副本給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Settings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的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ADMIN_EMAILS</a:t>
            </a:r>
            <a:endParaRPr lang="zh-TW" altLang="en-US" sz="1400">
              <a:solidFill>
                <a:srgbClr val="1F2A30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62EBFB49-BD40-1F67-8FD5-7F86E27E5C69}"/>
              </a:ext>
            </a:extLst>
          </p:cNvPr>
          <p:cNvSpPr/>
          <p:nvPr/>
        </p:nvSpPr>
        <p:spPr>
          <a:xfrm>
            <a:off x="609600" y="4749800"/>
            <a:ext cx="457200" cy="457200"/>
          </a:xfrm>
          <a:prstGeom prst="ellipse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sz="15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5</a:t>
            </a:r>
            <a:endParaRPr lang="zh-TW" altLang="en-US" sz="1500" b="1">
              <a:solidFill>
                <a:srgbClr val="FFFFFF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DF2443CF-C36D-331A-01F2-69872CF21669}"/>
              </a:ext>
            </a:extLst>
          </p:cNvPr>
          <p:cNvSpPr txBox="1"/>
          <p:nvPr/>
        </p:nvSpPr>
        <p:spPr>
          <a:xfrm>
            <a:off x="1244600" y="48387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記錄催還次數，並寫入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Logs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「催還通知」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69E3F86A-6D9E-2758-924A-1216CD95244B}"/>
              </a:ext>
            </a:extLst>
          </p:cNvPr>
          <p:cNvSpPr/>
          <p:nvPr/>
        </p:nvSpPr>
        <p:spPr>
          <a:xfrm>
            <a:off x="6350000" y="1320800"/>
            <a:ext cx="5232400" cy="2463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CE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88E473D-0C99-AC93-9AFC-CB40B4251741}"/>
              </a:ext>
            </a:extLst>
          </p:cNvPr>
          <p:cNvSpPr txBox="1"/>
          <p:nvPr/>
        </p:nvSpPr>
        <p:spPr>
          <a:xfrm>
            <a:off x="6604000" y="14986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寄件者：展品借還管理系統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EC744765-DA11-6277-1705-6BF39CCB37D1}"/>
              </a:ext>
            </a:extLst>
          </p:cNvPr>
          <p:cNvSpPr txBox="1"/>
          <p:nvPr/>
        </p:nvSpPr>
        <p:spPr>
          <a:xfrm>
            <a:off x="6604000" y="17526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5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【</a:t>
            </a:r>
            <a:r>
              <a:rPr lang="zh-TW" altLang="en-US" sz="15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展品催還</a:t>
            </a:r>
            <a:r>
              <a:rPr lang="en-US" altLang="zh-TW" sz="15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】</a:t>
            </a:r>
            <a:r>
              <a:rPr lang="zh-TW" altLang="en-US" sz="15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您有 </a:t>
            </a:r>
            <a:r>
              <a:rPr lang="en-US" altLang="zh-TW" sz="15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2 </a:t>
            </a:r>
            <a:r>
              <a:rPr lang="zh-TW" altLang="en-US" sz="15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件展品已逾期未歸還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F8894FC-77FA-886B-7118-976B28492630}"/>
              </a:ext>
            </a:extLst>
          </p:cNvPr>
          <p:cNvSpPr txBox="1"/>
          <p:nvPr/>
        </p:nvSpPr>
        <p:spPr>
          <a:xfrm>
            <a:off x="6604000" y="21082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2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Bob </a:t>
            </a:r>
            <a:r>
              <a:rPr lang="zh-TW" altLang="en-US" sz="12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您好：以下展品已超過預計歸還日期，請儘速歸還。</a:t>
            </a:r>
          </a:p>
        </p:txBody>
      </p:sp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F6874958-9112-0AB7-53E1-602489543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6420769"/>
              </p:ext>
            </p:extLst>
          </p:nvPr>
        </p:nvGraphicFramePr>
        <p:xfrm>
          <a:off x="6604000" y="2489200"/>
          <a:ext cx="4724400" cy="1066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11200">
                  <a:extLst>
                    <a:ext uri="{9D8B030D-6E8A-4147-A177-3AD203B41FA5}">
                      <a16:colId xmlns:a16="http://schemas.microsoft.com/office/drawing/2014/main" val="633488303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4072263107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3911749659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84786967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r>
                        <a:rPr lang="zh-TW" altLang="en-US" sz="1100" b="1">
                          <a:solidFill>
                            <a:srgbClr val="FFFFFF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編號</a:t>
                      </a:r>
                    </a:p>
                  </a:txBody>
                  <a:tcPr marL="127000" marR="127000" marT="63500" marB="63500" anchor="ctr">
                    <a:solidFill>
                      <a:srgbClr val="0F3B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1">
                          <a:solidFill>
                            <a:srgbClr val="FFFFFF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名稱</a:t>
                      </a:r>
                    </a:p>
                  </a:txBody>
                  <a:tcPr marL="127000" marR="127000" marT="63500" marB="63500" anchor="ctr">
                    <a:solidFill>
                      <a:srgbClr val="0F3B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1">
                          <a:solidFill>
                            <a:srgbClr val="FFFFFF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預計歸還</a:t>
                      </a:r>
                    </a:p>
                  </a:txBody>
                  <a:tcPr marL="127000" marR="127000" marT="63500" marB="63500" anchor="ctr">
                    <a:solidFill>
                      <a:srgbClr val="0F3B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1">
                          <a:solidFill>
                            <a:srgbClr val="FFFFFF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逾期</a:t>
                      </a:r>
                    </a:p>
                  </a:txBody>
                  <a:tcPr marL="127000" marR="127000" marT="63500" marB="63500" anchor="ctr">
                    <a:solidFill>
                      <a:srgbClr val="0F3B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16929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r>
                        <a:rPr lang="en-US" altLang="zh-TW" sz="11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A31</a:t>
                      </a:r>
                      <a:endParaRPr lang="zh-TW" altLang="en-US" sz="1100" b="1">
                        <a:solidFill>
                          <a:srgbClr val="0F3B47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  <a:sym typeface="Microsoft JhengHei" panose="020B0604030504040204" pitchFamily="34" charset="-120"/>
                      </a:endParaRPr>
                    </a:p>
                  </a:txBody>
                  <a:tcPr marL="127000" marR="127000" marT="63500" marB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55 </a:t>
                      </a:r>
                      <a:r>
                        <a:rPr lang="zh-TW" altLang="en-US" sz="11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吋展示螢幕</a:t>
                      </a:r>
                    </a:p>
                  </a:txBody>
                  <a:tcPr marL="127000" marR="127000" marT="63500" marB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2026-10-09</a:t>
                      </a:r>
                      <a:endParaRPr lang="zh-TW" altLang="en-US" sz="1100" b="0">
                        <a:solidFill>
                          <a:srgbClr val="1F2A30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  <a:sym typeface="Microsoft JhengHei" panose="020B0604030504040204" pitchFamily="34" charset="-120"/>
                      </a:endParaRPr>
                    </a:p>
                  </a:txBody>
                  <a:tcPr marL="127000" marR="127000" marT="63500" marB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1 </a:t>
                      </a:r>
                      <a:r>
                        <a:rPr lang="zh-TW" altLang="en-US" sz="11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7000" marR="127000" marT="63500" marB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922928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r>
                        <a:rPr lang="en-US" altLang="zh-TW" sz="1100" b="1">
                          <a:solidFill>
                            <a:srgbClr val="0F3B47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A32</a:t>
                      </a:r>
                      <a:endParaRPr lang="zh-TW" altLang="en-US" sz="1100" b="1">
                        <a:solidFill>
                          <a:srgbClr val="0F3B47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  <a:sym typeface="Microsoft JhengHei" panose="020B0604030504040204" pitchFamily="34" charset="-120"/>
                      </a:endParaRPr>
                    </a:p>
                  </a:txBody>
                  <a:tcPr marL="127000" marR="127000" marT="63500" marB="635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智慧手錶樣品</a:t>
                      </a:r>
                    </a:p>
                  </a:txBody>
                  <a:tcPr marL="127000" marR="127000" marT="63500" marB="635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2026-10-09</a:t>
                      </a:r>
                      <a:endParaRPr lang="zh-TW" altLang="en-US" sz="1100" b="0">
                        <a:solidFill>
                          <a:srgbClr val="1F2A30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  <a:sym typeface="Microsoft JhengHei" panose="020B0604030504040204" pitchFamily="34" charset="-120"/>
                      </a:endParaRPr>
                    </a:p>
                  </a:txBody>
                  <a:tcPr marL="127000" marR="127000" marT="63500" marB="635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1 </a:t>
                      </a:r>
                      <a:r>
                        <a:rPr lang="zh-TW" altLang="en-US" sz="1100" b="0">
                          <a:solidFill>
                            <a:srgbClr val="1F2A3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  <a:sym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7000" marR="127000" marT="63500" marB="63500" anchor="ctr">
                    <a:solidFill>
                      <a:srgbClr val="F3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6547038"/>
                  </a:ext>
                </a:extLst>
              </a:tr>
            </a:tbl>
          </a:graphicData>
        </a:graphic>
      </p:graphicFrame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B11F9DB2-71AC-D714-A679-1213182C7FB2}"/>
              </a:ext>
            </a:extLst>
          </p:cNvPr>
          <p:cNvSpPr/>
          <p:nvPr/>
        </p:nvSpPr>
        <p:spPr>
          <a:xfrm>
            <a:off x="6350000" y="3987800"/>
            <a:ext cx="2514600" cy="12700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sz="3000" b="1">
                <a:solidFill>
                  <a:srgbClr val="1F6F78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10/10</a:t>
            </a:r>
          </a:p>
          <a:p>
            <a:pPr algn="ctr"/>
            <a:r>
              <a:rPr lang="en-US" altLang="zh-TW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10/9 </a:t>
            </a:r>
            <a:r>
              <a:rPr lang="zh-TW" altLang="en-US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到期，隔天起算逾期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EFDCBFE5-187D-A78B-77D4-31D22242FC62}"/>
              </a:ext>
            </a:extLst>
          </p:cNvPr>
          <p:cNvSpPr/>
          <p:nvPr/>
        </p:nvSpPr>
        <p:spPr>
          <a:xfrm>
            <a:off x="9067800" y="3987800"/>
            <a:ext cx="2514600" cy="1270000"/>
          </a:xfrm>
          <a:prstGeom prst="roundRect">
            <a:avLst>
              <a:gd name="adj" fmla="val 8000"/>
            </a:avLst>
          </a:prstGeom>
          <a:solidFill>
            <a:srgbClr val="FCEF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zh-TW" altLang="en-US" sz="3000" b="1">
                <a:solidFill>
                  <a:srgbClr val="A86A1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約 </a:t>
            </a:r>
            <a:r>
              <a:rPr lang="en-US" altLang="zh-TW" sz="3000" b="1">
                <a:solidFill>
                  <a:srgbClr val="A86A1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100 </a:t>
            </a:r>
            <a:r>
              <a:rPr lang="zh-TW" altLang="en-US" sz="3000" b="1">
                <a:solidFill>
                  <a:srgbClr val="A86A1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封</a:t>
            </a:r>
          </a:p>
          <a:p>
            <a:pPr algn="ctr"/>
            <a:r>
              <a:rPr lang="zh-TW" altLang="en-US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一般 </a:t>
            </a:r>
            <a:r>
              <a:rPr lang="en-US" altLang="zh-TW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Gmail </a:t>
            </a:r>
            <a:r>
              <a:rPr lang="zh-TW" altLang="en-US" sz="1200">
                <a:solidFill>
                  <a:srgbClr val="5F6B7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帳號每天寄信上限</a:t>
            </a:r>
          </a:p>
        </p:txBody>
      </p:sp>
    </p:spTree>
    <p:extLst>
      <p:ext uri="{BB962C8B-B14F-4D97-AF65-F5344CB8AC3E}">
        <p14:creationId xmlns:p14="http://schemas.microsoft.com/office/powerpoint/2010/main" val="7974462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104860-B2BA-FCF9-5750-07F7EBB81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584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zh-TW" altLang="en-US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程式碼結構與部署方式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4931229-D628-583F-D8A6-44F6B2B6C244}"/>
              </a:ext>
            </a:extLst>
          </p:cNvPr>
          <p:cNvSpPr txBox="1"/>
          <p:nvPr/>
        </p:nvSpPr>
        <p:spPr>
          <a:xfrm>
            <a:off x="609600" y="2032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04 </a:t>
            </a:r>
            <a:r>
              <a:rPr lang="zh-TW" altLang="en-US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維運與安全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6D98DE0-1332-8EF5-567E-30BD88C0C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11</a:t>
            </a:fld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F639C447-263B-3435-DDF9-424E14F76F7A}"/>
              </a:ext>
            </a:extLst>
          </p:cNvPr>
          <p:cNvSpPr/>
          <p:nvPr/>
        </p:nvSpPr>
        <p:spPr>
          <a:xfrm>
            <a:off x="609600" y="1320800"/>
            <a:ext cx="5461000" cy="41910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42ACB1F-2F51-B65C-B0B9-A88286689027}"/>
              </a:ext>
            </a:extLst>
          </p:cNvPr>
          <p:cNvSpPr txBox="1"/>
          <p:nvPr/>
        </p:nvSpPr>
        <p:spPr>
          <a:xfrm>
            <a:off x="863600" y="15748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1100"/>
              </a:spcAft>
            </a:pPr>
            <a:r>
              <a:rPr lang="en-US" altLang="zh-TW" sz="1300" b="1">
                <a:solidFill>
                  <a:srgbClr val="E8A33D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sample-inventory-system/</a:t>
            </a:r>
          </a:p>
          <a:p>
            <a:pPr>
              <a:spcAft>
                <a:spcPts val="1100"/>
              </a:spcAft>
            </a:pP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├─ apps-script/  </a:t>
            </a: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後端 </a:t>
            </a: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7 </a:t>
            </a: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個 </a:t>
            </a: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.gs</a:t>
            </a:r>
          </a:p>
          <a:p>
            <a:pPr>
              <a:spcAft>
                <a:spcPts val="1100"/>
              </a:spcAft>
            </a:pP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│    Code </a:t>
            </a: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路由・</a:t>
            </a: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Db </a:t>
            </a: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試算表存取</a:t>
            </a:r>
          </a:p>
          <a:p>
            <a:pPr>
              <a:spcAft>
                <a:spcPts val="1100"/>
              </a:spcAft>
            </a:pP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│    </a:t>
            </a: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Items</a:t>
            </a: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・</a:t>
            </a: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Loans</a:t>
            </a: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・</a:t>
            </a: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Notify</a:t>
            </a: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・</a:t>
            </a: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Setup</a:t>
            </a:r>
          </a:p>
          <a:p>
            <a:pPr>
              <a:spcAft>
                <a:spcPts val="1100"/>
              </a:spcAft>
            </a:pP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├─ web/          </a:t>
            </a: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手機前端（免建置）</a:t>
            </a:r>
          </a:p>
          <a:p>
            <a:pPr>
              <a:spcAft>
                <a:spcPts val="1100"/>
              </a:spcAft>
            </a:pP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│    </a:t>
            </a: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index.html </a:t>
            </a: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借還・</a:t>
            </a: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labels.html </a:t>
            </a: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標籤</a:t>
            </a:r>
          </a:p>
          <a:p>
            <a:pPr>
              <a:spcAft>
                <a:spcPts val="1100"/>
              </a:spcAft>
            </a:pP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│    </a:t>
            </a: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js/views </a:t>
            </a: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畫面・</a:t>
            </a: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js/demo </a:t>
            </a: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示範模式</a:t>
            </a:r>
          </a:p>
          <a:p>
            <a:pPr>
              <a:spcAft>
                <a:spcPts val="1100"/>
              </a:spcAft>
            </a:pP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├─ </a:t>
            </a: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tests/        </a:t>
            </a: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後端自動化測試 </a:t>
            </a: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12 </a:t>
            </a: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項</a:t>
            </a:r>
          </a:p>
          <a:p>
            <a:pPr>
              <a:spcAft>
                <a:spcPts val="1100"/>
              </a:spcAft>
            </a:pP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├─ </a:t>
            </a: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tools/        </a:t>
            </a: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本機預覽伺服器</a:t>
            </a:r>
          </a:p>
          <a:p>
            <a:pPr>
              <a:spcAft>
                <a:spcPts val="1100"/>
              </a:spcAft>
            </a:pP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└─ </a:t>
            </a: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.github/      </a:t>
            </a:r>
            <a:r>
              <a:rPr lang="zh-TW" altLang="en-US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自動部署到 </a:t>
            </a:r>
            <a:r>
              <a:rPr lang="en-US" altLang="zh-TW" sz="1300">
                <a:solidFill>
                  <a:srgbClr val="C9E4E0"/>
                </a:solidFill>
                <a:latin typeface="Consolas" panose="020B0609020204030204" pitchFamily="49" charset="0"/>
                <a:ea typeface="Microsoft JhengHei" panose="020B0604030504040204" pitchFamily="34" charset="-120"/>
                <a:sym typeface="Consolas" panose="020B0609020204030204" pitchFamily="49" charset="0"/>
              </a:rPr>
              <a:t>GitHub Pages</a:t>
            </a:r>
            <a:endParaRPr lang="zh-TW" altLang="en-US" sz="1300">
              <a:solidFill>
                <a:srgbClr val="C9E4E0"/>
              </a:solidFill>
              <a:latin typeface="Consolas" panose="020B0609020204030204" pitchFamily="49" charset="0"/>
              <a:ea typeface="Microsoft JhengHei" panose="020B0604030504040204" pitchFamily="34" charset="-120"/>
              <a:sym typeface="Consolas" panose="020B0609020204030204" pitchFamily="49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EF9900B-36E6-EA9D-0CEF-306501F7D5E7}"/>
              </a:ext>
            </a:extLst>
          </p:cNvPr>
          <p:cNvSpPr txBox="1"/>
          <p:nvPr/>
        </p:nvSpPr>
        <p:spPr>
          <a:xfrm>
            <a:off x="6350000" y="1346200"/>
            <a:ext cx="5232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6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前端更新（約 </a:t>
            </a:r>
            <a:r>
              <a:rPr lang="en-US" altLang="zh-TW" sz="16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1 </a:t>
            </a:r>
            <a:r>
              <a:rPr lang="zh-TW" altLang="en-US" sz="16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分鐘自動上線）</a:t>
            </a:r>
          </a:p>
        </p:txBody>
      </p:sp>
      <p:sp>
        <p:nvSpPr>
          <p:cNvPr id="8" name="箭號: ＞形 7">
            <a:extLst>
              <a:ext uri="{FF2B5EF4-FFF2-40B4-BE49-F238E27FC236}">
                <a16:creationId xmlns:a16="http://schemas.microsoft.com/office/drawing/2014/main" id="{5D2860E3-A2D5-6047-2B6B-351D1993D78F}"/>
              </a:ext>
            </a:extLst>
          </p:cNvPr>
          <p:cNvSpPr/>
          <p:nvPr/>
        </p:nvSpPr>
        <p:spPr>
          <a:xfrm>
            <a:off x="6350000" y="1752600"/>
            <a:ext cx="1778000" cy="711200"/>
          </a:xfrm>
          <a:prstGeom prst="chevron">
            <a:avLst/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zh-TW" altLang="en-US" sz="13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修改 </a:t>
            </a:r>
            <a:r>
              <a:rPr lang="en-US" altLang="zh-TW" sz="13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web/</a:t>
            </a:r>
            <a:endParaRPr lang="zh-TW" altLang="en-US" sz="1300" b="1">
              <a:solidFill>
                <a:srgbClr val="0F3B47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9" name="箭號: ＞形 8">
            <a:extLst>
              <a:ext uri="{FF2B5EF4-FFF2-40B4-BE49-F238E27FC236}">
                <a16:creationId xmlns:a16="http://schemas.microsoft.com/office/drawing/2014/main" id="{B8AAEADD-FC1A-D3DD-C399-812133731C4D}"/>
              </a:ext>
            </a:extLst>
          </p:cNvPr>
          <p:cNvSpPr/>
          <p:nvPr/>
        </p:nvSpPr>
        <p:spPr>
          <a:xfrm>
            <a:off x="8102600" y="1752600"/>
            <a:ext cx="1778000" cy="711200"/>
          </a:xfrm>
          <a:prstGeom prst="chevron">
            <a:avLst/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sz="13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git push</a:t>
            </a:r>
            <a:endParaRPr lang="zh-TW" altLang="en-US" sz="1300" b="1">
              <a:solidFill>
                <a:srgbClr val="0F3B47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10" name="箭號: ＞形 9">
            <a:extLst>
              <a:ext uri="{FF2B5EF4-FFF2-40B4-BE49-F238E27FC236}">
                <a16:creationId xmlns:a16="http://schemas.microsoft.com/office/drawing/2014/main" id="{25F8711E-416D-8165-DD1B-8F29606BA945}"/>
              </a:ext>
            </a:extLst>
          </p:cNvPr>
          <p:cNvSpPr/>
          <p:nvPr/>
        </p:nvSpPr>
        <p:spPr>
          <a:xfrm>
            <a:off x="9855200" y="1752600"/>
            <a:ext cx="1778000" cy="711200"/>
          </a:xfrm>
          <a:prstGeom prst="chevron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sz="13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GitHub Pages </a:t>
            </a:r>
            <a:r>
              <a:rPr lang="zh-TW" altLang="en-US" sz="13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上線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B679EBC-A930-F67A-4E73-10602D1C469D}"/>
              </a:ext>
            </a:extLst>
          </p:cNvPr>
          <p:cNvSpPr txBox="1"/>
          <p:nvPr/>
        </p:nvSpPr>
        <p:spPr>
          <a:xfrm>
            <a:off x="6350000" y="2794000"/>
            <a:ext cx="5232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6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後端更新</a:t>
            </a:r>
          </a:p>
        </p:txBody>
      </p:sp>
      <p:sp>
        <p:nvSpPr>
          <p:cNvPr id="12" name="箭號: ＞形 11">
            <a:extLst>
              <a:ext uri="{FF2B5EF4-FFF2-40B4-BE49-F238E27FC236}">
                <a16:creationId xmlns:a16="http://schemas.microsoft.com/office/drawing/2014/main" id="{3FC21BE9-FFCC-535C-91D6-CBAE87DD1557}"/>
              </a:ext>
            </a:extLst>
          </p:cNvPr>
          <p:cNvSpPr/>
          <p:nvPr/>
        </p:nvSpPr>
        <p:spPr>
          <a:xfrm>
            <a:off x="6350000" y="3200400"/>
            <a:ext cx="1778000" cy="711200"/>
          </a:xfrm>
          <a:prstGeom prst="chevron">
            <a:avLst/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zh-TW" altLang="en-US" sz="13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修改後端</a:t>
            </a:r>
          </a:p>
        </p:txBody>
      </p:sp>
      <p:sp>
        <p:nvSpPr>
          <p:cNvPr id="13" name="箭號: ＞形 12">
            <a:extLst>
              <a:ext uri="{FF2B5EF4-FFF2-40B4-BE49-F238E27FC236}">
                <a16:creationId xmlns:a16="http://schemas.microsoft.com/office/drawing/2014/main" id="{56754366-1F69-BCFB-048E-6068DD70B5A0}"/>
              </a:ext>
            </a:extLst>
          </p:cNvPr>
          <p:cNvSpPr/>
          <p:nvPr/>
        </p:nvSpPr>
        <p:spPr>
          <a:xfrm>
            <a:off x="8102600" y="3200400"/>
            <a:ext cx="1778000" cy="711200"/>
          </a:xfrm>
          <a:prstGeom prst="chevron">
            <a:avLst/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zh-TW" altLang="en-US" sz="13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貼到 </a:t>
            </a:r>
            <a:r>
              <a:rPr lang="en-US" altLang="zh-TW" sz="13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Apps Script</a:t>
            </a:r>
            <a:endParaRPr lang="zh-TW" altLang="en-US" sz="1300" b="1">
              <a:solidFill>
                <a:srgbClr val="0F3B47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14" name="箭號: ＞形 13">
            <a:extLst>
              <a:ext uri="{FF2B5EF4-FFF2-40B4-BE49-F238E27FC236}">
                <a16:creationId xmlns:a16="http://schemas.microsoft.com/office/drawing/2014/main" id="{B420CE28-29AA-A736-052C-CA656B037539}"/>
              </a:ext>
            </a:extLst>
          </p:cNvPr>
          <p:cNvSpPr/>
          <p:nvPr/>
        </p:nvSpPr>
        <p:spPr>
          <a:xfrm>
            <a:off x="9855200" y="3200400"/>
            <a:ext cx="1778000" cy="711200"/>
          </a:xfrm>
          <a:prstGeom prst="chevron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zh-TW" altLang="en-US" sz="13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發布新版本（網址不變）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5F990287-7006-B749-1882-3C0086C75A5F}"/>
              </a:ext>
            </a:extLst>
          </p:cNvPr>
          <p:cNvSpPr/>
          <p:nvPr/>
        </p:nvSpPr>
        <p:spPr>
          <a:xfrm>
            <a:off x="6350000" y="4241800"/>
            <a:ext cx="5232400" cy="1270000"/>
          </a:xfrm>
          <a:prstGeom prst="roundRect">
            <a:avLst>
              <a:gd name="adj" fmla="val 8000"/>
            </a:avLst>
          </a:prstGeom>
          <a:solidFill>
            <a:srgbClr val="FCEFD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3200" tIns="50800" rIns="203200" bIns="50800" rtlCol="0" anchor="ctr"/>
          <a:lstStyle/>
          <a:p>
            <a:r>
              <a:rPr lang="zh-TW" altLang="en-US" sz="1500" b="1">
                <a:solidFill>
                  <a:srgbClr val="A86A1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示範模式</a:t>
            </a:r>
          </a:p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在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localhost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預覽時，瀏覽器直接執行同一份後端程式（搭配模擬的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Google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服務），測試不會動到正式資料。</a:t>
            </a:r>
          </a:p>
        </p:txBody>
      </p:sp>
    </p:spTree>
    <p:extLst>
      <p:ext uri="{BB962C8B-B14F-4D97-AF65-F5344CB8AC3E}">
        <p14:creationId xmlns:p14="http://schemas.microsoft.com/office/powerpoint/2010/main" val="37744367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9C414E-88F9-F99A-0792-75D56A2C4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584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zh-TW" altLang="en-US" sz="28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安全與權限設計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B894E24-B149-232E-BD82-DA5BE6491D5E}"/>
              </a:ext>
            </a:extLst>
          </p:cNvPr>
          <p:cNvSpPr txBox="1"/>
          <p:nvPr/>
        </p:nvSpPr>
        <p:spPr>
          <a:xfrm>
            <a:off x="609600" y="2032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zh-TW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04 </a:t>
            </a:r>
            <a:r>
              <a:rPr lang="zh-TW" altLang="en-US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維運與安全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B526D9E-DFCC-319B-F122-2085EAFE3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510CA361-0BD1-58CC-083C-A604B33C3B74}"/>
              </a:ext>
            </a:extLst>
          </p:cNvPr>
          <p:cNvSpPr/>
          <p:nvPr/>
        </p:nvSpPr>
        <p:spPr>
          <a:xfrm>
            <a:off x="609600" y="1320800"/>
            <a:ext cx="5384800" cy="18796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3F0A43BC-997D-333D-7798-2D10E3ABC385}"/>
              </a:ext>
            </a:extLst>
          </p:cNvPr>
          <p:cNvSpPr/>
          <p:nvPr/>
        </p:nvSpPr>
        <p:spPr>
          <a:xfrm>
            <a:off x="863600" y="1574800"/>
            <a:ext cx="457200" cy="457200"/>
          </a:xfrm>
          <a:prstGeom prst="ellipse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sz="16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1</a:t>
            </a:r>
            <a:endParaRPr lang="zh-TW" altLang="en-US" sz="1600" b="1">
              <a:solidFill>
                <a:srgbClr val="FFFFFF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220BC55-66A5-C99A-6A04-49618A72B382}"/>
              </a:ext>
            </a:extLst>
          </p:cNvPr>
          <p:cNvSpPr txBox="1"/>
          <p:nvPr/>
        </p:nvSpPr>
        <p:spPr>
          <a:xfrm>
            <a:off x="1498600" y="16383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7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公開 </a:t>
            </a:r>
            <a:r>
              <a:rPr lang="en-US" altLang="zh-TW" sz="17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repo </a:t>
            </a:r>
            <a:r>
              <a:rPr lang="zh-TW" altLang="en-US" sz="17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不放任何秘密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9F1D892-4E46-CC37-07BA-3808C512BE57}"/>
              </a:ext>
            </a:extLst>
          </p:cNvPr>
          <p:cNvSpPr txBox="1"/>
          <p:nvPr/>
        </p:nvSpPr>
        <p:spPr>
          <a:xfrm>
            <a:off x="1498600" y="21082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管理者密碼存在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Apps Script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的指令碼屬性，帳號資料也都不進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Git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；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commit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使用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GitHub noreply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信箱。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138DCC75-89C0-10E9-146B-77954578EA34}"/>
              </a:ext>
            </a:extLst>
          </p:cNvPr>
          <p:cNvSpPr/>
          <p:nvPr/>
        </p:nvSpPr>
        <p:spPr>
          <a:xfrm>
            <a:off x="6197600" y="1320800"/>
            <a:ext cx="5384800" cy="18796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88CFEE70-D561-1A0E-DC65-5C51274E78E2}"/>
              </a:ext>
            </a:extLst>
          </p:cNvPr>
          <p:cNvSpPr/>
          <p:nvPr/>
        </p:nvSpPr>
        <p:spPr>
          <a:xfrm>
            <a:off x="6451600" y="1574800"/>
            <a:ext cx="457200" cy="457200"/>
          </a:xfrm>
          <a:prstGeom prst="ellipse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sz="16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2</a:t>
            </a:r>
            <a:endParaRPr lang="zh-TW" altLang="en-US" sz="1600" b="1">
              <a:solidFill>
                <a:srgbClr val="FFFFFF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AF309EB-4B9D-B4DA-CE32-E8E5B4E88FC0}"/>
              </a:ext>
            </a:extLst>
          </p:cNvPr>
          <p:cNvSpPr txBox="1"/>
          <p:nvPr/>
        </p:nvSpPr>
        <p:spPr>
          <a:xfrm>
            <a:off x="7086600" y="16383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7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管理功能需要密碼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E6776FE-6CA5-BCD5-16C4-BAD61CB1E6BF}"/>
              </a:ext>
            </a:extLst>
          </p:cNvPr>
          <p:cNvSpPr txBox="1"/>
          <p:nvPr/>
        </p:nvSpPr>
        <p:spPr>
          <a:xfrm>
            <a:off x="7086600" y="21082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新增或刪除展品、變更狀態、移轉、查履歷、寄催還信都要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8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碼管理者密碼；外流時執行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resetAdminKey()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立即更換。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218572D2-B01C-201B-1006-A642A01AAF4D}"/>
              </a:ext>
            </a:extLst>
          </p:cNvPr>
          <p:cNvSpPr/>
          <p:nvPr/>
        </p:nvSpPr>
        <p:spPr>
          <a:xfrm>
            <a:off x="609600" y="3403600"/>
            <a:ext cx="5384800" cy="18796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90BC7CCC-DBA5-7BE7-292A-6FB527952D80}"/>
              </a:ext>
            </a:extLst>
          </p:cNvPr>
          <p:cNvSpPr/>
          <p:nvPr/>
        </p:nvSpPr>
        <p:spPr>
          <a:xfrm>
            <a:off x="863600" y="3657600"/>
            <a:ext cx="457200" cy="457200"/>
          </a:xfrm>
          <a:prstGeom prst="ellipse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sz="16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3</a:t>
            </a:r>
            <a:endParaRPr lang="zh-TW" altLang="en-US" sz="1600" b="1">
              <a:solidFill>
                <a:srgbClr val="FFFFFF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FE4EFCD-C0A3-CFC0-8C59-8D517E8A5920}"/>
              </a:ext>
            </a:extLst>
          </p:cNvPr>
          <p:cNvSpPr txBox="1"/>
          <p:nvPr/>
        </p:nvSpPr>
        <p:spPr>
          <a:xfrm>
            <a:off x="1498600" y="37211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7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個資最小揭露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7204A7B7-8AEA-6CC4-07C1-0A6F0DF5580B}"/>
              </a:ext>
            </a:extLst>
          </p:cNvPr>
          <p:cNvSpPr txBox="1"/>
          <p:nvPr/>
        </p:nvSpPr>
        <p:spPr>
          <a:xfrm>
            <a:off x="1498600" y="41910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一般查詢只回傳借用者姓名；借用者 </a:t>
            </a:r>
            <a:r>
              <a:rPr lang="en-US" altLang="zh-TW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Email </a:t>
            </a:r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名單與單品履歷只有管理者看得到。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73E8DE28-9ED8-BE9B-911F-6CA0A7E3C53D}"/>
              </a:ext>
            </a:extLst>
          </p:cNvPr>
          <p:cNvSpPr/>
          <p:nvPr/>
        </p:nvSpPr>
        <p:spPr>
          <a:xfrm>
            <a:off x="6197600" y="3403600"/>
            <a:ext cx="5384800" cy="1879600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FD8EBC20-6A1C-1615-D785-76CF46F61164}"/>
              </a:ext>
            </a:extLst>
          </p:cNvPr>
          <p:cNvSpPr/>
          <p:nvPr/>
        </p:nvSpPr>
        <p:spPr>
          <a:xfrm>
            <a:off x="6451600" y="3657600"/>
            <a:ext cx="457200" cy="457200"/>
          </a:xfrm>
          <a:prstGeom prst="ellipse">
            <a:avLst/>
          </a:prstGeom>
          <a:solidFill>
            <a:srgbClr val="1F6F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altLang="zh-TW" sz="16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4</a:t>
            </a:r>
            <a:endParaRPr lang="zh-TW" altLang="en-US" sz="1600" b="1">
              <a:solidFill>
                <a:srgbClr val="FFFFFF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sym typeface="Microsoft JhengHei" panose="020B0604030504040204" pitchFamily="34" charset="-12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379507D5-F1FB-541F-4098-AE9611371AC5}"/>
              </a:ext>
            </a:extLst>
          </p:cNvPr>
          <p:cNvSpPr txBox="1"/>
          <p:nvPr/>
        </p:nvSpPr>
        <p:spPr>
          <a:xfrm>
            <a:off x="7086600" y="37211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700" b="1">
                <a:solidFill>
                  <a:srgbClr val="0F3B47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資料一致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39F1585-E8A0-0D45-A453-FCFEED7C896C}"/>
              </a:ext>
            </a:extLst>
          </p:cNvPr>
          <p:cNvSpPr txBox="1"/>
          <p:nvPr/>
        </p:nvSpPr>
        <p:spPr>
          <a:xfrm>
            <a:off x="7086600" y="41910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400">
                <a:solidFill>
                  <a:srgbClr val="1F2A3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寫入時加鎖，兩人同時借同一件不會衝突；整批檢查，借用單不會只成功一半。</a:t>
            </a:r>
          </a:p>
        </p:txBody>
      </p:sp>
    </p:spTree>
    <p:extLst>
      <p:ext uri="{BB962C8B-B14F-4D97-AF65-F5344CB8AC3E}">
        <p14:creationId xmlns:p14="http://schemas.microsoft.com/office/powerpoint/2010/main" val="35183582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3B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81C3EE-9200-60D5-D927-7AA5734D4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584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zh-TW" altLang="en-US" sz="2800" b="1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目前限制與下一步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50261B4-A837-2E67-EB1B-324BF68DBBA3}"/>
              </a:ext>
            </a:extLst>
          </p:cNvPr>
          <p:cNvSpPr txBox="1"/>
          <p:nvPr/>
        </p:nvSpPr>
        <p:spPr>
          <a:xfrm>
            <a:off x="609600" y="2032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sz="1200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總結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1497775-D813-5BDC-80DD-C8703FB97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1B366-B12D-4E81-AEC3-117FBF7F511D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753FC34F-FC99-7131-23C6-0560A7ADFF5E}"/>
              </a:ext>
            </a:extLst>
          </p:cNvPr>
          <p:cNvSpPr/>
          <p:nvPr/>
        </p:nvSpPr>
        <p:spPr>
          <a:xfrm>
            <a:off x="609600" y="1397000"/>
            <a:ext cx="5334000" cy="2921000"/>
          </a:xfrm>
          <a:prstGeom prst="roundRect">
            <a:avLst>
              <a:gd name="adj" fmla="val 8000"/>
            </a:avLst>
          </a:prstGeom>
          <a:solidFill>
            <a:srgbClr val="164E5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1D4F7A-F74D-68F4-9B85-B9D34CCB0EB8}"/>
              </a:ext>
            </a:extLst>
          </p:cNvPr>
          <p:cNvSpPr txBox="1"/>
          <p:nvPr/>
        </p:nvSpPr>
        <p:spPr>
          <a:xfrm>
            <a:off x="914400" y="16256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目前限制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8CFCA5A-A4A8-1B35-37CE-E344284D1355}"/>
              </a:ext>
            </a:extLst>
          </p:cNvPr>
          <p:cNvSpPr txBox="1"/>
          <p:nvPr/>
        </p:nvSpPr>
        <p:spPr>
          <a:xfrm>
            <a:off x="914400" y="21082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A33D"/>
              </a:buClr>
              <a:buFont typeface="+mj-lt"/>
              <a:buChar char="•"/>
            </a:pPr>
            <a:r>
              <a:rPr lang="en-US" altLang="zh-TW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API </a:t>
            </a:r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網址公開：知道網址的人就能呼叫借用／歸還（為了免登入的取捨）</a:t>
            </a:r>
          </a:p>
          <a:p>
            <a:pPr marL="203200" indent="-203200">
              <a:spcAft>
                <a:spcPts val="900"/>
              </a:spcAft>
              <a:buClr>
                <a:srgbClr val="E8A33D"/>
              </a:buClr>
              <a:buFont typeface="+mj-lt"/>
              <a:buChar char="•"/>
            </a:pPr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一般 </a:t>
            </a:r>
            <a:r>
              <a:rPr lang="en-US" altLang="zh-TW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Gmail </a:t>
            </a:r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每天約 </a:t>
            </a:r>
            <a:r>
              <a:rPr lang="en-US" altLang="zh-TW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100 </a:t>
            </a:r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封信；試算表適合數千筆以內的資料</a:t>
            </a:r>
          </a:p>
          <a:p>
            <a:pPr marL="203200" indent="-203200">
              <a:spcAft>
                <a:spcPts val="900"/>
              </a:spcAft>
              <a:buClr>
                <a:srgbClr val="E8A33D"/>
              </a:buClr>
              <a:buFont typeface="+mj-lt"/>
              <a:buChar char="•"/>
            </a:pPr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移轉在畫面上一次一件（後端已支援多件）</a:t>
            </a:r>
          </a:p>
          <a:p>
            <a:pPr marL="203200" indent="-203200">
              <a:spcAft>
                <a:spcPts val="900"/>
              </a:spcAft>
              <a:buClr>
                <a:srgbClr val="E8A33D"/>
              </a:buClr>
              <a:buFont typeface="+mj-lt"/>
              <a:buChar char="•"/>
            </a:pPr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後端改版要手動貼到 </a:t>
            </a:r>
            <a:r>
              <a:rPr lang="en-US" altLang="zh-TW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Apps Script </a:t>
            </a:r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並發布新版本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60AA17F3-5B10-2A82-3D52-1CE91326E598}"/>
              </a:ext>
            </a:extLst>
          </p:cNvPr>
          <p:cNvSpPr/>
          <p:nvPr/>
        </p:nvSpPr>
        <p:spPr>
          <a:xfrm>
            <a:off x="6248400" y="1397000"/>
            <a:ext cx="5334000" cy="2921000"/>
          </a:xfrm>
          <a:prstGeom prst="roundRect">
            <a:avLst>
              <a:gd name="adj" fmla="val 8000"/>
            </a:avLst>
          </a:prstGeom>
          <a:solidFill>
            <a:srgbClr val="164E5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58C1114-B61F-584A-F924-3722FAC9C706}"/>
              </a:ext>
            </a:extLst>
          </p:cNvPr>
          <p:cNvSpPr txBox="1"/>
          <p:nvPr/>
        </p:nvSpPr>
        <p:spPr>
          <a:xfrm>
            <a:off x="6553200" y="16256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b="1">
                <a:solidFill>
                  <a:srgbClr val="E8A33D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建議下一步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F2D03E3-994A-F1A8-2EEA-8577BDA3B330}"/>
              </a:ext>
            </a:extLst>
          </p:cNvPr>
          <p:cNvSpPr txBox="1"/>
          <p:nvPr/>
        </p:nvSpPr>
        <p:spPr>
          <a:xfrm>
            <a:off x="6553200" y="21082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A33D"/>
              </a:buClr>
              <a:buFont typeface="+mj-lt"/>
              <a:buChar char="•"/>
            </a:pPr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用 </a:t>
            </a:r>
            <a:r>
              <a:rPr lang="en-US" altLang="zh-TW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TEST01–05 </a:t>
            </a:r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實測手機掃碼借還</a:t>
            </a:r>
          </a:p>
          <a:p>
            <a:pPr marL="203200" indent="-203200">
              <a:spcAft>
                <a:spcPts val="900"/>
              </a:spcAft>
              <a:buClr>
                <a:srgbClr val="E8A33D"/>
              </a:buClr>
              <a:buFont typeface="+mj-lt"/>
              <a:buChar char="•"/>
            </a:pPr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建立正式展品並列印 </a:t>
            </a:r>
            <a:r>
              <a:rPr lang="en-US" altLang="zh-TW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QR </a:t>
            </a:r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標籤</a:t>
            </a:r>
          </a:p>
          <a:p>
            <a:pPr marL="203200" indent="-203200">
              <a:spcAft>
                <a:spcPts val="900"/>
              </a:spcAft>
              <a:buClr>
                <a:srgbClr val="E8A33D"/>
              </a:buClr>
              <a:buFont typeface="+mj-lt"/>
              <a:buChar char="•"/>
            </a:pPr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在 </a:t>
            </a:r>
            <a:r>
              <a:rPr lang="en-US" altLang="zh-TW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Settings </a:t>
            </a:r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設定 </a:t>
            </a:r>
            <a:r>
              <a:rPr lang="en-US" altLang="zh-TW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EMAIL_DOMAIN</a:t>
            </a:r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、</a:t>
            </a:r>
            <a:r>
              <a:rPr lang="en-US" altLang="zh-TW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ADMIN_EMAILS</a:t>
            </a:r>
          </a:p>
          <a:p>
            <a:pPr marL="203200" indent="-203200">
              <a:spcAft>
                <a:spcPts val="900"/>
              </a:spcAft>
              <a:buClr>
                <a:srgbClr val="E8A33D"/>
              </a:buClr>
              <a:buFont typeface="+mj-lt"/>
              <a:buChar char="•"/>
            </a:pPr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視需要加入：公司帳號登入、批次移轉、</a:t>
            </a:r>
            <a:r>
              <a:rPr lang="en-US" altLang="zh-TW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clasp </a:t>
            </a:r>
            <a:r>
              <a:rPr lang="zh-TW" altLang="en-US" sz="1400">
                <a:solidFill>
                  <a:srgbClr val="FFFFFF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自動部署後端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0C99E79-E125-7EC8-00DF-14C57992BB8E}"/>
              </a:ext>
            </a:extLst>
          </p:cNvPr>
          <p:cNvSpPr txBox="1"/>
          <p:nvPr/>
        </p:nvSpPr>
        <p:spPr>
          <a:xfrm>
            <a:off x="609600" y="4724400"/>
            <a:ext cx="109728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zh-TW" altLang="en-US" b="1">
                <a:solidFill>
                  <a:srgbClr val="C9E4E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設計目標：讓同仁願意用</a:t>
            </a:r>
            <a:r>
              <a:rPr lang="en-US" altLang="zh-TW" b="1">
                <a:solidFill>
                  <a:srgbClr val="C9E4E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——</a:t>
            </a:r>
            <a:r>
              <a:rPr lang="zh-TW" altLang="en-US" b="1">
                <a:solidFill>
                  <a:srgbClr val="C9E4E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sym typeface="Microsoft JhengHei" panose="020B0604030504040204" pitchFamily="34" charset="-120"/>
              </a:rPr>
              <a:t>掃一下就能借，追蹤與催還交給系統。</a:t>
            </a:r>
          </a:p>
        </p:txBody>
      </p:sp>
    </p:spTree>
    <p:extLst>
      <p:ext uri="{BB962C8B-B14F-4D97-AF65-F5344CB8AC3E}">
        <p14:creationId xmlns:p14="http://schemas.microsoft.com/office/powerpoint/2010/main" val="32891471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rgbClr val="1F2A30"/>
      </a:dk1>
      <a:lt1>
        <a:srgbClr val="FFFFFF"/>
      </a:lt1>
      <a:dk2>
        <a:srgbClr val="0F3B47"/>
      </a:dk2>
      <a:lt2>
        <a:srgbClr val="F3F5F7"/>
      </a:lt2>
      <a:accent1>
        <a:srgbClr val="1F6F78"/>
      </a:accent1>
      <a:accent2>
        <a:srgbClr val="E8A33D"/>
      </a:accent2>
      <a:accent3>
        <a:srgbClr val="0F3B47"/>
      </a:accent3>
      <a:accent4>
        <a:srgbClr val="5F6B7A"/>
      </a:accent4>
      <a:accent5>
        <a:srgbClr val="B03A2E"/>
      </a:accent5>
      <a:accent6>
        <a:srgbClr val="C9CED4"/>
      </a:accent6>
      <a:hlink>
        <a:srgbClr val="467886"/>
      </a:hlink>
      <a:folHlink>
        <a:srgbClr val="96607D"/>
      </a:folHlink>
    </a:clrScheme>
    <a:fontScheme name="Office">
      <a:majorFont>
        <a:latin typeface="Microsoft JhengHei" panose="02110004020202020204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 panose="02110004020202020204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2472</Words>
  <Application>Microsoft Office PowerPoint</Application>
  <PresentationFormat>自訂</PresentationFormat>
  <Paragraphs>292</Paragraphs>
  <Slides>13</Slides>
  <Notes>13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8" baseType="lpstr">
      <vt:lpstr>微軟正黑體</vt:lpstr>
      <vt:lpstr>Aptos</vt:lpstr>
      <vt:lpstr>Arial</vt:lpstr>
      <vt:lpstr>Consolas</vt:lpstr>
      <vt:lpstr>Office 佈景主題</vt:lpstr>
      <vt:lpstr>智慧展品借還管理系統</vt:lpstr>
      <vt:lpstr>四個元件組成，零安裝、零伺服器</vt:lpstr>
      <vt:lpstr>需求書的每一項，系統怎麼做</vt:lpstr>
      <vt:lpstr>系統架構：前端、後端、資料分開</vt:lpstr>
      <vt:lpstr>使用流程：像掃碼點餐一樣借還展品</vt:lpstr>
      <vt:lpstr>分批歸還：借 10 件去日本，5 件轉往美國</vt:lpstr>
      <vt:lpstr>資料結構：五張工作表就是資料庫</vt:lpstr>
      <vt:lpstr>展品狀態：誰能在什麼時候改變它</vt:lpstr>
      <vt:lpstr>後端 API：一個網址，用 action 區分功能</vt:lpstr>
      <vt:lpstr>每日自動催還：不用再靠 LINE 群組追人</vt:lpstr>
      <vt:lpstr>程式碼結構與部署方式</vt:lpstr>
      <vt:lpstr>安全與權限設計</vt:lpstr>
      <vt:lpstr>目前限制與下一步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WilsonWCWang(王威眾)</dc:creator>
  <cp:lastModifiedBy>WilsonWCWang(王威眾)</cp:lastModifiedBy>
  <cp:revision>1</cp:revision>
  <dcterms:created xsi:type="dcterms:W3CDTF">2026-10-13T08:11:47Z</dcterms:created>
  <dcterms:modified xsi:type="dcterms:W3CDTF">2026-10-13T08:11:47Z</dcterms:modified>
</cp:coreProperties>
</file>
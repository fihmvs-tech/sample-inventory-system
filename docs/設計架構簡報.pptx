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概觀" id="{A205F708-5CE0-4553-9B6B-12D8961946C8}">
          <p14:sldIdLst>
            <p14:sldId id="256"/>
            <p14:sldId id="257"/>
            <p14:sldId id="258"/>
          </p14:sldIdLst>
        </p14:section>
        <p14:section name="架構與流程" id="{5C2A3032-3D78-4E63-A323-9194F0E7A602}">
          <p14:sldIdLst>
            <p14:sldId id="259"/>
            <p14:sldId id="260"/>
            <p14:sldId id="261"/>
          </p14:sldIdLst>
        </p14:section>
        <p14:section name="資料與介面" id="{558F8AF8-3204-4E6E-8682-F5021B90AE5E}">
          <p14:sldIdLst>
            <p14:sldId id="262"/>
            <p14:sldId id="263"/>
            <p14:sldId id="264"/>
          </p14:sldIdLst>
        </p14:section>
        <p14:section name="維運與安全" id="{FB6EDA53-74E1-45AC-8CEF-92687D410019}">
          <p14:sldIdLst>
            <p14:sldId id="265"/>
            <p14:sldId id="266"/>
            <p14:sldId id="267"/>
            <p14:sldId id="26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410D3B-54DC-4EED-8AC6-F3C29C176DE5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B205EA-7ED8-4333-98B6-70F1E28EA6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9277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這份簡報說明展品借還系統的設計架構：使用者怎麼用、資料放在哪裡、程式怎麼分工，以及安全與維運方式。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B205EA-7ED8-4333-98B6-70F1E28EA644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2933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整個系統由四個部分組成，全部使用免費服務。借用者只需要手機相機和瀏覽器；資料存在專案的 </a:t>
            </a:r>
            <a:r>
              <a:rPr lang="en-US" altLang="zh-TW"/>
              <a:t>Google </a:t>
            </a:r>
            <a:r>
              <a:rPr lang="zh-TW" altLang="en-US"/>
              <a:t>試算表，管理者也能直接打開試算表查看。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B205EA-7ED8-4333-98B6-70F1E28EA644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16484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左欄是需求書的項目，右欄是系統的實作方式。每一項都已經實作並通過測試。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B205EA-7ED8-4333-98B6-70F1E28EA644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55672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手機只負責畫面；所有規則和資料都在後端。手機透過 </a:t>
            </a:r>
            <a:r>
              <a:rPr lang="en-US" altLang="zh-TW"/>
              <a:t>HTTPS </a:t>
            </a:r>
            <a:r>
              <a:rPr lang="zh-TW" altLang="en-US"/>
              <a:t>呼叫 </a:t>
            </a:r>
            <a:r>
              <a:rPr lang="en-US" altLang="zh-TW"/>
              <a:t>Apps Script </a:t>
            </a:r>
            <a:r>
              <a:rPr lang="zh-TW" altLang="en-US"/>
              <a:t>的網址，</a:t>
            </a:r>
            <a:r>
              <a:rPr lang="en-US" altLang="zh-TW"/>
              <a:t>Apps Script </a:t>
            </a:r>
            <a:r>
              <a:rPr lang="zh-TW" altLang="en-US"/>
              <a:t>再讀寫試算表。前端由 </a:t>
            </a:r>
            <a:r>
              <a:rPr lang="en-US" altLang="zh-TW"/>
              <a:t>GitHub </a:t>
            </a:r>
            <a:r>
              <a:rPr lang="zh-TW" altLang="en-US"/>
              <a:t>自動部署；每天 </a:t>
            </a:r>
            <a:r>
              <a:rPr lang="en-US" altLang="zh-TW"/>
              <a:t>17:00 </a:t>
            </a:r>
            <a:r>
              <a:rPr lang="zh-TW" altLang="en-US"/>
              <a:t>由 </a:t>
            </a:r>
            <a:r>
              <a:rPr lang="en-US" altLang="zh-TW"/>
              <a:t>Apps Script </a:t>
            </a:r>
            <a:r>
              <a:rPr lang="zh-TW" altLang="en-US"/>
              <a:t>的觸發條件寄出催還信。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B205EA-7ED8-4333-98B6-70F1E28EA644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86180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借用者不用登入：掃描展品、確認清單、填 </a:t>
            </a:r>
            <a:r>
              <a:rPr lang="en-US" altLang="zh-TW"/>
              <a:t>Email </a:t>
            </a:r>
            <a:r>
              <a:rPr lang="zh-TW" altLang="en-US"/>
              <a:t>就完成。同一個 </a:t>
            </a:r>
            <a:r>
              <a:rPr lang="en-US" altLang="zh-TW"/>
              <a:t>QR Code </a:t>
            </a:r>
            <a:r>
              <a:rPr lang="zh-TW" altLang="en-US"/>
              <a:t>依展品狀態自動判斷是借用還是歸還。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B205EA-7ED8-4333-98B6-70F1E28EA644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49873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每一件展品都是獨立的一列借用紀錄，所以可以逐件歸還。剩下的展品如果要改帶去美國，管理者可以用「移轉」開一張新的借用單、更新事由與歸還日；不移轉也可以，未還的展品會繼續記在原借用者名下。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B205EA-7ED8-4333-98B6-70F1E28EA644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80889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Items </a:t>
            </a:r>
            <a:r>
              <a:rPr lang="zh-TW" altLang="en-US"/>
              <a:t>是目前狀態，</a:t>
            </a:r>
            <a:r>
              <a:rPr lang="en-US" altLang="zh-TW"/>
              <a:t>Loans </a:t>
            </a:r>
            <a:r>
              <a:rPr lang="zh-TW" altLang="en-US"/>
              <a:t>是借用紀錄（一件一列），</a:t>
            </a:r>
            <a:r>
              <a:rPr lang="en-US" altLang="zh-TW"/>
              <a:t>Logs </a:t>
            </a:r>
            <a:r>
              <a:rPr lang="zh-TW" altLang="en-US"/>
              <a:t>是不會修改的異動日誌。</a:t>
            </a:r>
            <a:r>
              <a:rPr lang="en-US" altLang="zh-TW"/>
              <a:t>Borrowers </a:t>
            </a:r>
            <a:r>
              <a:rPr lang="zh-TW" altLang="en-US"/>
              <a:t>讓管理者代填時可以從清單選人，</a:t>
            </a:r>
            <a:r>
              <a:rPr lang="en-US" altLang="zh-TW"/>
              <a:t>Settings </a:t>
            </a:r>
            <a:r>
              <a:rPr lang="zh-TW" altLang="en-US"/>
              <a:t>讓管理者不改程式就能調整事由選項、</a:t>
            </a:r>
            <a:r>
              <a:rPr lang="en-US" altLang="zh-TW"/>
              <a:t>Email </a:t>
            </a:r>
            <a:r>
              <a:rPr lang="zh-TW" altLang="en-US"/>
              <a:t>網域等設定。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B205EA-7ED8-4333-98B6-70F1E28EA644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40920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借出與歸還只能透過掃碼流程；送修、遺失、報廢只有管理者能設定，而且借出中的展品必須先歸還。每次狀態改變都會寫入 </a:t>
            </a:r>
            <a:r>
              <a:rPr lang="en-US" altLang="zh-TW"/>
              <a:t>Logs</a:t>
            </a:r>
            <a:r>
              <a:rPr lang="zh-TW" altLang="en-US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B205EA-7ED8-4333-98B6-70F1E28EA644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61049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所有功能都打同一個 </a:t>
            </a:r>
            <a:r>
              <a:rPr lang="en-US" altLang="zh-TW"/>
              <a:t>Apps Script </a:t>
            </a:r>
            <a:r>
              <a:rPr lang="zh-TW" altLang="en-US"/>
              <a:t>網址，用 </a:t>
            </a:r>
            <a:r>
              <a:rPr lang="en-US" altLang="zh-TW"/>
              <a:t>action </a:t>
            </a:r>
            <a:r>
              <a:rPr lang="zh-TW" altLang="en-US"/>
              <a:t>欄位決定要做什麼。左邊是借用者可用的功能，不需登入；右邊是管理功能，每次呼叫都會檢查管理者金鑰。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B205EA-7ED8-4333-98B6-70F1E28EA644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38266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催還完全自動：每天 </a:t>
            </a:r>
            <a:r>
              <a:rPr lang="en-US" altLang="zh-TW"/>
              <a:t>17:00 </a:t>
            </a:r>
            <a:r>
              <a:rPr lang="zh-TW" altLang="en-US"/>
              <a:t>找出逾期的展品，同一位借用者合併成一封信寄出，並記錄催還次數。寄件者是專案的 </a:t>
            </a:r>
            <a:r>
              <a:rPr lang="en-US" altLang="zh-TW"/>
              <a:t>Google </a:t>
            </a:r>
            <a:r>
              <a:rPr lang="zh-TW" altLang="en-US"/>
              <a:t>帳號；一般 </a:t>
            </a:r>
            <a:r>
              <a:rPr lang="en-US" altLang="zh-TW"/>
              <a:t>Gmail </a:t>
            </a:r>
            <a:r>
              <a:rPr lang="zh-TW" altLang="en-US"/>
              <a:t>帳號每天大約只能用程式寄 </a:t>
            </a:r>
            <a:r>
              <a:rPr lang="en-US" altLang="zh-TW"/>
              <a:t>100 </a:t>
            </a:r>
            <a:r>
              <a:rPr lang="zh-TW" altLang="en-US"/>
              <a:t>封。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B205EA-7ED8-4333-98B6-70F1E28EA644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36348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程式碼都在 </a:t>
            </a:r>
            <a:r>
              <a:rPr lang="en-US" altLang="zh-TW"/>
              <a:t>GitHub</a:t>
            </a:r>
            <a:r>
              <a:rPr lang="zh-TW" altLang="en-US"/>
              <a:t>。前端修改後 </a:t>
            </a:r>
            <a:r>
              <a:rPr lang="en-US" altLang="zh-TW"/>
              <a:t>push </a:t>
            </a:r>
            <a:r>
              <a:rPr lang="zh-TW" altLang="en-US"/>
              <a:t>就會自動上線；後端修改要貼到 </a:t>
            </a:r>
            <a:r>
              <a:rPr lang="en-US" altLang="zh-TW"/>
              <a:t>Apps Script </a:t>
            </a:r>
            <a:r>
              <a:rPr lang="zh-TW" altLang="en-US"/>
              <a:t>編輯器並發布新版本，網址不會變。本機預覽時一律使用示範模式，不會動到正式資料。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B205EA-7ED8-4333-98B6-70F1E28EA644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65422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repo </a:t>
            </a:r>
            <a:r>
              <a:rPr lang="zh-TW" altLang="en-US"/>
              <a:t>是公開的，所以任何秘密都不進 </a:t>
            </a:r>
            <a:r>
              <a:rPr lang="en-US" altLang="zh-TW"/>
              <a:t>Git</a:t>
            </a:r>
            <a:r>
              <a:rPr lang="zh-TW" altLang="en-US"/>
              <a:t>。管理功能用管理者金鑰保護；一般使用者看不到別人的 </a:t>
            </a:r>
            <a:r>
              <a:rPr lang="en-US" altLang="zh-TW"/>
              <a:t>Email</a:t>
            </a:r>
            <a:r>
              <a:rPr lang="zh-TW" altLang="en-US"/>
              <a:t>；寫入有鎖定與整批檢查，資料不會出現一半成功的狀態。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B205EA-7ED8-4333-98B6-70F1E28EA644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93026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為了讓同仁願意使用，系統選擇免登入、免安裝，這也帶來 </a:t>
            </a:r>
            <a:r>
              <a:rPr lang="en-US" altLang="zh-TW"/>
              <a:t>API </a:t>
            </a:r>
            <a:r>
              <a:rPr lang="zh-TW" altLang="en-US"/>
              <a:t>網址公開的取捨。下一步建議先用測試展品實際走一次流程，再建立正式展品與標籤。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B205EA-7ED8-4333-98B6-70F1E28EA644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9574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26A048-B34D-FFF4-9698-FFBF97650F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A221946-5E58-0737-B752-6647D2DDC1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325F4B-C2D9-ED59-8265-086459ECD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FF54C-54C0-4360-8CC3-BD8DF4F850B5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D12BC59-C764-4DC7-5D6F-685A59E95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F2CBA1B-9F77-85F9-2414-DB2B8B0A5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2CFFA-BCF7-4941-9F1D-DE24BA5E85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0213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5E90B3-8BD2-4B02-3F87-7AF9033EC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BEB1092-9D9D-24D8-BCC3-0F371202C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EE39011-569E-DCAA-9BAC-A1A012DC1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FF54C-54C0-4360-8CC3-BD8DF4F850B5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2314FCD-D215-2519-8E81-3D2240911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B279A00-8517-9979-58F2-642937AD5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2CFFA-BCF7-4941-9F1D-DE24BA5E85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9031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8A136A-078A-DB9D-F2BD-2F1DDDC81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CDC8A7A-2676-2B45-7FA6-EDB0895A04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08EAC35-E133-2B34-2575-A3E0DD8C4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FF54C-54C0-4360-8CC3-BD8DF4F850B5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EFC8446-5373-E46E-07A4-6D4FA4D14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ABBB59C-8883-2672-6442-5AD6A684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2CFFA-BCF7-4941-9F1D-DE24BA5E85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5774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B47BE8-3431-3FCC-F73D-61610B8EF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3B319D-B639-0ABD-F6E4-D81000FD0F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06CBE88-B08C-EE81-F07C-AE532C0467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C0061B3-5104-2884-CC0E-FF0463CA7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FF54C-54C0-4360-8CC3-BD8DF4F850B5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6C738E8-F7CA-28EA-FE15-C62CF2CDE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AF24C80-624A-AD84-92E5-937866BF9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2CFFA-BCF7-4941-9F1D-DE24BA5E85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649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9DA2F5-6A98-7E6D-A612-B90EC3CA1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32FA3F2-608C-519C-8BAC-D8A23D1F1A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98DFD60-82FA-370B-C531-0A14635F7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4D6887A-E9C0-1CB7-246E-799C411F9E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B37E763-B19B-83A3-3B42-52DF5DD19F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9C51103-1E9B-37CB-C315-D359B187C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FF54C-54C0-4360-8CC3-BD8DF4F850B5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4603360-498C-D362-FF21-41E232479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FDFCB55-27F7-DEA9-16A3-973B22DDC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2CFFA-BCF7-4941-9F1D-DE24BA5E85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6663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2888F3-FBE2-8F5C-B58B-4165BC8D9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1821398-D967-D8BD-E771-B84ED96E4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FF54C-54C0-4360-8CC3-BD8DF4F850B5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9DDD1D2-2CD2-E1E7-4DB3-FF0DCA731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CB8AAFE-B983-A0B2-B4AE-4825B5935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2CFFA-BCF7-4941-9F1D-DE24BA5E85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3943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C092C40-5A27-EF4A-5F95-4B2ACE4DA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FF54C-54C0-4360-8CC3-BD8DF4F850B5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B468CA9-3D0C-0E61-2CFD-6DFDF1CDD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4800F85-01EF-F63A-AA0A-2FC58D271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2CFFA-BCF7-4941-9F1D-DE24BA5E85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3013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EAF966-94FA-06EE-6E3D-7FF301A10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CD62E2-B4CD-31EE-58F6-6BE76CB28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7AA6AFB-37F5-DCFF-6696-B8BF525CD8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AE1FADB-02A4-4AFD-0EA7-04E4A0F44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FF54C-54C0-4360-8CC3-BD8DF4F850B5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3B1C4A0-83AA-1A30-7E0E-749181053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D07372-7672-58ED-6F1A-C1ABE08D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2CFFA-BCF7-4941-9F1D-DE24BA5E85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2157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E7AF2A-709E-6F61-C0BE-E705C9BF5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92AD057-C83E-0A62-66A7-C29D5A8247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A003BC1-49FC-C5ED-19D8-AC7CF419D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7447FF8-2CCA-8032-0FF9-B0F7FFB4A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FF54C-54C0-4360-8CC3-BD8DF4F850B5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A804B9C-F538-BC1E-9CF0-F6D52E4A9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B8B54D3-3C57-8C0F-725B-BA2109A40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2CFFA-BCF7-4941-9F1D-DE24BA5E85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8028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1911BB-220F-A4AC-E24E-F1EB36AA6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B3C74EA-FA48-B2C1-E03C-723BA3E835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FBB27D0-0D85-1DFF-C015-03D5F5BCC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FF54C-54C0-4360-8CC3-BD8DF4F850B5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26C5CCB-636D-A03E-9953-7865FAEB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A962F65-7312-71B2-00CD-D0F92220B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2CFFA-BCF7-4941-9F1D-DE24BA5E85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6645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F99D726-A423-1A37-D59D-B7E905F01D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7112C2E-785F-5F2E-7010-95B76B3AB5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BDA9945-78DE-9143-981B-26DDEDA04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FF54C-54C0-4360-8CC3-BD8DF4F850B5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6063E64-C9C5-6739-7712-787AF72AB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B95705F-B3A5-2035-69B5-55C1F354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2CFFA-BCF7-4941-9F1D-DE24BA5E85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2607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2082E9B-3EB3-A415-C67A-E8841D08E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98AB26A-2B7E-38A9-BBAE-F51067E35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5E6A7AA-F990-948F-F349-9F50E8EB1F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2FF54C-54C0-4360-8CC3-BD8DF4F850B5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C0B3FBE-C324-F10E-86C0-E95718B23F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2F4C82D-A878-F7DA-9924-AC482C821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E2CFFA-BCF7-4941-9F1D-DE24BA5E85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2641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D0CF28-549A-71BC-A35C-748BF6DF5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800" y="2235200"/>
            <a:ext cx="7112000" cy="812800"/>
          </a:xfrm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zh-TW" altLang="en-US" sz="40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智慧展品借還管理系統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1FDAD4B-D4C1-4079-6F2A-C0BF5109F5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800" y="3251200"/>
            <a:ext cx="7112000" cy="889000"/>
          </a:xfrm>
        </p:spPr>
        <p:txBody>
          <a:bodyPr wrap="square" lIns="0" tIns="0" r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lang="zh-TW" altLang="en-US" sz="1800">
                <a:solidFill>
                  <a:srgbClr val="C9E4E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手機掃碼 </a:t>
            </a:r>
            <a:r>
              <a:rPr lang="en-US" altLang="zh-TW" sz="1800">
                <a:solidFill>
                  <a:srgbClr val="C9E4E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× Google </a:t>
            </a:r>
            <a:r>
              <a:rPr lang="zh-TW" altLang="en-US" sz="1800">
                <a:solidFill>
                  <a:srgbClr val="C9E4E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試算表 </a:t>
            </a:r>
            <a:r>
              <a:rPr lang="en-US" altLang="zh-TW" sz="1800">
                <a:solidFill>
                  <a:srgbClr val="C9E4E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× Apps Script</a:t>
            </a:r>
          </a:p>
          <a:p>
            <a:pPr algn="l">
              <a:spcAft>
                <a:spcPts val="600"/>
              </a:spcAft>
            </a:pPr>
            <a:r>
              <a:rPr lang="zh-TW" altLang="en-US" sz="1800">
                <a:solidFill>
                  <a:srgbClr val="C9E4E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輕量化、免安裝、免伺服器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4DF8BC9-2157-C8C8-8432-1A0A318585C8}"/>
              </a:ext>
            </a:extLst>
          </p:cNvPr>
          <p:cNvSpPr txBox="1"/>
          <p:nvPr/>
        </p:nvSpPr>
        <p:spPr>
          <a:xfrm>
            <a:off x="812800" y="18542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600" b="1">
                <a:solidFill>
                  <a:srgbClr val="E8A3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設計架構說明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BE7EE83-D8B5-B054-9270-9B0D4D379487}"/>
              </a:ext>
            </a:extLst>
          </p:cNvPr>
          <p:cNvSpPr txBox="1"/>
          <p:nvPr/>
        </p:nvSpPr>
        <p:spPr>
          <a:xfrm>
            <a:off x="812800" y="59690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200">
                <a:solidFill>
                  <a:srgbClr val="9FB8B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sample-inventory-system </a:t>
            </a:r>
            <a:r>
              <a:rPr lang="zh-TW" altLang="en-US" sz="1200">
                <a:solidFill>
                  <a:srgbClr val="9FB8B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・ </a:t>
            </a:r>
            <a:r>
              <a:rPr lang="en-US" altLang="zh-TW" sz="1200">
                <a:solidFill>
                  <a:srgbClr val="9FB8B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2026 </a:t>
            </a:r>
            <a:r>
              <a:rPr lang="zh-TW" altLang="en-US" sz="1200">
                <a:solidFill>
                  <a:srgbClr val="9FB8B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年 </a:t>
            </a:r>
            <a:r>
              <a:rPr lang="en-US" altLang="zh-TW" sz="1200">
                <a:solidFill>
                  <a:srgbClr val="9FB8B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10 </a:t>
            </a:r>
            <a:r>
              <a:rPr lang="zh-TW" altLang="en-US" sz="1200">
                <a:solidFill>
                  <a:srgbClr val="9FB8B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月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6D5D5EFB-BDD5-DD4E-67FF-EF0F1D2D5759}"/>
              </a:ext>
            </a:extLst>
          </p:cNvPr>
          <p:cNvSpPr/>
          <p:nvPr/>
        </p:nvSpPr>
        <p:spPr>
          <a:xfrm>
            <a:off x="8331200" y="1676400"/>
            <a:ext cx="2844800" cy="284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C4D962C-7D18-38D5-C5EB-87974133D7C6}"/>
              </a:ext>
            </a:extLst>
          </p:cNvPr>
          <p:cNvSpPr/>
          <p:nvPr/>
        </p:nvSpPr>
        <p:spPr>
          <a:xfrm>
            <a:off x="8534400" y="1879600"/>
            <a:ext cx="762000" cy="762000"/>
          </a:xfrm>
          <a:prstGeom prst="rect">
            <a:avLst/>
          </a:prstGeom>
          <a:solidFill>
            <a:srgbClr val="0F3B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988D50F-2972-0AAA-998A-B96D99389C0A}"/>
              </a:ext>
            </a:extLst>
          </p:cNvPr>
          <p:cNvSpPr/>
          <p:nvPr/>
        </p:nvSpPr>
        <p:spPr>
          <a:xfrm>
            <a:off x="8636000" y="1981200"/>
            <a:ext cx="558800" cy="5588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1888ABE-E2F6-D7D4-3422-31846A8FE0EC}"/>
              </a:ext>
            </a:extLst>
          </p:cNvPr>
          <p:cNvSpPr/>
          <p:nvPr/>
        </p:nvSpPr>
        <p:spPr>
          <a:xfrm>
            <a:off x="8763000" y="2108200"/>
            <a:ext cx="304800" cy="304800"/>
          </a:xfrm>
          <a:prstGeom prst="rect">
            <a:avLst/>
          </a:prstGeom>
          <a:solidFill>
            <a:srgbClr val="0F3B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8F99171-58B0-3FB9-821F-8EBCFC43A57A}"/>
              </a:ext>
            </a:extLst>
          </p:cNvPr>
          <p:cNvSpPr/>
          <p:nvPr/>
        </p:nvSpPr>
        <p:spPr>
          <a:xfrm>
            <a:off x="10210800" y="1879600"/>
            <a:ext cx="762000" cy="762000"/>
          </a:xfrm>
          <a:prstGeom prst="rect">
            <a:avLst/>
          </a:prstGeom>
          <a:solidFill>
            <a:srgbClr val="0F3B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0979052-14BD-2130-FC86-AE363921C5B6}"/>
              </a:ext>
            </a:extLst>
          </p:cNvPr>
          <p:cNvSpPr/>
          <p:nvPr/>
        </p:nvSpPr>
        <p:spPr>
          <a:xfrm>
            <a:off x="10312400" y="1981200"/>
            <a:ext cx="558800" cy="5588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6D81AA9-4566-1D1F-A1BB-BB86A195ACFF}"/>
              </a:ext>
            </a:extLst>
          </p:cNvPr>
          <p:cNvSpPr/>
          <p:nvPr/>
        </p:nvSpPr>
        <p:spPr>
          <a:xfrm>
            <a:off x="10439400" y="2108200"/>
            <a:ext cx="304800" cy="304800"/>
          </a:xfrm>
          <a:prstGeom prst="rect">
            <a:avLst/>
          </a:prstGeom>
          <a:solidFill>
            <a:srgbClr val="0F3B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DBF63E3-417C-2E3A-ED81-8437813FAA77}"/>
              </a:ext>
            </a:extLst>
          </p:cNvPr>
          <p:cNvSpPr/>
          <p:nvPr/>
        </p:nvSpPr>
        <p:spPr>
          <a:xfrm>
            <a:off x="8534400" y="3556000"/>
            <a:ext cx="762000" cy="762000"/>
          </a:xfrm>
          <a:prstGeom prst="rect">
            <a:avLst/>
          </a:prstGeom>
          <a:solidFill>
            <a:srgbClr val="0F3B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9BFFF1B-F14C-1D3A-0303-0159DCA30687}"/>
              </a:ext>
            </a:extLst>
          </p:cNvPr>
          <p:cNvSpPr/>
          <p:nvPr/>
        </p:nvSpPr>
        <p:spPr>
          <a:xfrm>
            <a:off x="8636000" y="3657600"/>
            <a:ext cx="558800" cy="5588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C89DA3F-1B60-2FE3-0721-C39C6A161CCA}"/>
              </a:ext>
            </a:extLst>
          </p:cNvPr>
          <p:cNvSpPr/>
          <p:nvPr/>
        </p:nvSpPr>
        <p:spPr>
          <a:xfrm>
            <a:off x="8763000" y="3784600"/>
            <a:ext cx="304800" cy="304800"/>
          </a:xfrm>
          <a:prstGeom prst="rect">
            <a:avLst/>
          </a:prstGeom>
          <a:solidFill>
            <a:srgbClr val="0F3B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1108090-DD7D-1725-B309-5FBFE29C5ACA}"/>
              </a:ext>
            </a:extLst>
          </p:cNvPr>
          <p:cNvSpPr/>
          <p:nvPr/>
        </p:nvSpPr>
        <p:spPr>
          <a:xfrm>
            <a:off x="9448800" y="1879600"/>
            <a:ext cx="152400" cy="152400"/>
          </a:xfrm>
          <a:prstGeom prst="rect">
            <a:avLst/>
          </a:prstGeom>
          <a:solidFill>
            <a:srgbClr val="0F3B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543F487-DEF4-6ACB-0149-9BE92FA78A7D}"/>
              </a:ext>
            </a:extLst>
          </p:cNvPr>
          <p:cNvSpPr/>
          <p:nvPr/>
        </p:nvSpPr>
        <p:spPr>
          <a:xfrm>
            <a:off x="9753600" y="1879600"/>
            <a:ext cx="152400" cy="152400"/>
          </a:xfrm>
          <a:prstGeom prst="rect">
            <a:avLst/>
          </a:prstGeom>
          <a:solidFill>
            <a:srgbClr val="0F3B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9547F60-A87F-07B4-7CDE-E280E941040B}"/>
              </a:ext>
            </a:extLst>
          </p:cNvPr>
          <p:cNvSpPr/>
          <p:nvPr/>
        </p:nvSpPr>
        <p:spPr>
          <a:xfrm>
            <a:off x="9906000" y="2032000"/>
            <a:ext cx="152400" cy="152400"/>
          </a:xfrm>
          <a:prstGeom prst="rect">
            <a:avLst/>
          </a:prstGeom>
          <a:solidFill>
            <a:srgbClr val="0F3B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F9C632B-6DBD-2014-04DF-FEA025DB3068}"/>
              </a:ext>
            </a:extLst>
          </p:cNvPr>
          <p:cNvSpPr/>
          <p:nvPr/>
        </p:nvSpPr>
        <p:spPr>
          <a:xfrm>
            <a:off x="9448800" y="2184400"/>
            <a:ext cx="152400" cy="152400"/>
          </a:xfrm>
          <a:prstGeom prst="rect">
            <a:avLst/>
          </a:prstGeom>
          <a:solidFill>
            <a:srgbClr val="0F3B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68F0A11-B33C-6F9E-70FF-04DE6439F246}"/>
              </a:ext>
            </a:extLst>
          </p:cNvPr>
          <p:cNvSpPr/>
          <p:nvPr/>
        </p:nvSpPr>
        <p:spPr>
          <a:xfrm>
            <a:off x="9601200" y="2336800"/>
            <a:ext cx="152400" cy="152400"/>
          </a:xfrm>
          <a:prstGeom prst="rect">
            <a:avLst/>
          </a:prstGeom>
          <a:solidFill>
            <a:srgbClr val="0F3B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3E02381-57FF-D607-F569-3924BEE6A8CF}"/>
              </a:ext>
            </a:extLst>
          </p:cNvPr>
          <p:cNvSpPr/>
          <p:nvPr/>
        </p:nvSpPr>
        <p:spPr>
          <a:xfrm>
            <a:off x="9906000" y="2336800"/>
            <a:ext cx="152400" cy="152400"/>
          </a:xfrm>
          <a:prstGeom prst="rect">
            <a:avLst/>
          </a:prstGeom>
          <a:solidFill>
            <a:srgbClr val="0F3B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0B5CFAD-B0DB-ADBE-4433-3E2AEF1CECA6}"/>
              </a:ext>
            </a:extLst>
          </p:cNvPr>
          <p:cNvSpPr/>
          <p:nvPr/>
        </p:nvSpPr>
        <p:spPr>
          <a:xfrm>
            <a:off x="9753600" y="2489200"/>
            <a:ext cx="152400" cy="152400"/>
          </a:xfrm>
          <a:prstGeom prst="rect">
            <a:avLst/>
          </a:prstGeom>
          <a:solidFill>
            <a:srgbClr val="0F3B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A04820C-DC09-1591-1FB6-3E3A0724CCF2}"/>
              </a:ext>
            </a:extLst>
          </p:cNvPr>
          <p:cNvSpPr/>
          <p:nvPr/>
        </p:nvSpPr>
        <p:spPr>
          <a:xfrm>
            <a:off x="8534400" y="2794000"/>
            <a:ext cx="152400" cy="152400"/>
          </a:xfrm>
          <a:prstGeom prst="rect">
            <a:avLst/>
          </a:prstGeom>
          <a:solidFill>
            <a:srgbClr val="0F3B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43FF7A8-0980-1647-2C36-521A843A84B9}"/>
              </a:ext>
            </a:extLst>
          </p:cNvPr>
          <p:cNvSpPr/>
          <p:nvPr/>
        </p:nvSpPr>
        <p:spPr>
          <a:xfrm>
            <a:off x="8839200" y="2794000"/>
            <a:ext cx="152400" cy="152400"/>
          </a:xfrm>
          <a:prstGeom prst="rect">
            <a:avLst/>
          </a:prstGeom>
          <a:solidFill>
            <a:srgbClr val="0F3B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D0014E4-379C-DF49-E342-80B8E887124E}"/>
              </a:ext>
            </a:extLst>
          </p:cNvPr>
          <p:cNvSpPr/>
          <p:nvPr/>
        </p:nvSpPr>
        <p:spPr>
          <a:xfrm>
            <a:off x="9144000" y="2946400"/>
            <a:ext cx="152400" cy="152400"/>
          </a:xfrm>
          <a:prstGeom prst="rect">
            <a:avLst/>
          </a:prstGeom>
          <a:solidFill>
            <a:srgbClr val="0F3B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8AC6290-64D5-E236-8C64-1AC109FEF0F3}"/>
              </a:ext>
            </a:extLst>
          </p:cNvPr>
          <p:cNvSpPr/>
          <p:nvPr/>
        </p:nvSpPr>
        <p:spPr>
          <a:xfrm>
            <a:off x="8686800" y="3098800"/>
            <a:ext cx="152400" cy="152400"/>
          </a:xfrm>
          <a:prstGeom prst="rect">
            <a:avLst/>
          </a:prstGeom>
          <a:solidFill>
            <a:srgbClr val="0F3B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AD38B86-4358-F19D-DC78-48B0A3114938}"/>
              </a:ext>
            </a:extLst>
          </p:cNvPr>
          <p:cNvSpPr/>
          <p:nvPr/>
        </p:nvSpPr>
        <p:spPr>
          <a:xfrm>
            <a:off x="8991600" y="3251200"/>
            <a:ext cx="152400" cy="152400"/>
          </a:xfrm>
          <a:prstGeom prst="rect">
            <a:avLst/>
          </a:prstGeom>
          <a:solidFill>
            <a:srgbClr val="0F3B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745A8F8-898B-FA8F-6407-35B811E234B5}"/>
              </a:ext>
            </a:extLst>
          </p:cNvPr>
          <p:cNvSpPr/>
          <p:nvPr/>
        </p:nvSpPr>
        <p:spPr>
          <a:xfrm>
            <a:off x="9448800" y="2794000"/>
            <a:ext cx="152400" cy="152400"/>
          </a:xfrm>
          <a:prstGeom prst="rect">
            <a:avLst/>
          </a:prstGeom>
          <a:solidFill>
            <a:srgbClr val="0F3B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B66B104-4C81-6DCC-978C-22EA061D5A62}"/>
              </a:ext>
            </a:extLst>
          </p:cNvPr>
          <p:cNvSpPr/>
          <p:nvPr/>
        </p:nvSpPr>
        <p:spPr>
          <a:xfrm>
            <a:off x="9601200" y="2946400"/>
            <a:ext cx="152400" cy="1524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9D51051-C5F4-298B-9A87-6FFF60398DC4}"/>
              </a:ext>
            </a:extLst>
          </p:cNvPr>
          <p:cNvSpPr/>
          <p:nvPr/>
        </p:nvSpPr>
        <p:spPr>
          <a:xfrm>
            <a:off x="9906000" y="2794000"/>
            <a:ext cx="152400" cy="152400"/>
          </a:xfrm>
          <a:prstGeom prst="rect">
            <a:avLst/>
          </a:prstGeom>
          <a:solidFill>
            <a:srgbClr val="0F3B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FE35FF0-84D8-8AB5-CCA7-8EC76A5A3983}"/>
              </a:ext>
            </a:extLst>
          </p:cNvPr>
          <p:cNvSpPr/>
          <p:nvPr/>
        </p:nvSpPr>
        <p:spPr>
          <a:xfrm>
            <a:off x="10058400" y="3098800"/>
            <a:ext cx="152400" cy="152400"/>
          </a:xfrm>
          <a:prstGeom prst="rect">
            <a:avLst/>
          </a:prstGeom>
          <a:solidFill>
            <a:srgbClr val="0F3B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C201618-592E-7079-A578-FFB1830374EE}"/>
              </a:ext>
            </a:extLst>
          </p:cNvPr>
          <p:cNvSpPr/>
          <p:nvPr/>
        </p:nvSpPr>
        <p:spPr>
          <a:xfrm>
            <a:off x="10363200" y="2794000"/>
            <a:ext cx="152400" cy="152400"/>
          </a:xfrm>
          <a:prstGeom prst="rect">
            <a:avLst/>
          </a:prstGeom>
          <a:solidFill>
            <a:srgbClr val="0F3B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2FFB23D-BB80-054F-60C3-EA36F86CE6E3}"/>
              </a:ext>
            </a:extLst>
          </p:cNvPr>
          <p:cNvSpPr/>
          <p:nvPr/>
        </p:nvSpPr>
        <p:spPr>
          <a:xfrm>
            <a:off x="10668000" y="2946400"/>
            <a:ext cx="152400" cy="152400"/>
          </a:xfrm>
          <a:prstGeom prst="rect">
            <a:avLst/>
          </a:prstGeom>
          <a:solidFill>
            <a:srgbClr val="0F3B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ECA47E4-D25B-BEB9-7DD7-E2387125738B}"/>
              </a:ext>
            </a:extLst>
          </p:cNvPr>
          <p:cNvSpPr/>
          <p:nvPr/>
        </p:nvSpPr>
        <p:spPr>
          <a:xfrm>
            <a:off x="10820400" y="3251200"/>
            <a:ext cx="152400" cy="152400"/>
          </a:xfrm>
          <a:prstGeom prst="rect">
            <a:avLst/>
          </a:prstGeom>
          <a:solidFill>
            <a:srgbClr val="0F3B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789FF22-3C2A-210D-A0FB-7FEC8F4CA3B6}"/>
              </a:ext>
            </a:extLst>
          </p:cNvPr>
          <p:cNvSpPr/>
          <p:nvPr/>
        </p:nvSpPr>
        <p:spPr>
          <a:xfrm>
            <a:off x="10515600" y="3251200"/>
            <a:ext cx="152400" cy="152400"/>
          </a:xfrm>
          <a:prstGeom prst="rect">
            <a:avLst/>
          </a:prstGeom>
          <a:solidFill>
            <a:srgbClr val="0F3B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1855BCD-E42F-E77C-F73C-4325B57E5421}"/>
              </a:ext>
            </a:extLst>
          </p:cNvPr>
          <p:cNvSpPr/>
          <p:nvPr/>
        </p:nvSpPr>
        <p:spPr>
          <a:xfrm>
            <a:off x="10210800" y="3403600"/>
            <a:ext cx="152400" cy="152400"/>
          </a:xfrm>
          <a:prstGeom prst="rect">
            <a:avLst/>
          </a:prstGeom>
          <a:solidFill>
            <a:srgbClr val="0F3B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686726C-E373-3CAD-7780-4A60E2DE78B0}"/>
              </a:ext>
            </a:extLst>
          </p:cNvPr>
          <p:cNvSpPr/>
          <p:nvPr/>
        </p:nvSpPr>
        <p:spPr>
          <a:xfrm>
            <a:off x="9753600" y="3251200"/>
            <a:ext cx="152400" cy="152400"/>
          </a:xfrm>
          <a:prstGeom prst="rect">
            <a:avLst/>
          </a:prstGeom>
          <a:solidFill>
            <a:srgbClr val="0F3B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A7AD53F-68D2-1425-E28D-B1064D63EB32}"/>
              </a:ext>
            </a:extLst>
          </p:cNvPr>
          <p:cNvSpPr/>
          <p:nvPr/>
        </p:nvSpPr>
        <p:spPr>
          <a:xfrm>
            <a:off x="9448800" y="3403600"/>
            <a:ext cx="152400" cy="152400"/>
          </a:xfrm>
          <a:prstGeom prst="rect">
            <a:avLst/>
          </a:prstGeom>
          <a:solidFill>
            <a:srgbClr val="0F3B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2B0F52D-4AA7-F135-33CA-F837787B1E85}"/>
              </a:ext>
            </a:extLst>
          </p:cNvPr>
          <p:cNvSpPr/>
          <p:nvPr/>
        </p:nvSpPr>
        <p:spPr>
          <a:xfrm>
            <a:off x="9296400" y="3098800"/>
            <a:ext cx="152400" cy="152400"/>
          </a:xfrm>
          <a:prstGeom prst="rect">
            <a:avLst/>
          </a:prstGeom>
          <a:solidFill>
            <a:srgbClr val="0F3B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E8B4D04-17C0-EC0B-6510-31AD9C7A5A92}"/>
              </a:ext>
            </a:extLst>
          </p:cNvPr>
          <p:cNvSpPr/>
          <p:nvPr/>
        </p:nvSpPr>
        <p:spPr>
          <a:xfrm>
            <a:off x="9448800" y="3708400"/>
            <a:ext cx="152400" cy="152400"/>
          </a:xfrm>
          <a:prstGeom prst="rect">
            <a:avLst/>
          </a:prstGeom>
          <a:solidFill>
            <a:srgbClr val="0F3B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E7CBEB4-1F13-93BD-A138-C3E169A2B4EE}"/>
              </a:ext>
            </a:extLst>
          </p:cNvPr>
          <p:cNvSpPr/>
          <p:nvPr/>
        </p:nvSpPr>
        <p:spPr>
          <a:xfrm>
            <a:off x="9601200" y="3556000"/>
            <a:ext cx="152400" cy="152400"/>
          </a:xfrm>
          <a:prstGeom prst="rect">
            <a:avLst/>
          </a:prstGeom>
          <a:solidFill>
            <a:srgbClr val="0F3B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6F9A140-A570-6B82-8D44-0F80D1A650C3}"/>
              </a:ext>
            </a:extLst>
          </p:cNvPr>
          <p:cNvSpPr/>
          <p:nvPr/>
        </p:nvSpPr>
        <p:spPr>
          <a:xfrm>
            <a:off x="9906000" y="3708400"/>
            <a:ext cx="152400" cy="1524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A53239D-C989-3DEA-E4EC-2E6B0F73A1A7}"/>
              </a:ext>
            </a:extLst>
          </p:cNvPr>
          <p:cNvSpPr/>
          <p:nvPr/>
        </p:nvSpPr>
        <p:spPr>
          <a:xfrm>
            <a:off x="10058400" y="4013200"/>
            <a:ext cx="152400" cy="152400"/>
          </a:xfrm>
          <a:prstGeom prst="rect">
            <a:avLst/>
          </a:prstGeom>
          <a:solidFill>
            <a:srgbClr val="0F3B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4C8EAE2-0051-0833-4B69-BD567B71B1FF}"/>
              </a:ext>
            </a:extLst>
          </p:cNvPr>
          <p:cNvSpPr/>
          <p:nvPr/>
        </p:nvSpPr>
        <p:spPr>
          <a:xfrm>
            <a:off x="10363200" y="3708400"/>
            <a:ext cx="152400" cy="152400"/>
          </a:xfrm>
          <a:prstGeom prst="rect">
            <a:avLst/>
          </a:prstGeom>
          <a:solidFill>
            <a:srgbClr val="0F3B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EB151E6-A10B-3A0A-7127-4EF8DC0E292C}"/>
              </a:ext>
            </a:extLst>
          </p:cNvPr>
          <p:cNvSpPr/>
          <p:nvPr/>
        </p:nvSpPr>
        <p:spPr>
          <a:xfrm>
            <a:off x="10515600" y="3860800"/>
            <a:ext cx="152400" cy="1524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8D5EB28-B272-5E27-B690-03798BD23E88}"/>
              </a:ext>
            </a:extLst>
          </p:cNvPr>
          <p:cNvSpPr/>
          <p:nvPr/>
        </p:nvSpPr>
        <p:spPr>
          <a:xfrm>
            <a:off x="10820400" y="3708400"/>
            <a:ext cx="152400" cy="152400"/>
          </a:xfrm>
          <a:prstGeom prst="rect">
            <a:avLst/>
          </a:prstGeom>
          <a:solidFill>
            <a:srgbClr val="0F3B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221E43B5-C10E-654F-166B-94635B4104A2}"/>
              </a:ext>
            </a:extLst>
          </p:cNvPr>
          <p:cNvSpPr/>
          <p:nvPr/>
        </p:nvSpPr>
        <p:spPr>
          <a:xfrm>
            <a:off x="10668000" y="4165600"/>
            <a:ext cx="152400" cy="152400"/>
          </a:xfrm>
          <a:prstGeom prst="rect">
            <a:avLst/>
          </a:prstGeom>
          <a:solidFill>
            <a:srgbClr val="0F3B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18618EBE-F56F-A028-5CB9-F0E43F9FEC74}"/>
              </a:ext>
            </a:extLst>
          </p:cNvPr>
          <p:cNvSpPr/>
          <p:nvPr/>
        </p:nvSpPr>
        <p:spPr>
          <a:xfrm>
            <a:off x="10210800" y="4165600"/>
            <a:ext cx="152400" cy="152400"/>
          </a:xfrm>
          <a:prstGeom prst="rect">
            <a:avLst/>
          </a:prstGeom>
          <a:solidFill>
            <a:srgbClr val="0F3B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AF50398-15F1-E901-EBCE-F50983307798}"/>
              </a:ext>
            </a:extLst>
          </p:cNvPr>
          <p:cNvSpPr/>
          <p:nvPr/>
        </p:nvSpPr>
        <p:spPr>
          <a:xfrm>
            <a:off x="9753600" y="4013200"/>
            <a:ext cx="152400" cy="152400"/>
          </a:xfrm>
          <a:prstGeom prst="rect">
            <a:avLst/>
          </a:prstGeom>
          <a:solidFill>
            <a:srgbClr val="0F3B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3C666C00-E4E1-2C59-5CD1-489CC86CEC87}"/>
              </a:ext>
            </a:extLst>
          </p:cNvPr>
          <p:cNvSpPr/>
          <p:nvPr/>
        </p:nvSpPr>
        <p:spPr>
          <a:xfrm>
            <a:off x="9448800" y="4165600"/>
            <a:ext cx="152400" cy="152400"/>
          </a:xfrm>
          <a:prstGeom prst="rect">
            <a:avLst/>
          </a:prstGeom>
          <a:solidFill>
            <a:srgbClr val="0F3B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06978B90-E254-F66A-9008-350BC96E68C7}"/>
              </a:ext>
            </a:extLst>
          </p:cNvPr>
          <p:cNvSpPr/>
          <p:nvPr/>
        </p:nvSpPr>
        <p:spPr>
          <a:xfrm>
            <a:off x="10363200" y="3556000"/>
            <a:ext cx="152400" cy="152400"/>
          </a:xfrm>
          <a:prstGeom prst="rect">
            <a:avLst/>
          </a:prstGeom>
          <a:solidFill>
            <a:srgbClr val="0F3B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0D51D63A-2065-DAF7-E5C0-9F4C061B5F23}"/>
              </a:ext>
            </a:extLst>
          </p:cNvPr>
          <p:cNvSpPr/>
          <p:nvPr/>
        </p:nvSpPr>
        <p:spPr>
          <a:xfrm>
            <a:off x="10820400" y="2794000"/>
            <a:ext cx="152400" cy="152400"/>
          </a:xfrm>
          <a:prstGeom prst="rect">
            <a:avLst/>
          </a:prstGeom>
          <a:solidFill>
            <a:srgbClr val="0F3B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F687F25-17F4-A07B-8E72-C2F4FEBC410F}"/>
              </a:ext>
            </a:extLst>
          </p:cNvPr>
          <p:cNvSpPr/>
          <p:nvPr/>
        </p:nvSpPr>
        <p:spPr>
          <a:xfrm>
            <a:off x="10058400" y="2641600"/>
            <a:ext cx="152400" cy="152400"/>
          </a:xfrm>
          <a:prstGeom prst="rect">
            <a:avLst/>
          </a:prstGeom>
          <a:solidFill>
            <a:srgbClr val="0F3B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CDF44C3-0926-1AC3-6C34-661643E11552}"/>
              </a:ext>
            </a:extLst>
          </p:cNvPr>
          <p:cNvSpPr/>
          <p:nvPr/>
        </p:nvSpPr>
        <p:spPr>
          <a:xfrm>
            <a:off x="8991600" y="2641600"/>
            <a:ext cx="152400" cy="152400"/>
          </a:xfrm>
          <a:prstGeom prst="rect">
            <a:avLst/>
          </a:prstGeom>
          <a:solidFill>
            <a:srgbClr val="0F3B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AEF1920A-4B3F-2754-2F1E-9D20C967F47A}"/>
              </a:ext>
            </a:extLst>
          </p:cNvPr>
          <p:cNvSpPr txBox="1"/>
          <p:nvPr/>
        </p:nvSpPr>
        <p:spPr>
          <a:xfrm>
            <a:off x="8128000" y="4826000"/>
            <a:ext cx="3251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1200">
                <a:solidFill>
                  <a:srgbClr val="C9E4E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每件展品一張 </a:t>
            </a:r>
            <a:r>
              <a:rPr lang="en-US" altLang="zh-TW" sz="1200">
                <a:solidFill>
                  <a:srgbClr val="C9E4E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QR Code</a:t>
            </a:r>
            <a:r>
              <a:rPr lang="zh-TW" altLang="en-US" sz="1200">
                <a:solidFill>
                  <a:srgbClr val="C9E4E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，手機相機一掃就開啟</a:t>
            </a:r>
          </a:p>
        </p:txBody>
      </p:sp>
    </p:spTree>
    <p:extLst>
      <p:ext uri="{BB962C8B-B14F-4D97-AF65-F5344CB8AC3E}">
        <p14:creationId xmlns:p14="http://schemas.microsoft.com/office/powerpoint/2010/main" val="1141369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F0AC90-3B86-B7B8-8CD1-9E5AB9073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584200"/>
          </a:xfrm>
        </p:spPr>
        <p:txBody>
          <a:bodyPr wrap="square" lIns="0" tIns="0" rIns="0" bIns="0" anchor="t">
            <a:noAutofit/>
          </a:bodyPr>
          <a:lstStyle/>
          <a:p>
            <a:r>
              <a:rPr lang="zh-TW" altLang="en-US" sz="28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四個元件組成，零安裝、零伺服器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23A00CF-79A8-74D2-B52D-A78B5B5E9EBD}"/>
              </a:ext>
            </a:extLst>
          </p:cNvPr>
          <p:cNvSpPr txBox="1"/>
          <p:nvPr/>
        </p:nvSpPr>
        <p:spPr>
          <a:xfrm>
            <a:off x="609600" y="2032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200" b="1">
                <a:solidFill>
                  <a:srgbClr val="E8A3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01 </a:t>
            </a:r>
            <a:r>
              <a:rPr lang="zh-TW" altLang="en-US" sz="1200" b="1">
                <a:solidFill>
                  <a:srgbClr val="E8A3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概觀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A20D9B6-8033-EF43-D58E-C4410A8D3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2CFFA-BCF7-4941-9F1D-DE24BA5E8539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5DCC5753-2FD7-DB06-F398-97E1F481B39A}"/>
              </a:ext>
            </a:extLst>
          </p:cNvPr>
          <p:cNvSpPr/>
          <p:nvPr/>
        </p:nvSpPr>
        <p:spPr>
          <a:xfrm>
            <a:off x="609600" y="1397000"/>
            <a:ext cx="2590800" cy="3175000"/>
          </a:xfrm>
          <a:prstGeom prst="roundRect">
            <a:avLst>
              <a:gd name="adj" fmla="val 8000"/>
            </a:avLst>
          </a:prstGeom>
          <a:solidFill>
            <a:srgbClr val="E4F1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950953D1-3E41-CB70-3E7D-826C4B089181}"/>
              </a:ext>
            </a:extLst>
          </p:cNvPr>
          <p:cNvSpPr/>
          <p:nvPr/>
        </p:nvSpPr>
        <p:spPr>
          <a:xfrm>
            <a:off x="838200" y="1625600"/>
            <a:ext cx="508000" cy="508000"/>
          </a:xfrm>
          <a:prstGeom prst="ellipse">
            <a:avLst/>
          </a:prstGeom>
          <a:solidFill>
            <a:srgbClr val="1F6F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altLang="zh-TW" sz="16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1</a:t>
            </a:r>
            <a:endParaRPr lang="zh-TW" altLang="en-US" sz="1600" b="1">
              <a:solidFill>
                <a:srgbClr val="FFFFFF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sym typeface="Microsoft JhengHe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81BEE8D-72A3-C7C5-C224-480F81106DF5}"/>
              </a:ext>
            </a:extLst>
          </p:cNvPr>
          <p:cNvSpPr txBox="1"/>
          <p:nvPr/>
        </p:nvSpPr>
        <p:spPr>
          <a:xfrm>
            <a:off x="838200" y="23368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手機網頁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B32232B-B15B-BDD1-3580-C579E5BD0170}"/>
              </a:ext>
            </a:extLst>
          </p:cNvPr>
          <p:cNvSpPr txBox="1"/>
          <p:nvPr/>
        </p:nvSpPr>
        <p:spPr>
          <a:xfrm>
            <a:off x="838200" y="27940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借用者用手機內建相機掃 </a:t>
            </a:r>
            <a:r>
              <a:rPr lang="en-US" altLang="zh-TW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QR Code</a:t>
            </a:r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，直接開啟網頁，不用安裝任何 </a:t>
            </a:r>
            <a:r>
              <a:rPr lang="en-US" altLang="zh-TW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App</a:t>
            </a:r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。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40A0117C-0BCC-9822-EE2D-B31A638CB836}"/>
              </a:ext>
            </a:extLst>
          </p:cNvPr>
          <p:cNvSpPr/>
          <p:nvPr/>
        </p:nvSpPr>
        <p:spPr>
          <a:xfrm>
            <a:off x="838200" y="3937000"/>
            <a:ext cx="2133600" cy="40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altLang="zh-TW" sz="1200" b="1">
                <a:solidFill>
                  <a:srgbClr val="1F6F7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web/ </a:t>
            </a:r>
            <a:r>
              <a:rPr lang="zh-TW" altLang="en-US" sz="1200" b="1">
                <a:solidFill>
                  <a:srgbClr val="1F6F7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・ </a:t>
            </a:r>
            <a:r>
              <a:rPr lang="en-US" altLang="zh-TW" sz="1200" b="1">
                <a:solidFill>
                  <a:srgbClr val="1F6F7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GitHub Pages</a:t>
            </a:r>
            <a:endParaRPr lang="zh-TW" altLang="en-US" sz="1200" b="1">
              <a:solidFill>
                <a:srgbClr val="1F6F7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sym typeface="Microsoft JhengHei" panose="020B0604030504040204" pitchFamily="34" charset="-120"/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5FABE9F7-0763-842F-3A28-6CCDBD197C70}"/>
              </a:ext>
            </a:extLst>
          </p:cNvPr>
          <p:cNvSpPr/>
          <p:nvPr/>
        </p:nvSpPr>
        <p:spPr>
          <a:xfrm>
            <a:off x="3403600" y="1397000"/>
            <a:ext cx="2590800" cy="3175000"/>
          </a:xfrm>
          <a:prstGeom prst="roundRect">
            <a:avLst>
              <a:gd name="adj" fmla="val 8000"/>
            </a:avLst>
          </a:prstGeom>
          <a:solidFill>
            <a:srgbClr val="E4F1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C3F6B826-0E81-3547-B302-55F7D46D30DC}"/>
              </a:ext>
            </a:extLst>
          </p:cNvPr>
          <p:cNvSpPr/>
          <p:nvPr/>
        </p:nvSpPr>
        <p:spPr>
          <a:xfrm>
            <a:off x="3632200" y="1625600"/>
            <a:ext cx="508000" cy="508000"/>
          </a:xfrm>
          <a:prstGeom prst="ellipse">
            <a:avLst/>
          </a:prstGeom>
          <a:solidFill>
            <a:srgbClr val="1F6F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altLang="zh-TW" sz="16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2</a:t>
            </a:r>
            <a:endParaRPr lang="zh-TW" altLang="en-US" sz="1600" b="1">
              <a:solidFill>
                <a:srgbClr val="FFFFFF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sym typeface="Microsoft JhengHei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FDF1D78-1328-9166-D181-ACD63B8C0E68}"/>
              </a:ext>
            </a:extLst>
          </p:cNvPr>
          <p:cNvSpPr txBox="1"/>
          <p:nvPr/>
        </p:nvSpPr>
        <p:spPr>
          <a:xfrm>
            <a:off x="3632200" y="23368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Apps Script </a:t>
            </a:r>
            <a:r>
              <a:rPr lang="zh-TW" altLang="en-US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後端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6446B22-5602-F621-4F7B-948F94EC6FF5}"/>
              </a:ext>
            </a:extLst>
          </p:cNvPr>
          <p:cNvSpPr txBox="1"/>
          <p:nvPr/>
        </p:nvSpPr>
        <p:spPr>
          <a:xfrm>
            <a:off x="3632200" y="27940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Google </a:t>
            </a:r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的雲端程式當作 </a:t>
            </a:r>
            <a:r>
              <a:rPr lang="en-US" altLang="zh-TW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API</a:t>
            </a:r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，負責借用、歸還、權限與資料驗證。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22C6F9A1-527E-9F9B-6B58-19C6ECEFC520}"/>
              </a:ext>
            </a:extLst>
          </p:cNvPr>
          <p:cNvSpPr/>
          <p:nvPr/>
        </p:nvSpPr>
        <p:spPr>
          <a:xfrm>
            <a:off x="3632200" y="3937000"/>
            <a:ext cx="2133600" cy="40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altLang="zh-TW" sz="1200" b="1">
                <a:solidFill>
                  <a:srgbClr val="1F6F7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apps-script/ </a:t>
            </a:r>
            <a:r>
              <a:rPr lang="zh-TW" altLang="en-US" sz="1200" b="1">
                <a:solidFill>
                  <a:srgbClr val="1F6F7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・ </a:t>
            </a:r>
            <a:r>
              <a:rPr lang="en-US" altLang="zh-TW" sz="1200" b="1">
                <a:solidFill>
                  <a:srgbClr val="1F6F7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Web App</a:t>
            </a:r>
            <a:endParaRPr lang="zh-TW" altLang="en-US" sz="1200" b="1">
              <a:solidFill>
                <a:srgbClr val="1F6F7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sym typeface="Microsoft JhengHei" panose="020B0604030504040204" pitchFamily="34" charset="-120"/>
            </a:endParaRP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1150B1AD-0E08-49F8-A172-CC75C843618B}"/>
              </a:ext>
            </a:extLst>
          </p:cNvPr>
          <p:cNvSpPr/>
          <p:nvPr/>
        </p:nvSpPr>
        <p:spPr>
          <a:xfrm>
            <a:off x="6197600" y="1397000"/>
            <a:ext cx="2590800" cy="3175000"/>
          </a:xfrm>
          <a:prstGeom prst="roundRect">
            <a:avLst>
              <a:gd name="adj" fmla="val 8000"/>
            </a:avLst>
          </a:prstGeom>
          <a:solidFill>
            <a:srgbClr val="E4F1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06989BA-0FCF-DD49-ED1A-F4320C4C1CAA}"/>
              </a:ext>
            </a:extLst>
          </p:cNvPr>
          <p:cNvSpPr/>
          <p:nvPr/>
        </p:nvSpPr>
        <p:spPr>
          <a:xfrm>
            <a:off x="6426200" y="1625600"/>
            <a:ext cx="508000" cy="508000"/>
          </a:xfrm>
          <a:prstGeom prst="ellipse">
            <a:avLst/>
          </a:prstGeom>
          <a:solidFill>
            <a:srgbClr val="1F6F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altLang="zh-TW" sz="16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3</a:t>
            </a:r>
            <a:endParaRPr lang="zh-TW" altLang="en-US" sz="1600" b="1">
              <a:solidFill>
                <a:srgbClr val="FFFFFF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sym typeface="Microsoft JhengHei" panose="020B0604030504040204" pitchFamily="34" charset="-12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B282F51F-1CEF-63ED-9E03-BFB9997ACD7C}"/>
              </a:ext>
            </a:extLst>
          </p:cNvPr>
          <p:cNvSpPr txBox="1"/>
          <p:nvPr/>
        </p:nvSpPr>
        <p:spPr>
          <a:xfrm>
            <a:off x="6426200" y="23368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Google </a:t>
            </a:r>
            <a:r>
              <a:rPr lang="zh-TW" altLang="en-US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試算表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01236AB8-08B7-64FE-EA9F-69F85C46E4AC}"/>
              </a:ext>
            </a:extLst>
          </p:cNvPr>
          <p:cNvSpPr txBox="1"/>
          <p:nvPr/>
        </p:nvSpPr>
        <p:spPr>
          <a:xfrm>
            <a:off x="6426200" y="27940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五張工作表就是資料庫，管理者可直接在試算表查看、篩選。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CC5ECA36-9C8C-63E8-0C64-9DDA23809627}"/>
              </a:ext>
            </a:extLst>
          </p:cNvPr>
          <p:cNvSpPr/>
          <p:nvPr/>
        </p:nvSpPr>
        <p:spPr>
          <a:xfrm>
            <a:off x="6426200" y="3937000"/>
            <a:ext cx="2133600" cy="40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zh-TW" altLang="en-US" sz="1200" b="1">
                <a:solidFill>
                  <a:srgbClr val="1F6F7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專案的 </a:t>
            </a:r>
            <a:r>
              <a:rPr lang="en-US" altLang="zh-TW" sz="1200" b="1">
                <a:solidFill>
                  <a:srgbClr val="1F6F7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Google </a:t>
            </a:r>
            <a:r>
              <a:rPr lang="zh-TW" altLang="en-US" sz="1200" b="1">
                <a:solidFill>
                  <a:srgbClr val="1F6F7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帳號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4219400A-0DD3-9D4F-08DD-917F3FA61212}"/>
              </a:ext>
            </a:extLst>
          </p:cNvPr>
          <p:cNvSpPr/>
          <p:nvPr/>
        </p:nvSpPr>
        <p:spPr>
          <a:xfrm>
            <a:off x="8991600" y="1397000"/>
            <a:ext cx="2590800" cy="3175000"/>
          </a:xfrm>
          <a:prstGeom prst="roundRect">
            <a:avLst>
              <a:gd name="adj" fmla="val 8000"/>
            </a:avLst>
          </a:prstGeom>
          <a:solidFill>
            <a:srgbClr val="E4F1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F44A2459-7D9D-A651-AD3D-9E135BD6548B}"/>
              </a:ext>
            </a:extLst>
          </p:cNvPr>
          <p:cNvSpPr/>
          <p:nvPr/>
        </p:nvSpPr>
        <p:spPr>
          <a:xfrm>
            <a:off x="9220200" y="1625600"/>
            <a:ext cx="508000" cy="508000"/>
          </a:xfrm>
          <a:prstGeom prst="ellipse">
            <a:avLst/>
          </a:prstGeom>
          <a:solidFill>
            <a:srgbClr val="1F6F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altLang="zh-TW" sz="16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4</a:t>
            </a:r>
            <a:endParaRPr lang="zh-TW" altLang="en-US" sz="1600" b="1">
              <a:solidFill>
                <a:srgbClr val="FFFFFF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sym typeface="Microsoft JhengHei" panose="020B0604030504040204" pitchFamily="34" charset="-12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4DBB7C11-C0E3-532D-293E-712FCC0734E8}"/>
              </a:ext>
            </a:extLst>
          </p:cNvPr>
          <p:cNvSpPr txBox="1"/>
          <p:nvPr/>
        </p:nvSpPr>
        <p:spPr>
          <a:xfrm>
            <a:off x="9220200" y="23368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每日自動催還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19119FE8-98ED-5C1C-A9AA-03CF53B1542F}"/>
              </a:ext>
            </a:extLst>
          </p:cNvPr>
          <p:cNvSpPr txBox="1"/>
          <p:nvPr/>
        </p:nvSpPr>
        <p:spPr>
          <a:xfrm>
            <a:off x="9220200" y="27940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每天 </a:t>
            </a:r>
            <a:r>
              <a:rPr lang="en-US" altLang="zh-TW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17:00 </a:t>
            </a:r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檢查逾期，自動寄信提醒借用者歸還。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E2076D84-C73D-6CBC-9A04-FE0A4A63E4AB}"/>
              </a:ext>
            </a:extLst>
          </p:cNvPr>
          <p:cNvSpPr/>
          <p:nvPr/>
        </p:nvSpPr>
        <p:spPr>
          <a:xfrm>
            <a:off x="9220200" y="3937000"/>
            <a:ext cx="2133600" cy="40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zh-TW" altLang="en-US" sz="1200" b="1">
                <a:solidFill>
                  <a:srgbClr val="1F6F7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時間觸發 ・ </a:t>
            </a:r>
            <a:r>
              <a:rPr lang="en-US" altLang="zh-TW" sz="1200" b="1">
                <a:solidFill>
                  <a:srgbClr val="1F6F7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MailApp</a:t>
            </a:r>
            <a:endParaRPr lang="zh-TW" altLang="en-US" sz="1200" b="1">
              <a:solidFill>
                <a:srgbClr val="1F6F7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sym typeface="Microsoft JhengHei" panose="020B0604030504040204" pitchFamily="34" charset="-120"/>
            </a:endParaRP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ECF69596-B378-EA33-F866-086AB220D015}"/>
              </a:ext>
            </a:extLst>
          </p:cNvPr>
          <p:cNvSpPr/>
          <p:nvPr/>
        </p:nvSpPr>
        <p:spPr>
          <a:xfrm>
            <a:off x="609600" y="4876800"/>
            <a:ext cx="10972800" cy="711200"/>
          </a:xfrm>
          <a:prstGeom prst="roundRect">
            <a:avLst>
              <a:gd name="adj" fmla="val 8000"/>
            </a:avLst>
          </a:prstGeom>
          <a:solidFill>
            <a:srgbClr val="FCEF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28600" tIns="50800" rIns="101600" bIns="50800" rtlCol="0" anchor="ctr"/>
          <a:lstStyle/>
          <a:p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全部使用免費服務：</a:t>
            </a:r>
            <a:r>
              <a:rPr lang="en-US" altLang="zh-TW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GitHub Pages </a:t>
            </a:r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放前端、</a:t>
            </a:r>
            <a:r>
              <a:rPr lang="en-US" altLang="zh-TW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Google Apps Script </a:t>
            </a:r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跑後端、</a:t>
            </a:r>
            <a:r>
              <a:rPr lang="en-US" altLang="zh-TW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Google </a:t>
            </a:r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試算表存資料，不需要自己架伺服器。</a:t>
            </a:r>
          </a:p>
        </p:txBody>
      </p:sp>
    </p:spTree>
    <p:extLst>
      <p:ext uri="{BB962C8B-B14F-4D97-AF65-F5344CB8AC3E}">
        <p14:creationId xmlns:p14="http://schemas.microsoft.com/office/powerpoint/2010/main" val="2403038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DA6321-C4B5-E77A-7E9F-A3F3E62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584200"/>
          </a:xfrm>
        </p:spPr>
        <p:txBody>
          <a:bodyPr wrap="square" lIns="0" tIns="0" rIns="0" bIns="0" anchor="t">
            <a:noAutofit/>
          </a:bodyPr>
          <a:lstStyle/>
          <a:p>
            <a:r>
              <a:rPr lang="zh-TW" altLang="en-US" sz="28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需求書的每一項，系統怎麼做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7792926-F0BC-890A-FB48-01E1ACB67CC8}"/>
              </a:ext>
            </a:extLst>
          </p:cNvPr>
          <p:cNvSpPr txBox="1"/>
          <p:nvPr/>
        </p:nvSpPr>
        <p:spPr>
          <a:xfrm>
            <a:off x="609600" y="2032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200" b="1">
                <a:solidFill>
                  <a:srgbClr val="E8A3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01 </a:t>
            </a:r>
            <a:r>
              <a:rPr lang="zh-TW" altLang="en-US" sz="1200" b="1">
                <a:solidFill>
                  <a:srgbClr val="E8A3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概觀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5CB9B8A-647B-0FAB-8798-FD660419B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2CFFA-BCF7-4941-9F1D-DE24BA5E8539}" type="slidenum">
              <a:rPr lang="zh-TW" altLang="en-US" smtClean="0"/>
              <a:t>3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49528A1-9BB5-1253-E251-5BC11CDD99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976560"/>
              </p:ext>
            </p:extLst>
          </p:nvPr>
        </p:nvGraphicFramePr>
        <p:xfrm>
          <a:off x="609600" y="1320800"/>
          <a:ext cx="10972800" cy="426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2611285982"/>
                    </a:ext>
                  </a:extLst>
                </a:gridCol>
                <a:gridCol w="8178800">
                  <a:extLst>
                    <a:ext uri="{9D8B030D-6E8A-4147-A177-3AD203B41FA5}">
                      <a16:colId xmlns:a16="http://schemas.microsoft.com/office/drawing/2014/main" val="2417048318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lang="zh-TW" altLang="en-US" sz="1400" b="1">
                          <a:solidFill>
                            <a:srgbClr val="FFFFFF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需求書項目</a:t>
                      </a:r>
                    </a:p>
                  </a:txBody>
                  <a:tcPr marL="127000" marR="127000" marT="63500" marB="63500" anchor="ctr">
                    <a:solidFill>
                      <a:srgbClr val="0F3B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b="1">
                          <a:solidFill>
                            <a:srgbClr val="FFFFFF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系統做法</a:t>
                      </a:r>
                    </a:p>
                  </a:txBody>
                  <a:tcPr marL="127000" marR="127000" marT="63500" marB="63500" anchor="ctr">
                    <a:solidFill>
                      <a:srgbClr val="0F3B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674929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zh-TW" altLang="en-US" sz="1400" b="1">
                          <a:solidFill>
                            <a:srgbClr val="0F3B47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免安裝 </a:t>
                      </a:r>
                      <a:r>
                        <a:rPr lang="en-US" altLang="zh-TW" sz="1400" b="1">
                          <a:solidFill>
                            <a:srgbClr val="0F3B47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App</a:t>
                      </a:r>
                      <a:r>
                        <a:rPr lang="zh-TW" altLang="en-US" sz="1400" b="1">
                          <a:solidFill>
                            <a:srgbClr val="0F3B47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（</a:t>
                      </a:r>
                      <a:r>
                        <a:rPr lang="en-US" altLang="zh-TW" sz="1400" b="1">
                          <a:solidFill>
                            <a:srgbClr val="0F3B47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3.2</a:t>
                      </a:r>
                      <a:r>
                        <a:rPr lang="zh-TW" altLang="en-US" sz="1400" b="1">
                          <a:solidFill>
                            <a:srgbClr val="0F3B47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）</a:t>
                      </a:r>
                    </a:p>
                  </a:txBody>
                  <a:tcPr marL="127000" marR="1270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>
                          <a:solidFill>
                            <a:srgbClr val="1F2A3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QR Code </a:t>
                      </a:r>
                      <a:r>
                        <a:rPr lang="zh-TW" altLang="en-US" sz="1400" b="0">
                          <a:solidFill>
                            <a:srgbClr val="1F2A3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內容是網址（</a:t>
                      </a:r>
                      <a:r>
                        <a:rPr lang="en-US" altLang="zh-TW" sz="1400" b="0">
                          <a:solidFill>
                            <a:srgbClr val="1F2A3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…/?item=A31</a:t>
                      </a:r>
                      <a:r>
                        <a:rPr lang="zh-TW" altLang="en-US" sz="1400" b="0">
                          <a:solidFill>
                            <a:srgbClr val="1F2A3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），手機相機一掃就開啟網頁</a:t>
                      </a:r>
                    </a:p>
                  </a:txBody>
                  <a:tcPr marL="127000" marR="1270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22757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zh-TW" altLang="en-US" sz="1400" b="1">
                          <a:solidFill>
                            <a:srgbClr val="0F3B47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購物車式連續掃描</a:t>
                      </a:r>
                    </a:p>
                  </a:txBody>
                  <a:tcPr marL="127000" marR="127000" marT="63500" marB="635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b="0">
                          <a:solidFill>
                            <a:srgbClr val="1F2A3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清單存在手機瀏覽器；頁面內也能開相機連續掃多件</a:t>
                      </a:r>
                    </a:p>
                  </a:txBody>
                  <a:tcPr marL="127000" marR="127000" marT="63500" marB="63500" anchor="ctr"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581627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zh-TW" altLang="en-US" sz="1400" b="1">
                          <a:solidFill>
                            <a:srgbClr val="0F3B47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管理者代填</a:t>
                      </a:r>
                    </a:p>
                  </a:txBody>
                  <a:tcPr marL="127000" marR="1270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b="0">
                          <a:solidFill>
                            <a:srgbClr val="1F2A3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管理者登入後送出，紀錄標示「管理者</a:t>
                      </a:r>
                      <a:r>
                        <a:rPr lang="en-US" altLang="zh-TW" sz="1400" b="0">
                          <a:solidFill>
                            <a:srgbClr val="1F2A3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sz="1400" b="0">
                          <a:solidFill>
                            <a:srgbClr val="1F2A3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姓名</a:t>
                      </a:r>
                      <a:r>
                        <a:rPr lang="en-US" altLang="zh-TW" sz="1400" b="0">
                          <a:solidFill>
                            <a:srgbClr val="1F2A3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)</a:t>
                      </a:r>
                      <a:r>
                        <a:rPr lang="zh-TW" altLang="en-US" sz="1400" b="0">
                          <a:solidFill>
                            <a:srgbClr val="1F2A3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代填」</a:t>
                      </a:r>
                    </a:p>
                  </a:txBody>
                  <a:tcPr marL="127000" marR="1270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826405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zh-TW" altLang="en-US" sz="1400" b="1">
                          <a:solidFill>
                            <a:srgbClr val="0F3B47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分批歸還（</a:t>
                      </a:r>
                      <a:r>
                        <a:rPr lang="en-US" altLang="zh-TW" sz="1400" b="1">
                          <a:solidFill>
                            <a:srgbClr val="0F3B47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3.3</a:t>
                      </a:r>
                      <a:r>
                        <a:rPr lang="zh-TW" altLang="en-US" sz="1400" b="1">
                          <a:solidFill>
                            <a:srgbClr val="0F3B47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）</a:t>
                      </a:r>
                    </a:p>
                  </a:txBody>
                  <a:tcPr marL="127000" marR="127000" marT="63500" marB="635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b="0">
                          <a:solidFill>
                            <a:srgbClr val="1F2A3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借用紀錄一件一列，逐件結清；未還的繼續記在借用者名下</a:t>
                      </a:r>
                    </a:p>
                  </a:txBody>
                  <a:tcPr marL="127000" marR="127000" marT="63500" marB="63500" anchor="ctr"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888067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zh-TW" altLang="en-US" sz="1400" b="1">
                          <a:solidFill>
                            <a:srgbClr val="0F3B47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自動催還（</a:t>
                      </a:r>
                      <a:r>
                        <a:rPr lang="en-US" altLang="zh-TW" sz="1400" b="1">
                          <a:solidFill>
                            <a:srgbClr val="0F3B47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3.4</a:t>
                      </a:r>
                      <a:r>
                        <a:rPr lang="zh-TW" altLang="en-US" sz="1400" b="1">
                          <a:solidFill>
                            <a:srgbClr val="0F3B47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）</a:t>
                      </a:r>
                    </a:p>
                  </a:txBody>
                  <a:tcPr marL="127000" marR="1270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b="0">
                          <a:solidFill>
                            <a:srgbClr val="1F2A3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每天定時檢查，超過預計歸還日（</a:t>
                      </a:r>
                      <a:r>
                        <a:rPr lang="en-US" altLang="zh-TW" sz="1400" b="0">
                          <a:solidFill>
                            <a:srgbClr val="1F2A3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10/9 </a:t>
                      </a:r>
                      <a:r>
                        <a:rPr lang="zh-TW" altLang="en-US" sz="1400" b="0">
                          <a:solidFill>
                            <a:srgbClr val="1F2A3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到期，</a:t>
                      </a:r>
                      <a:r>
                        <a:rPr lang="en-US" altLang="zh-TW" sz="1400" b="0">
                          <a:solidFill>
                            <a:srgbClr val="1F2A3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10/10 </a:t>
                      </a:r>
                      <a:r>
                        <a:rPr lang="zh-TW" altLang="en-US" sz="1400" b="0">
                          <a:solidFill>
                            <a:srgbClr val="1F2A3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起）就寄信</a:t>
                      </a:r>
                    </a:p>
                  </a:txBody>
                  <a:tcPr marL="127000" marR="1270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085884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zh-TW" altLang="en-US" sz="1400" b="1">
                          <a:solidFill>
                            <a:srgbClr val="0F3B47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異動履歷（</a:t>
                      </a:r>
                      <a:r>
                        <a:rPr lang="en-US" altLang="zh-TW" sz="1400" b="1">
                          <a:solidFill>
                            <a:srgbClr val="0F3B47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3.5</a:t>
                      </a:r>
                      <a:r>
                        <a:rPr lang="zh-TW" altLang="en-US" sz="1400" b="1">
                          <a:solidFill>
                            <a:srgbClr val="0F3B47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）</a:t>
                      </a:r>
                    </a:p>
                  </a:txBody>
                  <a:tcPr marL="127000" marR="127000" marT="63500" marB="635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b="0">
                          <a:solidFill>
                            <a:srgbClr val="1F2A3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借出、部分歸還、完全歸還、送修、移轉、催還都寫入 </a:t>
                      </a:r>
                      <a:r>
                        <a:rPr lang="en-US" altLang="zh-TW" sz="1400" b="0">
                          <a:solidFill>
                            <a:srgbClr val="1F2A3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Logs</a:t>
                      </a:r>
                      <a:endParaRPr lang="zh-TW" altLang="en-US" sz="1400" b="0">
                        <a:solidFill>
                          <a:srgbClr val="1F2A30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sym typeface="Microsoft JhengHei" panose="020B0604030504040204" pitchFamily="34" charset="-120"/>
                      </a:endParaRPr>
                    </a:p>
                  </a:txBody>
                  <a:tcPr marL="127000" marR="127000" marT="63500" marB="63500" anchor="ctr"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467499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altLang="zh-TW" sz="1400" b="1">
                          <a:solidFill>
                            <a:srgbClr val="0F3B47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QR Code </a:t>
                      </a:r>
                      <a:r>
                        <a:rPr lang="zh-TW" altLang="en-US" sz="1400" b="1">
                          <a:solidFill>
                            <a:srgbClr val="0F3B47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管理（</a:t>
                      </a:r>
                      <a:r>
                        <a:rPr lang="en-US" altLang="zh-TW" sz="1400" b="1">
                          <a:solidFill>
                            <a:srgbClr val="0F3B47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3.1</a:t>
                      </a:r>
                      <a:r>
                        <a:rPr lang="zh-TW" altLang="en-US" sz="1400" b="1">
                          <a:solidFill>
                            <a:srgbClr val="0F3B47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）</a:t>
                      </a:r>
                    </a:p>
                  </a:txBody>
                  <a:tcPr marL="127000" marR="1270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b="0">
                          <a:solidFill>
                            <a:srgbClr val="1F2A3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管理頁勾選展品，直接列印 </a:t>
                      </a:r>
                      <a:r>
                        <a:rPr lang="en-US" altLang="zh-TW" sz="1400" b="0">
                          <a:solidFill>
                            <a:srgbClr val="1F2A3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QR Code </a:t>
                      </a:r>
                      <a:r>
                        <a:rPr lang="zh-TW" altLang="en-US" sz="1400" b="0">
                          <a:solidFill>
                            <a:srgbClr val="1F2A3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標籤</a:t>
                      </a:r>
                    </a:p>
                  </a:txBody>
                  <a:tcPr marL="127000" marR="1270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4169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0461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2FE1E5-E502-2726-BD80-1CB3EF1DC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584200"/>
          </a:xfrm>
        </p:spPr>
        <p:txBody>
          <a:bodyPr wrap="square" lIns="0" tIns="0" rIns="0" bIns="0" anchor="t">
            <a:noAutofit/>
          </a:bodyPr>
          <a:lstStyle/>
          <a:p>
            <a:r>
              <a:rPr lang="zh-TW" altLang="en-US" sz="28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系統架構：前端、後端、資料分開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2520466-D7DE-9A6B-2B1A-122E5996DDA5}"/>
              </a:ext>
            </a:extLst>
          </p:cNvPr>
          <p:cNvSpPr txBox="1"/>
          <p:nvPr/>
        </p:nvSpPr>
        <p:spPr>
          <a:xfrm>
            <a:off x="609600" y="2032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200" b="1">
                <a:solidFill>
                  <a:srgbClr val="E8A3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02 </a:t>
            </a:r>
            <a:r>
              <a:rPr lang="zh-TW" altLang="en-US" sz="1200" b="1">
                <a:solidFill>
                  <a:srgbClr val="E8A3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架構與流程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806EE7C-E82F-DD0B-9EE7-A12485158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2CFFA-BCF7-4941-9F1D-DE24BA5E8539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4CF54468-3FA1-8A0D-4D9F-FE8F2B37FBB9}"/>
              </a:ext>
            </a:extLst>
          </p:cNvPr>
          <p:cNvSpPr/>
          <p:nvPr/>
        </p:nvSpPr>
        <p:spPr>
          <a:xfrm>
            <a:off x="609600" y="1524000"/>
            <a:ext cx="2667000" cy="1651000"/>
          </a:xfrm>
          <a:prstGeom prst="roundRect">
            <a:avLst>
              <a:gd name="adj" fmla="val 8000"/>
            </a:avLst>
          </a:prstGeom>
          <a:solidFill>
            <a:srgbClr val="E4F1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zh-TW" altLang="en-US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手機瀏覽器</a:t>
            </a:r>
          </a:p>
          <a:p>
            <a:pPr algn="ctr"/>
            <a:r>
              <a:rPr lang="zh-TW" altLang="en-US" sz="1300">
                <a:solidFill>
                  <a:srgbClr val="5F6B7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借用者・管理者</a:t>
            </a:r>
          </a:p>
          <a:p>
            <a:pPr algn="ctr"/>
            <a:r>
              <a:rPr lang="en-US" altLang="zh-TW" sz="1300" b="1">
                <a:solidFill>
                  <a:srgbClr val="1F6F7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web/</a:t>
            </a:r>
            <a:r>
              <a:rPr lang="zh-TW" altLang="en-US" sz="1300" b="1">
                <a:solidFill>
                  <a:srgbClr val="1F6F7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（</a:t>
            </a:r>
            <a:r>
              <a:rPr lang="en-US" altLang="zh-TW" sz="1300" b="1">
                <a:solidFill>
                  <a:srgbClr val="1F6F7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GitHub Pages</a:t>
            </a:r>
            <a:r>
              <a:rPr lang="zh-TW" altLang="en-US" sz="1300" b="1">
                <a:solidFill>
                  <a:srgbClr val="1F6F7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）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2762662D-E4AD-3A8A-5BC6-249766E02619}"/>
              </a:ext>
            </a:extLst>
          </p:cNvPr>
          <p:cNvSpPr/>
          <p:nvPr/>
        </p:nvSpPr>
        <p:spPr>
          <a:xfrm>
            <a:off x="4762500" y="1524000"/>
            <a:ext cx="2667000" cy="1651000"/>
          </a:xfrm>
          <a:prstGeom prst="roundRect">
            <a:avLst>
              <a:gd name="adj" fmla="val 8000"/>
            </a:avLst>
          </a:prstGeom>
          <a:solidFill>
            <a:srgbClr val="1F6F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altLang="zh-TW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Apps Script Web App</a:t>
            </a:r>
          </a:p>
          <a:p>
            <a:pPr algn="ctr"/>
            <a:r>
              <a:rPr lang="en-US" altLang="zh-TW" sz="130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doPost </a:t>
            </a:r>
            <a:r>
              <a:rPr lang="zh-TW" altLang="en-US" sz="130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路由・權限檢查</a:t>
            </a:r>
          </a:p>
          <a:p>
            <a:pPr algn="ctr"/>
            <a:r>
              <a:rPr lang="zh-TW" altLang="en-US" sz="130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寫入時加鎖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7B704925-D116-53F3-85D8-A8D8942945A1}"/>
              </a:ext>
            </a:extLst>
          </p:cNvPr>
          <p:cNvSpPr/>
          <p:nvPr/>
        </p:nvSpPr>
        <p:spPr>
          <a:xfrm>
            <a:off x="8915400" y="1524000"/>
            <a:ext cx="2667000" cy="1651000"/>
          </a:xfrm>
          <a:prstGeom prst="roundRect">
            <a:avLst>
              <a:gd name="adj" fmla="val 8000"/>
            </a:avLst>
          </a:prstGeom>
          <a:solidFill>
            <a:srgbClr val="E4F1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altLang="zh-TW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Google </a:t>
            </a:r>
            <a:r>
              <a:rPr lang="zh-TW" altLang="en-US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試算表</a:t>
            </a:r>
          </a:p>
          <a:p>
            <a:pPr algn="ctr"/>
            <a:r>
              <a:rPr lang="en-US" altLang="zh-TW" sz="1300">
                <a:solidFill>
                  <a:srgbClr val="5F6B7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Items</a:t>
            </a:r>
            <a:r>
              <a:rPr lang="zh-TW" altLang="en-US" sz="1300">
                <a:solidFill>
                  <a:srgbClr val="5F6B7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・</a:t>
            </a:r>
            <a:r>
              <a:rPr lang="en-US" altLang="zh-TW" sz="1300">
                <a:solidFill>
                  <a:srgbClr val="5F6B7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Loans</a:t>
            </a:r>
            <a:r>
              <a:rPr lang="zh-TW" altLang="en-US" sz="1300">
                <a:solidFill>
                  <a:srgbClr val="5F6B7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・</a:t>
            </a:r>
            <a:r>
              <a:rPr lang="en-US" altLang="zh-TW" sz="1300">
                <a:solidFill>
                  <a:srgbClr val="5F6B7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Logs</a:t>
            </a:r>
          </a:p>
          <a:p>
            <a:pPr algn="ctr"/>
            <a:r>
              <a:rPr lang="en-US" altLang="zh-TW" sz="1300">
                <a:solidFill>
                  <a:srgbClr val="5F6B7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Borrowers</a:t>
            </a:r>
            <a:r>
              <a:rPr lang="zh-TW" altLang="en-US" sz="1300">
                <a:solidFill>
                  <a:srgbClr val="5F6B7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・</a:t>
            </a:r>
            <a:r>
              <a:rPr lang="en-US" altLang="zh-TW" sz="1300">
                <a:solidFill>
                  <a:srgbClr val="5F6B7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Settings</a:t>
            </a:r>
            <a:endParaRPr lang="zh-TW" altLang="en-US" sz="1300">
              <a:solidFill>
                <a:srgbClr val="5F6B7A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sym typeface="Microsoft JhengHei" panose="020B0604030504040204" pitchFamily="34" charset="-120"/>
            </a:endParaRP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CFE09687-571C-59F5-D3A1-220B9B382FFA}"/>
              </a:ext>
            </a:extLst>
          </p:cNvPr>
          <p:cNvCxnSpPr/>
          <p:nvPr/>
        </p:nvCxnSpPr>
        <p:spPr>
          <a:xfrm>
            <a:off x="3276600" y="2349500"/>
            <a:ext cx="1485900" cy="0"/>
          </a:xfrm>
          <a:prstGeom prst="straightConnector1">
            <a:avLst/>
          </a:prstGeom>
          <a:ln w="31750">
            <a:solidFill>
              <a:srgbClr val="1F6F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9E9B4E0C-4BD2-84C0-35C8-6017A0B80794}"/>
              </a:ext>
            </a:extLst>
          </p:cNvPr>
          <p:cNvSpPr txBox="1"/>
          <p:nvPr/>
        </p:nvSpPr>
        <p:spPr>
          <a:xfrm>
            <a:off x="3276600" y="2438400"/>
            <a:ext cx="14859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TW" sz="1100">
                <a:solidFill>
                  <a:srgbClr val="5F6B7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HTTPS POST</a:t>
            </a:r>
          </a:p>
          <a:p>
            <a:pPr algn="ctr"/>
            <a:r>
              <a:rPr lang="en-US" altLang="zh-TW" sz="1100">
                <a:solidFill>
                  <a:srgbClr val="5F6B7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JSON</a:t>
            </a:r>
            <a:endParaRPr lang="zh-TW" altLang="en-US" sz="1100">
              <a:solidFill>
                <a:srgbClr val="5F6B7A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sym typeface="Microsoft JhengHei" panose="020B0604030504040204" pitchFamily="34" charset="-120"/>
            </a:endParaRP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EBCA3F8D-37DB-4BDB-D926-C44E41E27D8F}"/>
              </a:ext>
            </a:extLst>
          </p:cNvPr>
          <p:cNvCxnSpPr/>
          <p:nvPr/>
        </p:nvCxnSpPr>
        <p:spPr>
          <a:xfrm>
            <a:off x="7429500" y="2349500"/>
            <a:ext cx="1485900" cy="0"/>
          </a:xfrm>
          <a:prstGeom prst="straightConnector1">
            <a:avLst/>
          </a:prstGeom>
          <a:ln w="31750">
            <a:solidFill>
              <a:srgbClr val="1F6F78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41E2093-1842-D921-7727-D63A7986E310}"/>
              </a:ext>
            </a:extLst>
          </p:cNvPr>
          <p:cNvSpPr txBox="1"/>
          <p:nvPr/>
        </p:nvSpPr>
        <p:spPr>
          <a:xfrm>
            <a:off x="7429500" y="2438400"/>
            <a:ext cx="14859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1100">
                <a:solidFill>
                  <a:srgbClr val="5F6B7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讀取／寫入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4CB94EF4-DD50-5F2D-34D4-9752B3147CDC}"/>
              </a:ext>
            </a:extLst>
          </p:cNvPr>
          <p:cNvSpPr/>
          <p:nvPr/>
        </p:nvSpPr>
        <p:spPr>
          <a:xfrm>
            <a:off x="609600" y="4064000"/>
            <a:ext cx="2667000" cy="88900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altLang="zh-TW" sz="16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GitHub repo</a:t>
            </a:r>
          </a:p>
          <a:p>
            <a:pPr algn="ctr"/>
            <a:r>
              <a:rPr lang="en-US" altLang="zh-TW" sz="1200">
                <a:solidFill>
                  <a:srgbClr val="5F6B7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push </a:t>
            </a:r>
            <a:r>
              <a:rPr lang="zh-TW" altLang="en-US" sz="1200">
                <a:solidFill>
                  <a:srgbClr val="5F6B7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後自動部署前端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466711D1-0B16-B3E8-810E-DFC762524399}"/>
              </a:ext>
            </a:extLst>
          </p:cNvPr>
          <p:cNvSpPr/>
          <p:nvPr/>
        </p:nvSpPr>
        <p:spPr>
          <a:xfrm>
            <a:off x="4762500" y="4064000"/>
            <a:ext cx="2667000" cy="889000"/>
          </a:xfrm>
          <a:prstGeom prst="roundRect">
            <a:avLst>
              <a:gd name="adj" fmla="val 8000"/>
            </a:avLst>
          </a:prstGeom>
          <a:solidFill>
            <a:srgbClr val="FCEF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zh-TW" altLang="en-US" sz="16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每日 </a:t>
            </a:r>
            <a:r>
              <a:rPr lang="en-US" altLang="zh-TW" sz="16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17:00 </a:t>
            </a:r>
            <a:r>
              <a:rPr lang="zh-TW" altLang="en-US" sz="16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排程</a:t>
            </a:r>
          </a:p>
          <a:p>
            <a:pPr algn="ctr"/>
            <a:r>
              <a:rPr lang="en-US" altLang="zh-TW" sz="1200">
                <a:solidFill>
                  <a:srgbClr val="5F6B7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Apps Script </a:t>
            </a:r>
            <a:r>
              <a:rPr lang="zh-TW" altLang="en-US" sz="1200">
                <a:solidFill>
                  <a:srgbClr val="5F6B7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時間觸發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2A147356-C776-AE36-5A71-BA60917A1F1B}"/>
              </a:ext>
            </a:extLst>
          </p:cNvPr>
          <p:cNvSpPr/>
          <p:nvPr/>
        </p:nvSpPr>
        <p:spPr>
          <a:xfrm>
            <a:off x="8915400" y="4064000"/>
            <a:ext cx="2667000" cy="889000"/>
          </a:xfrm>
          <a:prstGeom prst="roundRect">
            <a:avLst>
              <a:gd name="adj" fmla="val 8000"/>
            </a:avLst>
          </a:prstGeom>
          <a:solidFill>
            <a:srgbClr val="FCEF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zh-TW" altLang="en-US" sz="16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催還 </a:t>
            </a:r>
            <a:r>
              <a:rPr lang="en-US" altLang="zh-TW" sz="16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Email</a:t>
            </a:r>
          </a:p>
          <a:p>
            <a:pPr algn="ctr"/>
            <a:r>
              <a:rPr lang="zh-TW" altLang="en-US" sz="1200">
                <a:solidFill>
                  <a:srgbClr val="5F6B7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寄給逾期的借用者</a:t>
            </a:r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1131F32F-2A4C-821B-C087-102E3ACFBB47}"/>
              </a:ext>
            </a:extLst>
          </p:cNvPr>
          <p:cNvCxnSpPr/>
          <p:nvPr/>
        </p:nvCxnSpPr>
        <p:spPr>
          <a:xfrm flipV="1">
            <a:off x="1943100" y="3200400"/>
            <a:ext cx="0" cy="863600"/>
          </a:xfrm>
          <a:prstGeom prst="straightConnector1">
            <a:avLst/>
          </a:prstGeom>
          <a:ln w="25400">
            <a:solidFill>
              <a:srgbClr val="5F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B5A8DC13-E5E7-9F12-D576-6BAD5435970A}"/>
              </a:ext>
            </a:extLst>
          </p:cNvPr>
          <p:cNvCxnSpPr/>
          <p:nvPr/>
        </p:nvCxnSpPr>
        <p:spPr>
          <a:xfrm flipV="1">
            <a:off x="6096000" y="3200400"/>
            <a:ext cx="0" cy="863600"/>
          </a:xfrm>
          <a:prstGeom prst="straightConnector1">
            <a:avLst/>
          </a:prstGeom>
          <a:ln w="25400">
            <a:solidFill>
              <a:srgbClr val="A86A1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E0870CA4-E338-44BB-61E7-D34811136E13}"/>
              </a:ext>
            </a:extLst>
          </p:cNvPr>
          <p:cNvCxnSpPr/>
          <p:nvPr/>
        </p:nvCxnSpPr>
        <p:spPr>
          <a:xfrm>
            <a:off x="7429500" y="4508500"/>
            <a:ext cx="1485900" cy="0"/>
          </a:xfrm>
          <a:prstGeom prst="straightConnector1">
            <a:avLst/>
          </a:prstGeom>
          <a:ln w="25400">
            <a:solidFill>
              <a:srgbClr val="A86A1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E5E6B365-D4E7-322F-6EAD-F1B3CC202E0F}"/>
              </a:ext>
            </a:extLst>
          </p:cNvPr>
          <p:cNvSpPr txBox="1"/>
          <p:nvPr/>
        </p:nvSpPr>
        <p:spPr>
          <a:xfrm>
            <a:off x="7429500" y="4216400"/>
            <a:ext cx="14859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TW" sz="1100">
                <a:solidFill>
                  <a:srgbClr val="5F6B7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MailApp</a:t>
            </a:r>
            <a:endParaRPr lang="zh-TW" altLang="en-US" sz="1100">
              <a:solidFill>
                <a:srgbClr val="5F6B7A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sym typeface="Microsoft JhengHei" panose="020B0604030504040204" pitchFamily="34" charset="-12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98F9D08C-BAA0-AB84-396D-73E8FDE42CCF}"/>
              </a:ext>
            </a:extLst>
          </p:cNvPr>
          <p:cNvSpPr txBox="1"/>
          <p:nvPr/>
        </p:nvSpPr>
        <p:spPr>
          <a:xfrm>
            <a:off x="609600" y="53975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>
                <a:solidFill>
                  <a:srgbClr val="5F6B7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前端只放畫面，資料與規則都在後端：手機只能透過 </a:t>
            </a:r>
            <a:r>
              <a:rPr lang="en-US" altLang="zh-TW" sz="1400">
                <a:solidFill>
                  <a:srgbClr val="5F6B7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API </a:t>
            </a:r>
            <a:r>
              <a:rPr lang="zh-TW" altLang="en-US" sz="1400">
                <a:solidFill>
                  <a:srgbClr val="5F6B7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存取試算表，無法直接修改資料。</a:t>
            </a:r>
          </a:p>
        </p:txBody>
      </p:sp>
    </p:spTree>
    <p:extLst>
      <p:ext uri="{BB962C8B-B14F-4D97-AF65-F5344CB8AC3E}">
        <p14:creationId xmlns:p14="http://schemas.microsoft.com/office/powerpoint/2010/main" val="1857021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E245EF-483C-CF3B-A7FA-9B233D1F3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584200"/>
          </a:xfrm>
        </p:spPr>
        <p:txBody>
          <a:bodyPr wrap="square" lIns="0" tIns="0" rIns="0" bIns="0" anchor="t">
            <a:noAutofit/>
          </a:bodyPr>
          <a:lstStyle/>
          <a:p>
            <a:r>
              <a:rPr lang="zh-TW" altLang="en-US" sz="28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使用流程：像掃碼點餐一樣借還展品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497368B-414C-5841-DF35-A82D4A20CDB5}"/>
              </a:ext>
            </a:extLst>
          </p:cNvPr>
          <p:cNvSpPr txBox="1"/>
          <p:nvPr/>
        </p:nvSpPr>
        <p:spPr>
          <a:xfrm>
            <a:off x="609600" y="2032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200" b="1">
                <a:solidFill>
                  <a:srgbClr val="E8A3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02 </a:t>
            </a:r>
            <a:r>
              <a:rPr lang="zh-TW" altLang="en-US" sz="1200" b="1">
                <a:solidFill>
                  <a:srgbClr val="E8A3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架構與流程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C0A0E0B-15FC-895A-EFE8-72EB87C5A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2CFFA-BCF7-4941-9F1D-DE24BA5E8539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009C3865-103B-8C36-B8B4-EE6EC27A6F77}"/>
              </a:ext>
            </a:extLst>
          </p:cNvPr>
          <p:cNvSpPr/>
          <p:nvPr/>
        </p:nvSpPr>
        <p:spPr>
          <a:xfrm>
            <a:off x="1346200" y="1346200"/>
            <a:ext cx="558800" cy="558800"/>
          </a:xfrm>
          <a:prstGeom prst="ellipse">
            <a:avLst/>
          </a:prstGeom>
          <a:solidFill>
            <a:srgbClr val="1F6F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altLang="zh-TW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1</a:t>
            </a:r>
            <a:endParaRPr lang="zh-TW" altLang="en-US" b="1">
              <a:solidFill>
                <a:srgbClr val="FFFFFF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sym typeface="Microsoft JhengHei" panose="020B0604030504040204" pitchFamily="34" charset="-120"/>
            </a:endParaRPr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FDF7518B-357E-72CA-B9B2-3A5E4A1B7F74}"/>
              </a:ext>
            </a:extLst>
          </p:cNvPr>
          <p:cNvCxnSpPr/>
          <p:nvPr/>
        </p:nvCxnSpPr>
        <p:spPr>
          <a:xfrm>
            <a:off x="1981200" y="1625600"/>
            <a:ext cx="1524000" cy="0"/>
          </a:xfrm>
          <a:prstGeom prst="straightConnector1">
            <a:avLst/>
          </a:prstGeom>
          <a:ln w="25400">
            <a:solidFill>
              <a:srgbClr val="C9CED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5C9EF26D-1FBB-40A9-741F-18DC594166BF}"/>
              </a:ext>
            </a:extLst>
          </p:cNvPr>
          <p:cNvSpPr/>
          <p:nvPr/>
        </p:nvSpPr>
        <p:spPr>
          <a:xfrm>
            <a:off x="609600" y="2108200"/>
            <a:ext cx="2032000" cy="1625600"/>
          </a:xfrm>
          <a:prstGeom prst="roundRect">
            <a:avLst>
              <a:gd name="adj" fmla="val 8000"/>
            </a:avLst>
          </a:prstGeom>
          <a:solidFill>
            <a:srgbClr val="E4F1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BEA3E14-E2DA-ED60-E0EA-64CDCB3D5D08}"/>
              </a:ext>
            </a:extLst>
          </p:cNvPr>
          <p:cNvSpPr txBox="1"/>
          <p:nvPr/>
        </p:nvSpPr>
        <p:spPr>
          <a:xfrm>
            <a:off x="787400" y="2286000"/>
            <a:ext cx="167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6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掃描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6D62A84-3345-F6E3-7A5A-E18922506493}"/>
              </a:ext>
            </a:extLst>
          </p:cNvPr>
          <p:cNvSpPr txBox="1"/>
          <p:nvPr/>
        </p:nvSpPr>
        <p:spPr>
          <a:xfrm>
            <a:off x="787400" y="2692400"/>
            <a:ext cx="167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手機內建相機掃展品上的 </a:t>
            </a:r>
            <a:r>
              <a:rPr lang="en-US" altLang="zh-TW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QR Code</a:t>
            </a:r>
            <a:endParaRPr lang="zh-TW" altLang="en-US" sz="1400">
              <a:solidFill>
                <a:srgbClr val="1F2A3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sym typeface="Microsoft JhengHei" panose="020B0604030504040204" pitchFamily="34" charset="-120"/>
            </a:endParaRP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668F1785-1526-4E79-1A93-30562DB4E88D}"/>
              </a:ext>
            </a:extLst>
          </p:cNvPr>
          <p:cNvSpPr/>
          <p:nvPr/>
        </p:nvSpPr>
        <p:spPr>
          <a:xfrm>
            <a:off x="3581400" y="1346200"/>
            <a:ext cx="558800" cy="558800"/>
          </a:xfrm>
          <a:prstGeom prst="ellipse">
            <a:avLst/>
          </a:prstGeom>
          <a:solidFill>
            <a:srgbClr val="1F6F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altLang="zh-TW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2</a:t>
            </a:r>
            <a:endParaRPr lang="zh-TW" altLang="en-US" b="1">
              <a:solidFill>
                <a:srgbClr val="FFFFFF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sym typeface="Microsoft JhengHei" panose="020B0604030504040204" pitchFamily="34" charset="-120"/>
            </a:endParaRP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DDC4C070-AB51-0CAA-EDBE-089F5AAA836F}"/>
              </a:ext>
            </a:extLst>
          </p:cNvPr>
          <p:cNvCxnSpPr/>
          <p:nvPr/>
        </p:nvCxnSpPr>
        <p:spPr>
          <a:xfrm>
            <a:off x="4216400" y="1625600"/>
            <a:ext cx="1524000" cy="0"/>
          </a:xfrm>
          <a:prstGeom prst="straightConnector1">
            <a:avLst/>
          </a:prstGeom>
          <a:ln w="25400">
            <a:solidFill>
              <a:srgbClr val="C9CED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CE51B3BA-2411-0D3D-9D69-1EC6CA93FC3F}"/>
              </a:ext>
            </a:extLst>
          </p:cNvPr>
          <p:cNvSpPr/>
          <p:nvPr/>
        </p:nvSpPr>
        <p:spPr>
          <a:xfrm>
            <a:off x="2844800" y="2108200"/>
            <a:ext cx="2032000" cy="1625600"/>
          </a:xfrm>
          <a:prstGeom prst="roundRect">
            <a:avLst>
              <a:gd name="adj" fmla="val 8000"/>
            </a:avLst>
          </a:prstGeom>
          <a:solidFill>
            <a:srgbClr val="E4F1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110D644-D1E8-FF10-ACA3-158F4F111E2C}"/>
              </a:ext>
            </a:extLst>
          </p:cNvPr>
          <p:cNvSpPr txBox="1"/>
          <p:nvPr/>
        </p:nvSpPr>
        <p:spPr>
          <a:xfrm>
            <a:off x="3022600" y="2286000"/>
            <a:ext cx="167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6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開啟網頁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9C2E0DF6-86A3-EDAF-4345-C9541EA39C00}"/>
              </a:ext>
            </a:extLst>
          </p:cNvPr>
          <p:cNvSpPr txBox="1"/>
          <p:nvPr/>
        </p:nvSpPr>
        <p:spPr>
          <a:xfrm>
            <a:off x="3022600" y="2692400"/>
            <a:ext cx="167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網址帶展品編號，自動查詢目前狀態</a:t>
            </a: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650AE0CC-0226-9FF7-0FF2-C38C3EDFD847}"/>
              </a:ext>
            </a:extLst>
          </p:cNvPr>
          <p:cNvSpPr/>
          <p:nvPr/>
        </p:nvSpPr>
        <p:spPr>
          <a:xfrm>
            <a:off x="5816600" y="1346200"/>
            <a:ext cx="558800" cy="558800"/>
          </a:xfrm>
          <a:prstGeom prst="ellipse">
            <a:avLst/>
          </a:prstGeom>
          <a:solidFill>
            <a:srgbClr val="1F6F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altLang="zh-TW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3</a:t>
            </a:r>
            <a:endParaRPr lang="zh-TW" altLang="en-US" b="1">
              <a:solidFill>
                <a:srgbClr val="FFFFFF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sym typeface="Microsoft JhengHei" panose="020B0604030504040204" pitchFamily="34" charset="-120"/>
            </a:endParaRP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56D4F318-8453-91DF-6278-3A3EDEE6A71D}"/>
              </a:ext>
            </a:extLst>
          </p:cNvPr>
          <p:cNvCxnSpPr/>
          <p:nvPr/>
        </p:nvCxnSpPr>
        <p:spPr>
          <a:xfrm>
            <a:off x="6451600" y="1625600"/>
            <a:ext cx="1524000" cy="0"/>
          </a:xfrm>
          <a:prstGeom prst="straightConnector1">
            <a:avLst/>
          </a:prstGeom>
          <a:ln w="25400">
            <a:solidFill>
              <a:srgbClr val="C9CED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7F299EA2-54CD-EB57-D247-7B9D989D5991}"/>
              </a:ext>
            </a:extLst>
          </p:cNvPr>
          <p:cNvSpPr/>
          <p:nvPr/>
        </p:nvSpPr>
        <p:spPr>
          <a:xfrm>
            <a:off x="5080000" y="2108200"/>
            <a:ext cx="2032000" cy="1625600"/>
          </a:xfrm>
          <a:prstGeom prst="roundRect">
            <a:avLst>
              <a:gd name="adj" fmla="val 8000"/>
            </a:avLst>
          </a:prstGeom>
          <a:solidFill>
            <a:srgbClr val="E4F1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DD36C167-19AA-F3CA-4E59-78CE20F7F74E}"/>
              </a:ext>
            </a:extLst>
          </p:cNvPr>
          <p:cNvSpPr txBox="1"/>
          <p:nvPr/>
        </p:nvSpPr>
        <p:spPr>
          <a:xfrm>
            <a:off x="5257800" y="2286000"/>
            <a:ext cx="167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6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放進清單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D602AF80-BE08-6EE8-6D63-625F42CF00C2}"/>
              </a:ext>
            </a:extLst>
          </p:cNvPr>
          <p:cNvSpPr txBox="1"/>
          <p:nvPr/>
        </p:nvSpPr>
        <p:spPr>
          <a:xfrm>
            <a:off x="5257800" y="2692400"/>
            <a:ext cx="167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在庫→借用清單</a:t>
            </a:r>
          </a:p>
          <a:p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借出→歸還清單</a:t>
            </a: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4298EC4A-955A-37D7-9FA6-E8C8A955CB4E}"/>
              </a:ext>
            </a:extLst>
          </p:cNvPr>
          <p:cNvSpPr/>
          <p:nvPr/>
        </p:nvSpPr>
        <p:spPr>
          <a:xfrm>
            <a:off x="8051800" y="1346200"/>
            <a:ext cx="558800" cy="558800"/>
          </a:xfrm>
          <a:prstGeom prst="ellipse">
            <a:avLst/>
          </a:prstGeom>
          <a:solidFill>
            <a:srgbClr val="1F6F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altLang="zh-TW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4</a:t>
            </a:r>
            <a:endParaRPr lang="zh-TW" altLang="en-US" b="1">
              <a:solidFill>
                <a:srgbClr val="FFFFFF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sym typeface="Microsoft JhengHei" panose="020B0604030504040204" pitchFamily="34" charset="-120"/>
            </a:endParaRPr>
          </a:p>
        </p:txBody>
      </p: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BF684FEE-332D-0C9F-1911-8FE7FB77F3F0}"/>
              </a:ext>
            </a:extLst>
          </p:cNvPr>
          <p:cNvCxnSpPr/>
          <p:nvPr/>
        </p:nvCxnSpPr>
        <p:spPr>
          <a:xfrm>
            <a:off x="8686800" y="1625600"/>
            <a:ext cx="1524000" cy="0"/>
          </a:xfrm>
          <a:prstGeom prst="straightConnector1">
            <a:avLst/>
          </a:prstGeom>
          <a:ln w="25400">
            <a:solidFill>
              <a:srgbClr val="C9CED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EAD1FF41-832C-1E5C-4FFD-EA42DF86725D}"/>
              </a:ext>
            </a:extLst>
          </p:cNvPr>
          <p:cNvSpPr/>
          <p:nvPr/>
        </p:nvSpPr>
        <p:spPr>
          <a:xfrm>
            <a:off x="7315200" y="2108200"/>
            <a:ext cx="2032000" cy="1625600"/>
          </a:xfrm>
          <a:prstGeom prst="roundRect">
            <a:avLst>
              <a:gd name="adj" fmla="val 8000"/>
            </a:avLst>
          </a:prstGeom>
          <a:solidFill>
            <a:srgbClr val="E4F1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690ADADB-6F4B-4153-A014-DE5B6F117A44}"/>
              </a:ext>
            </a:extLst>
          </p:cNvPr>
          <p:cNvSpPr txBox="1"/>
          <p:nvPr/>
        </p:nvSpPr>
        <p:spPr>
          <a:xfrm>
            <a:off x="7493000" y="2286000"/>
            <a:ext cx="167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6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填寫送出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A01B9A2-D71E-8E05-3560-37576479B975}"/>
              </a:ext>
            </a:extLst>
          </p:cNvPr>
          <p:cNvSpPr txBox="1"/>
          <p:nvPr/>
        </p:nvSpPr>
        <p:spPr>
          <a:xfrm>
            <a:off x="7493000" y="2692400"/>
            <a:ext cx="167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填 </a:t>
            </a:r>
            <a:r>
              <a:rPr lang="en-US" altLang="zh-TW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Email</a:t>
            </a:r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、事由與預計歸還日</a:t>
            </a: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502376E2-6892-596A-BE5C-D5F6925BF9A3}"/>
              </a:ext>
            </a:extLst>
          </p:cNvPr>
          <p:cNvSpPr/>
          <p:nvPr/>
        </p:nvSpPr>
        <p:spPr>
          <a:xfrm>
            <a:off x="10287000" y="1346200"/>
            <a:ext cx="558800" cy="558800"/>
          </a:xfrm>
          <a:prstGeom prst="ellipse">
            <a:avLst/>
          </a:prstGeom>
          <a:solidFill>
            <a:srgbClr val="1F6F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altLang="zh-TW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5</a:t>
            </a:r>
            <a:endParaRPr lang="zh-TW" altLang="en-US" b="1">
              <a:solidFill>
                <a:srgbClr val="FFFFFF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sym typeface="Microsoft JhengHei" panose="020B0604030504040204" pitchFamily="34" charset="-120"/>
            </a:endParaRP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43241656-215F-2A2D-4B9C-2A363B725835}"/>
              </a:ext>
            </a:extLst>
          </p:cNvPr>
          <p:cNvSpPr/>
          <p:nvPr/>
        </p:nvSpPr>
        <p:spPr>
          <a:xfrm>
            <a:off x="9550400" y="2108200"/>
            <a:ext cx="2032000" cy="1625600"/>
          </a:xfrm>
          <a:prstGeom prst="roundRect">
            <a:avLst>
              <a:gd name="adj" fmla="val 8000"/>
            </a:avLst>
          </a:prstGeom>
          <a:solidFill>
            <a:srgbClr val="E4F1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65C9378F-99C4-F64B-678B-308153ED3221}"/>
              </a:ext>
            </a:extLst>
          </p:cNvPr>
          <p:cNvSpPr txBox="1"/>
          <p:nvPr/>
        </p:nvSpPr>
        <p:spPr>
          <a:xfrm>
            <a:off x="9728200" y="2286000"/>
            <a:ext cx="167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6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寫入紀錄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611D61B2-3853-7E1E-DA07-91D81960D0AD}"/>
              </a:ext>
            </a:extLst>
          </p:cNvPr>
          <p:cNvSpPr txBox="1"/>
          <p:nvPr/>
        </p:nvSpPr>
        <p:spPr>
          <a:xfrm>
            <a:off x="9728200" y="2692400"/>
            <a:ext cx="167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Loans </a:t>
            </a:r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一件一列，</a:t>
            </a:r>
            <a:r>
              <a:rPr lang="en-US" altLang="zh-TW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Logs </a:t>
            </a:r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記錄異動</a:t>
            </a: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FF0164F7-EE00-8556-4592-184A60E5561C}"/>
              </a:ext>
            </a:extLst>
          </p:cNvPr>
          <p:cNvSpPr/>
          <p:nvPr/>
        </p:nvSpPr>
        <p:spPr>
          <a:xfrm>
            <a:off x="609600" y="4013200"/>
            <a:ext cx="5384800" cy="132080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50800" rIns="203200" bIns="50800" rtlCol="0" anchor="ctr"/>
          <a:lstStyle/>
          <a:p>
            <a:r>
              <a:rPr lang="zh-TW" altLang="en-US" sz="15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連續掃描不中斷</a:t>
            </a:r>
          </a:p>
          <a:p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清單存在手機瀏覽器，用相機再掃一件開了新分頁，清單也會延續；頁面內也能開相機連續掃。</a:t>
            </a:r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2E5B5FEC-BB6E-ABDD-9B69-A5E97498DFAF}"/>
              </a:ext>
            </a:extLst>
          </p:cNvPr>
          <p:cNvSpPr/>
          <p:nvPr/>
        </p:nvSpPr>
        <p:spPr>
          <a:xfrm>
            <a:off x="6197600" y="4013200"/>
            <a:ext cx="5384800" cy="132080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50800" rIns="203200" bIns="50800" rtlCol="0" anchor="ctr"/>
          <a:lstStyle/>
          <a:p>
            <a:r>
              <a:rPr lang="zh-TW" altLang="en-US" sz="15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歸還一定要掃實體展品</a:t>
            </a:r>
          </a:p>
          <a:p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「我的借用」只能查詢、不能按歸還，避免展品沒帶回來就被登記歸還。</a:t>
            </a:r>
          </a:p>
        </p:txBody>
      </p:sp>
    </p:spTree>
    <p:extLst>
      <p:ext uri="{BB962C8B-B14F-4D97-AF65-F5344CB8AC3E}">
        <p14:creationId xmlns:p14="http://schemas.microsoft.com/office/powerpoint/2010/main" val="1514041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CD41EF-948B-6929-A662-11E50D18D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584200"/>
          </a:xfrm>
        </p:spPr>
        <p:txBody>
          <a:bodyPr wrap="square" lIns="0" tIns="0" rIns="0" bIns="0" anchor="t">
            <a:noAutofit/>
          </a:bodyPr>
          <a:lstStyle/>
          <a:p>
            <a:r>
              <a:rPr lang="zh-TW" altLang="en-US" sz="28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分批歸還：借 </a:t>
            </a:r>
            <a:r>
              <a:rPr lang="en-US" altLang="zh-TW" sz="28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10 </a:t>
            </a:r>
            <a:r>
              <a:rPr lang="zh-TW" altLang="en-US" sz="28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件去日本，</a:t>
            </a:r>
            <a:r>
              <a:rPr lang="en-US" altLang="zh-TW" sz="28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5 </a:t>
            </a:r>
            <a:r>
              <a:rPr lang="zh-TW" altLang="en-US" sz="28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件轉往美國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4108BC0-227A-2627-F1DF-5B5793C7C4EC}"/>
              </a:ext>
            </a:extLst>
          </p:cNvPr>
          <p:cNvSpPr txBox="1"/>
          <p:nvPr/>
        </p:nvSpPr>
        <p:spPr>
          <a:xfrm>
            <a:off x="609600" y="2032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200" b="1">
                <a:solidFill>
                  <a:srgbClr val="E8A3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02 </a:t>
            </a:r>
            <a:r>
              <a:rPr lang="zh-TW" altLang="en-US" sz="1200" b="1">
                <a:solidFill>
                  <a:srgbClr val="E8A3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架構與流程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7A79104-7B9D-C328-20F8-A16E68976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2CFFA-BCF7-4941-9F1D-DE24BA5E8539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8554873E-5E74-01FF-3CAA-634EC61296A7}"/>
              </a:ext>
            </a:extLst>
          </p:cNvPr>
          <p:cNvSpPr/>
          <p:nvPr/>
        </p:nvSpPr>
        <p:spPr>
          <a:xfrm>
            <a:off x="609600" y="1320800"/>
            <a:ext cx="2514600" cy="406400"/>
          </a:xfrm>
          <a:prstGeom prst="roundRect">
            <a:avLst>
              <a:gd name="adj" fmla="val 8000"/>
            </a:avLst>
          </a:prstGeom>
          <a:solidFill>
            <a:srgbClr val="0F3B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zh-TW" altLang="en-US" sz="14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① 借出 </a:t>
            </a:r>
            <a:r>
              <a:rPr lang="en-US" altLang="zh-TW" sz="14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10 </a:t>
            </a:r>
            <a:r>
              <a:rPr lang="zh-TW" altLang="en-US" sz="14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件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D9DBEF-4A07-6C28-97D9-DC841F3F5648}"/>
              </a:ext>
            </a:extLst>
          </p:cNvPr>
          <p:cNvSpPr/>
          <p:nvPr/>
        </p:nvSpPr>
        <p:spPr>
          <a:xfrm>
            <a:off x="685800" y="1905000"/>
            <a:ext cx="190500" cy="190500"/>
          </a:xfrm>
          <a:prstGeom prst="rect">
            <a:avLst/>
          </a:prstGeom>
          <a:solidFill>
            <a:srgbClr val="1F6F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DC3C2B0-5ECE-3B29-9207-B0540D93EC90}"/>
              </a:ext>
            </a:extLst>
          </p:cNvPr>
          <p:cNvSpPr/>
          <p:nvPr/>
        </p:nvSpPr>
        <p:spPr>
          <a:xfrm>
            <a:off x="927100" y="1905000"/>
            <a:ext cx="190500" cy="190500"/>
          </a:xfrm>
          <a:prstGeom prst="rect">
            <a:avLst/>
          </a:prstGeom>
          <a:solidFill>
            <a:srgbClr val="1F6F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8A94011-2A4B-EC3F-32C4-FA072B03FBD6}"/>
              </a:ext>
            </a:extLst>
          </p:cNvPr>
          <p:cNvSpPr/>
          <p:nvPr/>
        </p:nvSpPr>
        <p:spPr>
          <a:xfrm>
            <a:off x="1168400" y="1905000"/>
            <a:ext cx="190500" cy="190500"/>
          </a:xfrm>
          <a:prstGeom prst="rect">
            <a:avLst/>
          </a:prstGeom>
          <a:solidFill>
            <a:srgbClr val="1F6F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90BC14-5841-0FB0-73B4-EF8961771247}"/>
              </a:ext>
            </a:extLst>
          </p:cNvPr>
          <p:cNvSpPr/>
          <p:nvPr/>
        </p:nvSpPr>
        <p:spPr>
          <a:xfrm>
            <a:off x="1409700" y="1905000"/>
            <a:ext cx="190500" cy="190500"/>
          </a:xfrm>
          <a:prstGeom prst="rect">
            <a:avLst/>
          </a:prstGeom>
          <a:solidFill>
            <a:srgbClr val="1F6F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A8A8AF5-0459-A0B3-F07E-A7D50C972E94}"/>
              </a:ext>
            </a:extLst>
          </p:cNvPr>
          <p:cNvSpPr/>
          <p:nvPr/>
        </p:nvSpPr>
        <p:spPr>
          <a:xfrm>
            <a:off x="1651000" y="1905000"/>
            <a:ext cx="190500" cy="190500"/>
          </a:xfrm>
          <a:prstGeom prst="rect">
            <a:avLst/>
          </a:prstGeom>
          <a:solidFill>
            <a:srgbClr val="1F6F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5DE315E-39BF-2558-DF43-E6E0B17FE0E3}"/>
              </a:ext>
            </a:extLst>
          </p:cNvPr>
          <p:cNvSpPr/>
          <p:nvPr/>
        </p:nvSpPr>
        <p:spPr>
          <a:xfrm>
            <a:off x="1892300" y="1905000"/>
            <a:ext cx="190500" cy="190500"/>
          </a:xfrm>
          <a:prstGeom prst="rect">
            <a:avLst/>
          </a:prstGeom>
          <a:solidFill>
            <a:srgbClr val="1F6F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386417A-26D6-B5C1-E057-A8B0120B256E}"/>
              </a:ext>
            </a:extLst>
          </p:cNvPr>
          <p:cNvSpPr/>
          <p:nvPr/>
        </p:nvSpPr>
        <p:spPr>
          <a:xfrm>
            <a:off x="2133600" y="1905000"/>
            <a:ext cx="190500" cy="190500"/>
          </a:xfrm>
          <a:prstGeom prst="rect">
            <a:avLst/>
          </a:prstGeom>
          <a:solidFill>
            <a:srgbClr val="1F6F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1416519-280A-464B-0A9B-46AECC21B5DC}"/>
              </a:ext>
            </a:extLst>
          </p:cNvPr>
          <p:cNvSpPr/>
          <p:nvPr/>
        </p:nvSpPr>
        <p:spPr>
          <a:xfrm>
            <a:off x="2374900" y="1905000"/>
            <a:ext cx="190500" cy="190500"/>
          </a:xfrm>
          <a:prstGeom prst="rect">
            <a:avLst/>
          </a:prstGeom>
          <a:solidFill>
            <a:srgbClr val="1F6F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31C999F-BC0C-E756-D8DB-B8B2E6472210}"/>
              </a:ext>
            </a:extLst>
          </p:cNvPr>
          <p:cNvSpPr/>
          <p:nvPr/>
        </p:nvSpPr>
        <p:spPr>
          <a:xfrm>
            <a:off x="2616200" y="1905000"/>
            <a:ext cx="190500" cy="190500"/>
          </a:xfrm>
          <a:prstGeom prst="rect">
            <a:avLst/>
          </a:prstGeom>
          <a:solidFill>
            <a:srgbClr val="1F6F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6B9560F-1538-1EDF-FAC7-894A240991D7}"/>
              </a:ext>
            </a:extLst>
          </p:cNvPr>
          <p:cNvSpPr/>
          <p:nvPr/>
        </p:nvSpPr>
        <p:spPr>
          <a:xfrm>
            <a:off x="2857500" y="1905000"/>
            <a:ext cx="190500" cy="190500"/>
          </a:xfrm>
          <a:prstGeom prst="rect">
            <a:avLst/>
          </a:prstGeom>
          <a:solidFill>
            <a:srgbClr val="1F6F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9608DA90-2768-30AB-D39B-1151955035C9}"/>
              </a:ext>
            </a:extLst>
          </p:cNvPr>
          <p:cNvSpPr/>
          <p:nvPr/>
        </p:nvSpPr>
        <p:spPr>
          <a:xfrm>
            <a:off x="609600" y="2286000"/>
            <a:ext cx="2514600" cy="1727200"/>
          </a:xfrm>
          <a:prstGeom prst="roundRect">
            <a:avLst>
              <a:gd name="adj" fmla="val 8000"/>
            </a:avLst>
          </a:prstGeom>
          <a:solidFill>
            <a:srgbClr val="E4F1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10F63FA9-ED39-4C56-6FAC-A98C9E15C77E}"/>
              </a:ext>
            </a:extLst>
          </p:cNvPr>
          <p:cNvSpPr txBox="1"/>
          <p:nvPr/>
        </p:nvSpPr>
        <p:spPr>
          <a:xfrm>
            <a:off x="787400" y="24638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借用單 </a:t>
            </a:r>
            <a:r>
              <a:rPr lang="en-US" altLang="zh-TW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L-A </a:t>
            </a:r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寫入 </a:t>
            </a:r>
            <a:r>
              <a:rPr lang="en-US" altLang="zh-TW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10 </a:t>
            </a:r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列，每列都是「借出中」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344CE225-E4C5-043C-FC15-318CA48F5A8C}"/>
              </a:ext>
            </a:extLst>
          </p:cNvPr>
          <p:cNvSpPr/>
          <p:nvPr/>
        </p:nvSpPr>
        <p:spPr>
          <a:xfrm>
            <a:off x="3429000" y="1320800"/>
            <a:ext cx="2514600" cy="406400"/>
          </a:xfrm>
          <a:prstGeom prst="roundRect">
            <a:avLst>
              <a:gd name="adj" fmla="val 8000"/>
            </a:avLst>
          </a:prstGeom>
          <a:solidFill>
            <a:srgbClr val="0F3B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zh-TW" altLang="en-US" sz="14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② 歸還 </a:t>
            </a:r>
            <a:r>
              <a:rPr lang="en-US" altLang="zh-TW" sz="14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5 </a:t>
            </a:r>
            <a:r>
              <a:rPr lang="zh-TW" altLang="en-US" sz="14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件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2B3218A-767D-80C4-A376-36B7C150CA0E}"/>
              </a:ext>
            </a:extLst>
          </p:cNvPr>
          <p:cNvSpPr/>
          <p:nvPr/>
        </p:nvSpPr>
        <p:spPr>
          <a:xfrm>
            <a:off x="3505200" y="1905000"/>
            <a:ext cx="190500" cy="190500"/>
          </a:xfrm>
          <a:prstGeom prst="rect">
            <a:avLst/>
          </a:prstGeom>
          <a:solidFill>
            <a:srgbClr val="C9CE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D8D0661-2FCA-8F57-05A2-AD0FEFC1EC5F}"/>
              </a:ext>
            </a:extLst>
          </p:cNvPr>
          <p:cNvSpPr/>
          <p:nvPr/>
        </p:nvSpPr>
        <p:spPr>
          <a:xfrm>
            <a:off x="3746500" y="1905000"/>
            <a:ext cx="190500" cy="190500"/>
          </a:xfrm>
          <a:prstGeom prst="rect">
            <a:avLst/>
          </a:prstGeom>
          <a:solidFill>
            <a:srgbClr val="C9CE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258F7A0-F997-DD26-B2A2-CC2CB5C4FD19}"/>
              </a:ext>
            </a:extLst>
          </p:cNvPr>
          <p:cNvSpPr/>
          <p:nvPr/>
        </p:nvSpPr>
        <p:spPr>
          <a:xfrm>
            <a:off x="3987800" y="1905000"/>
            <a:ext cx="190500" cy="190500"/>
          </a:xfrm>
          <a:prstGeom prst="rect">
            <a:avLst/>
          </a:prstGeom>
          <a:solidFill>
            <a:srgbClr val="C9CE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6CAB65F-DE0C-DCFA-7515-612826A21924}"/>
              </a:ext>
            </a:extLst>
          </p:cNvPr>
          <p:cNvSpPr/>
          <p:nvPr/>
        </p:nvSpPr>
        <p:spPr>
          <a:xfrm>
            <a:off x="4229100" y="1905000"/>
            <a:ext cx="190500" cy="190500"/>
          </a:xfrm>
          <a:prstGeom prst="rect">
            <a:avLst/>
          </a:prstGeom>
          <a:solidFill>
            <a:srgbClr val="C9CE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F3CFD4F-BE27-647B-8418-8A4D5E6F9150}"/>
              </a:ext>
            </a:extLst>
          </p:cNvPr>
          <p:cNvSpPr/>
          <p:nvPr/>
        </p:nvSpPr>
        <p:spPr>
          <a:xfrm>
            <a:off x="4470400" y="1905000"/>
            <a:ext cx="190500" cy="190500"/>
          </a:xfrm>
          <a:prstGeom prst="rect">
            <a:avLst/>
          </a:prstGeom>
          <a:solidFill>
            <a:srgbClr val="C9CE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ADA76C3-B3DC-7C8C-7CC0-FBD4DE9510F5}"/>
              </a:ext>
            </a:extLst>
          </p:cNvPr>
          <p:cNvSpPr/>
          <p:nvPr/>
        </p:nvSpPr>
        <p:spPr>
          <a:xfrm>
            <a:off x="4711700" y="1905000"/>
            <a:ext cx="190500" cy="190500"/>
          </a:xfrm>
          <a:prstGeom prst="rect">
            <a:avLst/>
          </a:prstGeom>
          <a:solidFill>
            <a:srgbClr val="1F6F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6DCDFD8-B28C-A882-2250-FAD374D6D395}"/>
              </a:ext>
            </a:extLst>
          </p:cNvPr>
          <p:cNvSpPr/>
          <p:nvPr/>
        </p:nvSpPr>
        <p:spPr>
          <a:xfrm>
            <a:off x="4953000" y="1905000"/>
            <a:ext cx="190500" cy="190500"/>
          </a:xfrm>
          <a:prstGeom prst="rect">
            <a:avLst/>
          </a:prstGeom>
          <a:solidFill>
            <a:srgbClr val="1F6F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7EFB28E-40B6-C0D3-E661-A1FC6C71F8E7}"/>
              </a:ext>
            </a:extLst>
          </p:cNvPr>
          <p:cNvSpPr/>
          <p:nvPr/>
        </p:nvSpPr>
        <p:spPr>
          <a:xfrm>
            <a:off x="5194300" y="1905000"/>
            <a:ext cx="190500" cy="190500"/>
          </a:xfrm>
          <a:prstGeom prst="rect">
            <a:avLst/>
          </a:prstGeom>
          <a:solidFill>
            <a:srgbClr val="1F6F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F8257F2-7802-51D8-CA56-CF53DEFFE990}"/>
              </a:ext>
            </a:extLst>
          </p:cNvPr>
          <p:cNvSpPr/>
          <p:nvPr/>
        </p:nvSpPr>
        <p:spPr>
          <a:xfrm>
            <a:off x="5435600" y="1905000"/>
            <a:ext cx="190500" cy="190500"/>
          </a:xfrm>
          <a:prstGeom prst="rect">
            <a:avLst/>
          </a:prstGeom>
          <a:solidFill>
            <a:srgbClr val="1F6F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D5BC6F9-545B-8C89-D54B-EF53DDC2885F}"/>
              </a:ext>
            </a:extLst>
          </p:cNvPr>
          <p:cNvSpPr/>
          <p:nvPr/>
        </p:nvSpPr>
        <p:spPr>
          <a:xfrm>
            <a:off x="5676900" y="1905000"/>
            <a:ext cx="190500" cy="190500"/>
          </a:xfrm>
          <a:prstGeom prst="rect">
            <a:avLst/>
          </a:prstGeom>
          <a:solidFill>
            <a:srgbClr val="1F6F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1A854796-5DC1-B301-EA87-FBAB150A7DFF}"/>
              </a:ext>
            </a:extLst>
          </p:cNvPr>
          <p:cNvSpPr/>
          <p:nvPr/>
        </p:nvSpPr>
        <p:spPr>
          <a:xfrm>
            <a:off x="3429000" y="2286000"/>
            <a:ext cx="2514600" cy="1727200"/>
          </a:xfrm>
          <a:prstGeom prst="roundRect">
            <a:avLst>
              <a:gd name="adj" fmla="val 8000"/>
            </a:avLst>
          </a:prstGeom>
          <a:solidFill>
            <a:srgbClr val="E4F1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4293212A-2DAB-5B26-6EA4-536CBDD39391}"/>
              </a:ext>
            </a:extLst>
          </p:cNvPr>
          <p:cNvSpPr txBox="1"/>
          <p:nvPr/>
        </p:nvSpPr>
        <p:spPr>
          <a:xfrm>
            <a:off x="3606800" y="24638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掃碼歸還 </a:t>
            </a:r>
            <a:r>
              <a:rPr lang="en-US" altLang="zh-TW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5 </a:t>
            </a:r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件，這 </a:t>
            </a:r>
            <a:r>
              <a:rPr lang="en-US" altLang="zh-TW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5 </a:t>
            </a:r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列改為「已歸還」，</a:t>
            </a:r>
            <a:r>
              <a:rPr lang="en-US" altLang="zh-TW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Logs </a:t>
            </a:r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記「部分歸還」</a:t>
            </a:r>
          </a:p>
        </p:txBody>
      </p: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0CE1AFCA-2D57-47B5-40C3-466873D23266}"/>
              </a:ext>
            </a:extLst>
          </p:cNvPr>
          <p:cNvSpPr/>
          <p:nvPr/>
        </p:nvSpPr>
        <p:spPr>
          <a:xfrm>
            <a:off x="6248400" y="1320800"/>
            <a:ext cx="2514600" cy="406400"/>
          </a:xfrm>
          <a:prstGeom prst="roundRect">
            <a:avLst>
              <a:gd name="adj" fmla="val 8000"/>
            </a:avLst>
          </a:prstGeom>
          <a:solidFill>
            <a:srgbClr val="0F3B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zh-TW" altLang="en-US" sz="14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③ 移轉 </a:t>
            </a:r>
            <a:r>
              <a:rPr lang="en-US" altLang="zh-TW" sz="14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5 </a:t>
            </a:r>
            <a:r>
              <a:rPr lang="zh-TW" altLang="en-US" sz="14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件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B75A0B1-C133-30EE-2E71-A87B3329F38D}"/>
              </a:ext>
            </a:extLst>
          </p:cNvPr>
          <p:cNvSpPr/>
          <p:nvPr/>
        </p:nvSpPr>
        <p:spPr>
          <a:xfrm>
            <a:off x="6324600" y="1905000"/>
            <a:ext cx="190500" cy="190500"/>
          </a:xfrm>
          <a:prstGeom prst="rect">
            <a:avLst/>
          </a:prstGeom>
          <a:solidFill>
            <a:srgbClr val="C9CE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29229E1-4A51-6092-BA89-CCA80730424F}"/>
              </a:ext>
            </a:extLst>
          </p:cNvPr>
          <p:cNvSpPr/>
          <p:nvPr/>
        </p:nvSpPr>
        <p:spPr>
          <a:xfrm>
            <a:off x="6565900" y="1905000"/>
            <a:ext cx="190500" cy="190500"/>
          </a:xfrm>
          <a:prstGeom prst="rect">
            <a:avLst/>
          </a:prstGeom>
          <a:solidFill>
            <a:srgbClr val="C9CE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B8E4EF0-D159-9D44-F70A-D6ED674971EF}"/>
              </a:ext>
            </a:extLst>
          </p:cNvPr>
          <p:cNvSpPr/>
          <p:nvPr/>
        </p:nvSpPr>
        <p:spPr>
          <a:xfrm>
            <a:off x="6807200" y="1905000"/>
            <a:ext cx="190500" cy="190500"/>
          </a:xfrm>
          <a:prstGeom prst="rect">
            <a:avLst/>
          </a:prstGeom>
          <a:solidFill>
            <a:srgbClr val="C9CE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960DC44-D9C2-EDDC-6726-B55D80627A4C}"/>
              </a:ext>
            </a:extLst>
          </p:cNvPr>
          <p:cNvSpPr/>
          <p:nvPr/>
        </p:nvSpPr>
        <p:spPr>
          <a:xfrm>
            <a:off x="7048500" y="1905000"/>
            <a:ext cx="190500" cy="190500"/>
          </a:xfrm>
          <a:prstGeom prst="rect">
            <a:avLst/>
          </a:prstGeom>
          <a:solidFill>
            <a:srgbClr val="C9CE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6AFD729-40BE-8BDA-0606-84EBE1CF8DB0}"/>
              </a:ext>
            </a:extLst>
          </p:cNvPr>
          <p:cNvSpPr/>
          <p:nvPr/>
        </p:nvSpPr>
        <p:spPr>
          <a:xfrm>
            <a:off x="7289800" y="1905000"/>
            <a:ext cx="190500" cy="190500"/>
          </a:xfrm>
          <a:prstGeom prst="rect">
            <a:avLst/>
          </a:prstGeom>
          <a:solidFill>
            <a:srgbClr val="C9CE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C298146-323A-70E0-B2A8-9888643A32AE}"/>
              </a:ext>
            </a:extLst>
          </p:cNvPr>
          <p:cNvSpPr/>
          <p:nvPr/>
        </p:nvSpPr>
        <p:spPr>
          <a:xfrm>
            <a:off x="7531100" y="1905000"/>
            <a:ext cx="190500" cy="1905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AA174A0-0288-16B3-3CE6-DFB7272A06BA}"/>
              </a:ext>
            </a:extLst>
          </p:cNvPr>
          <p:cNvSpPr/>
          <p:nvPr/>
        </p:nvSpPr>
        <p:spPr>
          <a:xfrm>
            <a:off x="7772400" y="1905000"/>
            <a:ext cx="190500" cy="1905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32DF8FF-CF92-392B-6614-630D03067518}"/>
              </a:ext>
            </a:extLst>
          </p:cNvPr>
          <p:cNvSpPr/>
          <p:nvPr/>
        </p:nvSpPr>
        <p:spPr>
          <a:xfrm>
            <a:off x="8013700" y="1905000"/>
            <a:ext cx="190500" cy="1905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BC36A71-9949-F936-0DF9-E675E11182E1}"/>
              </a:ext>
            </a:extLst>
          </p:cNvPr>
          <p:cNvSpPr/>
          <p:nvPr/>
        </p:nvSpPr>
        <p:spPr>
          <a:xfrm>
            <a:off x="8255000" y="1905000"/>
            <a:ext cx="190500" cy="1905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52406B4-CEDC-2647-7DDA-3FB8D105B889}"/>
              </a:ext>
            </a:extLst>
          </p:cNvPr>
          <p:cNvSpPr/>
          <p:nvPr/>
        </p:nvSpPr>
        <p:spPr>
          <a:xfrm>
            <a:off x="8496300" y="1905000"/>
            <a:ext cx="190500" cy="1905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矩形: 圓角 41">
            <a:extLst>
              <a:ext uri="{FF2B5EF4-FFF2-40B4-BE49-F238E27FC236}">
                <a16:creationId xmlns:a16="http://schemas.microsoft.com/office/drawing/2014/main" id="{73413050-9082-D86C-0C96-9576D0F0F718}"/>
              </a:ext>
            </a:extLst>
          </p:cNvPr>
          <p:cNvSpPr/>
          <p:nvPr/>
        </p:nvSpPr>
        <p:spPr>
          <a:xfrm>
            <a:off x="6248400" y="2286000"/>
            <a:ext cx="2514600" cy="1727200"/>
          </a:xfrm>
          <a:prstGeom prst="roundRect">
            <a:avLst>
              <a:gd name="adj" fmla="val 8000"/>
            </a:avLst>
          </a:prstGeom>
          <a:solidFill>
            <a:srgbClr val="E4F1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D09D1E5A-B126-F2A6-7F93-51C541549954}"/>
              </a:ext>
            </a:extLst>
          </p:cNvPr>
          <p:cNvSpPr txBox="1"/>
          <p:nvPr/>
        </p:nvSpPr>
        <p:spPr>
          <a:xfrm>
            <a:off x="6426200" y="24638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管理者移轉剩下 </a:t>
            </a:r>
            <a:r>
              <a:rPr lang="en-US" altLang="zh-TW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5 </a:t>
            </a:r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件：原列改「已移轉」，新借用單 </a:t>
            </a:r>
            <a:r>
              <a:rPr lang="en-US" altLang="zh-TW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L-B </a:t>
            </a:r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記錄事由「展覽出國</a:t>
            </a:r>
            <a:r>
              <a:rPr lang="en-US" altLang="zh-TW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-</a:t>
            </a:r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美國」</a:t>
            </a:r>
          </a:p>
        </p:txBody>
      </p:sp>
      <p:sp>
        <p:nvSpPr>
          <p:cNvPr id="44" name="矩形: 圓角 43">
            <a:extLst>
              <a:ext uri="{FF2B5EF4-FFF2-40B4-BE49-F238E27FC236}">
                <a16:creationId xmlns:a16="http://schemas.microsoft.com/office/drawing/2014/main" id="{990E9CE2-098A-60E2-267C-6731F857CD5A}"/>
              </a:ext>
            </a:extLst>
          </p:cNvPr>
          <p:cNvSpPr/>
          <p:nvPr/>
        </p:nvSpPr>
        <p:spPr>
          <a:xfrm>
            <a:off x="9067800" y="1320800"/>
            <a:ext cx="2514600" cy="406400"/>
          </a:xfrm>
          <a:prstGeom prst="roundRect">
            <a:avLst>
              <a:gd name="adj" fmla="val 8000"/>
            </a:avLst>
          </a:prstGeom>
          <a:solidFill>
            <a:srgbClr val="0F3B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zh-TW" altLang="en-US" sz="14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④ 全部歸還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BBF4B874-A563-F10C-05D6-A2420CCD70F4}"/>
              </a:ext>
            </a:extLst>
          </p:cNvPr>
          <p:cNvSpPr/>
          <p:nvPr/>
        </p:nvSpPr>
        <p:spPr>
          <a:xfrm>
            <a:off x="9144000" y="1905000"/>
            <a:ext cx="190500" cy="190500"/>
          </a:xfrm>
          <a:prstGeom prst="rect">
            <a:avLst/>
          </a:prstGeom>
          <a:solidFill>
            <a:srgbClr val="C9CE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0D29D27-7A68-D430-6133-E0EB9C504C53}"/>
              </a:ext>
            </a:extLst>
          </p:cNvPr>
          <p:cNvSpPr/>
          <p:nvPr/>
        </p:nvSpPr>
        <p:spPr>
          <a:xfrm>
            <a:off x="9385300" y="1905000"/>
            <a:ext cx="190500" cy="190500"/>
          </a:xfrm>
          <a:prstGeom prst="rect">
            <a:avLst/>
          </a:prstGeom>
          <a:solidFill>
            <a:srgbClr val="C9CE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5CEAB1B-6A74-F1D7-BB69-E9820C72B530}"/>
              </a:ext>
            </a:extLst>
          </p:cNvPr>
          <p:cNvSpPr/>
          <p:nvPr/>
        </p:nvSpPr>
        <p:spPr>
          <a:xfrm>
            <a:off x="9626600" y="1905000"/>
            <a:ext cx="190500" cy="190500"/>
          </a:xfrm>
          <a:prstGeom prst="rect">
            <a:avLst/>
          </a:prstGeom>
          <a:solidFill>
            <a:srgbClr val="C9CE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4311194-A807-36FF-4F88-C1A1FCE48C64}"/>
              </a:ext>
            </a:extLst>
          </p:cNvPr>
          <p:cNvSpPr/>
          <p:nvPr/>
        </p:nvSpPr>
        <p:spPr>
          <a:xfrm>
            <a:off x="9867900" y="1905000"/>
            <a:ext cx="190500" cy="190500"/>
          </a:xfrm>
          <a:prstGeom prst="rect">
            <a:avLst/>
          </a:prstGeom>
          <a:solidFill>
            <a:srgbClr val="C9CE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AA0B981D-F339-6CBD-3887-7805278DA658}"/>
              </a:ext>
            </a:extLst>
          </p:cNvPr>
          <p:cNvSpPr/>
          <p:nvPr/>
        </p:nvSpPr>
        <p:spPr>
          <a:xfrm>
            <a:off x="10109200" y="1905000"/>
            <a:ext cx="190500" cy="190500"/>
          </a:xfrm>
          <a:prstGeom prst="rect">
            <a:avLst/>
          </a:prstGeom>
          <a:solidFill>
            <a:srgbClr val="C9CE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5B3DEB77-6A84-9766-E54B-AEDFBF11E361}"/>
              </a:ext>
            </a:extLst>
          </p:cNvPr>
          <p:cNvSpPr/>
          <p:nvPr/>
        </p:nvSpPr>
        <p:spPr>
          <a:xfrm>
            <a:off x="10350500" y="1905000"/>
            <a:ext cx="190500" cy="190500"/>
          </a:xfrm>
          <a:prstGeom prst="rect">
            <a:avLst/>
          </a:prstGeom>
          <a:solidFill>
            <a:srgbClr val="C9CE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2B0DAA3-3B36-E020-FA8F-D0D3FF29EE17}"/>
              </a:ext>
            </a:extLst>
          </p:cNvPr>
          <p:cNvSpPr/>
          <p:nvPr/>
        </p:nvSpPr>
        <p:spPr>
          <a:xfrm>
            <a:off x="10591800" y="1905000"/>
            <a:ext cx="190500" cy="190500"/>
          </a:xfrm>
          <a:prstGeom prst="rect">
            <a:avLst/>
          </a:prstGeom>
          <a:solidFill>
            <a:srgbClr val="C9CE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A55BA71-6A5C-38A3-0C4D-CE0F9FC3C743}"/>
              </a:ext>
            </a:extLst>
          </p:cNvPr>
          <p:cNvSpPr/>
          <p:nvPr/>
        </p:nvSpPr>
        <p:spPr>
          <a:xfrm>
            <a:off x="10833100" y="1905000"/>
            <a:ext cx="190500" cy="190500"/>
          </a:xfrm>
          <a:prstGeom prst="rect">
            <a:avLst/>
          </a:prstGeom>
          <a:solidFill>
            <a:srgbClr val="C9CE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E7C4C67-E19A-73AE-2AA2-3A0BCE7B85FE}"/>
              </a:ext>
            </a:extLst>
          </p:cNvPr>
          <p:cNvSpPr/>
          <p:nvPr/>
        </p:nvSpPr>
        <p:spPr>
          <a:xfrm>
            <a:off x="11074400" y="1905000"/>
            <a:ext cx="190500" cy="190500"/>
          </a:xfrm>
          <a:prstGeom prst="rect">
            <a:avLst/>
          </a:prstGeom>
          <a:solidFill>
            <a:srgbClr val="C9CE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58CFEA1-CFE9-73DB-43A3-9FA4D7C2EAA4}"/>
              </a:ext>
            </a:extLst>
          </p:cNvPr>
          <p:cNvSpPr/>
          <p:nvPr/>
        </p:nvSpPr>
        <p:spPr>
          <a:xfrm>
            <a:off x="11315700" y="1905000"/>
            <a:ext cx="190500" cy="190500"/>
          </a:xfrm>
          <a:prstGeom prst="rect">
            <a:avLst/>
          </a:prstGeom>
          <a:solidFill>
            <a:srgbClr val="C9CE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矩形: 圓角 54">
            <a:extLst>
              <a:ext uri="{FF2B5EF4-FFF2-40B4-BE49-F238E27FC236}">
                <a16:creationId xmlns:a16="http://schemas.microsoft.com/office/drawing/2014/main" id="{1C2F515A-8BE5-32A1-2B0C-86A1495C830A}"/>
              </a:ext>
            </a:extLst>
          </p:cNvPr>
          <p:cNvSpPr/>
          <p:nvPr/>
        </p:nvSpPr>
        <p:spPr>
          <a:xfrm>
            <a:off x="9067800" y="2286000"/>
            <a:ext cx="2514600" cy="1727200"/>
          </a:xfrm>
          <a:prstGeom prst="roundRect">
            <a:avLst>
              <a:gd name="adj" fmla="val 8000"/>
            </a:avLst>
          </a:prstGeom>
          <a:solidFill>
            <a:srgbClr val="E4F1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CD787BB1-83A6-DACE-BDDB-0221D5E13CE8}"/>
              </a:ext>
            </a:extLst>
          </p:cNvPr>
          <p:cNvSpPr txBox="1"/>
          <p:nvPr/>
        </p:nvSpPr>
        <p:spPr>
          <a:xfrm>
            <a:off x="9245600" y="24638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5 </a:t>
            </a:r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件全部歸還，</a:t>
            </a:r>
            <a:r>
              <a:rPr lang="en-US" altLang="zh-TW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L-B </a:t>
            </a:r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結清，</a:t>
            </a:r>
            <a:r>
              <a:rPr lang="en-US" altLang="zh-TW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Logs </a:t>
            </a:r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記「完全歸還」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F27E80BB-0988-0469-617F-565A0C91D919}"/>
              </a:ext>
            </a:extLst>
          </p:cNvPr>
          <p:cNvSpPr/>
          <p:nvPr/>
        </p:nvSpPr>
        <p:spPr>
          <a:xfrm>
            <a:off x="609600" y="4292600"/>
            <a:ext cx="152400" cy="152400"/>
          </a:xfrm>
          <a:prstGeom prst="rect">
            <a:avLst/>
          </a:prstGeom>
          <a:solidFill>
            <a:srgbClr val="1F6F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A8BE191B-07E6-6CAC-26D5-118B3ED7D95F}"/>
              </a:ext>
            </a:extLst>
          </p:cNvPr>
          <p:cNvSpPr txBox="1"/>
          <p:nvPr/>
        </p:nvSpPr>
        <p:spPr>
          <a:xfrm>
            <a:off x="838200" y="4254500"/>
            <a:ext cx="241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200">
                <a:solidFill>
                  <a:srgbClr val="5F6B7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借出中（</a:t>
            </a:r>
            <a:r>
              <a:rPr lang="en-US" altLang="zh-TW" sz="1200">
                <a:solidFill>
                  <a:srgbClr val="5F6B7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L-A</a:t>
            </a:r>
            <a:r>
              <a:rPr lang="zh-TW" altLang="en-US" sz="1200">
                <a:solidFill>
                  <a:srgbClr val="5F6B7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）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4AFB7E90-47B7-C68E-DB97-1F1AC4B3440E}"/>
              </a:ext>
            </a:extLst>
          </p:cNvPr>
          <p:cNvSpPr/>
          <p:nvPr/>
        </p:nvSpPr>
        <p:spPr>
          <a:xfrm>
            <a:off x="3403600" y="4292600"/>
            <a:ext cx="152400" cy="152400"/>
          </a:xfrm>
          <a:prstGeom prst="rect">
            <a:avLst/>
          </a:prstGeom>
          <a:solidFill>
            <a:srgbClr val="E8A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497A73CD-8AE6-69D2-BD14-40B84D18D548}"/>
              </a:ext>
            </a:extLst>
          </p:cNvPr>
          <p:cNvSpPr txBox="1"/>
          <p:nvPr/>
        </p:nvSpPr>
        <p:spPr>
          <a:xfrm>
            <a:off x="3632200" y="4254500"/>
            <a:ext cx="241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200">
                <a:solidFill>
                  <a:srgbClr val="5F6B7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借出中（新借用單 </a:t>
            </a:r>
            <a:r>
              <a:rPr lang="en-US" altLang="zh-TW" sz="1200">
                <a:solidFill>
                  <a:srgbClr val="5F6B7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L-B</a:t>
            </a:r>
            <a:r>
              <a:rPr lang="zh-TW" altLang="en-US" sz="1200">
                <a:solidFill>
                  <a:srgbClr val="5F6B7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）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189FDD6E-EB03-83EC-E943-DF0796354DE0}"/>
              </a:ext>
            </a:extLst>
          </p:cNvPr>
          <p:cNvSpPr/>
          <p:nvPr/>
        </p:nvSpPr>
        <p:spPr>
          <a:xfrm>
            <a:off x="6197600" y="4292600"/>
            <a:ext cx="152400" cy="152400"/>
          </a:xfrm>
          <a:prstGeom prst="rect">
            <a:avLst/>
          </a:prstGeom>
          <a:solidFill>
            <a:srgbClr val="C9CE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FB8147C6-B7A0-20D1-49FD-4280D30DF011}"/>
              </a:ext>
            </a:extLst>
          </p:cNvPr>
          <p:cNvSpPr txBox="1"/>
          <p:nvPr/>
        </p:nvSpPr>
        <p:spPr>
          <a:xfrm>
            <a:off x="6426200" y="4254500"/>
            <a:ext cx="241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200">
                <a:solidFill>
                  <a:srgbClr val="5F6B7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已歸還／已移轉</a:t>
            </a:r>
          </a:p>
        </p:txBody>
      </p:sp>
      <p:sp>
        <p:nvSpPr>
          <p:cNvPr id="63" name="矩形: 圓角 62">
            <a:extLst>
              <a:ext uri="{FF2B5EF4-FFF2-40B4-BE49-F238E27FC236}">
                <a16:creationId xmlns:a16="http://schemas.microsoft.com/office/drawing/2014/main" id="{3649F18C-4569-6B17-37D4-4EC3F03A9847}"/>
              </a:ext>
            </a:extLst>
          </p:cNvPr>
          <p:cNvSpPr/>
          <p:nvPr/>
        </p:nvSpPr>
        <p:spPr>
          <a:xfrm>
            <a:off x="609600" y="4826000"/>
            <a:ext cx="10972800" cy="762000"/>
          </a:xfrm>
          <a:prstGeom prst="roundRect">
            <a:avLst>
              <a:gd name="adj" fmla="val 8000"/>
            </a:avLst>
          </a:prstGeom>
          <a:solidFill>
            <a:srgbClr val="FCEF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28600" tIns="50800" rIns="101600" bIns="50800" rtlCol="0" anchor="ctr"/>
          <a:lstStyle/>
          <a:p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移轉是選用的：不移轉時，未還的展品本來就繼續記在借用者名下，到期一樣會被催還。</a:t>
            </a:r>
          </a:p>
        </p:txBody>
      </p:sp>
    </p:spTree>
    <p:extLst>
      <p:ext uri="{BB962C8B-B14F-4D97-AF65-F5344CB8AC3E}">
        <p14:creationId xmlns:p14="http://schemas.microsoft.com/office/powerpoint/2010/main" val="3179810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8C0E43-0832-0D76-568A-170F05612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584200"/>
          </a:xfrm>
        </p:spPr>
        <p:txBody>
          <a:bodyPr wrap="square" lIns="0" tIns="0" rIns="0" bIns="0" anchor="t">
            <a:noAutofit/>
          </a:bodyPr>
          <a:lstStyle/>
          <a:p>
            <a:r>
              <a:rPr lang="zh-TW" altLang="en-US" sz="28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資料結構：五張工作表就是資料庫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CC82FD3-06E7-BA49-B5BF-86989EF38AF2}"/>
              </a:ext>
            </a:extLst>
          </p:cNvPr>
          <p:cNvSpPr txBox="1"/>
          <p:nvPr/>
        </p:nvSpPr>
        <p:spPr>
          <a:xfrm>
            <a:off x="609600" y="2032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200" b="1">
                <a:solidFill>
                  <a:srgbClr val="E8A3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03 </a:t>
            </a:r>
            <a:r>
              <a:rPr lang="zh-TW" altLang="en-US" sz="1200" b="1">
                <a:solidFill>
                  <a:srgbClr val="E8A3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資料與介面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70EA8E6-7F50-F1B8-E0EA-33A8A1F14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2CFFA-BCF7-4941-9F1D-DE24BA5E8539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A3C4374C-4DA0-52FA-4459-741EB892EE8F}"/>
              </a:ext>
            </a:extLst>
          </p:cNvPr>
          <p:cNvSpPr/>
          <p:nvPr/>
        </p:nvSpPr>
        <p:spPr>
          <a:xfrm>
            <a:off x="609600" y="1320800"/>
            <a:ext cx="3454400" cy="2184400"/>
          </a:xfrm>
          <a:prstGeom prst="roundRect">
            <a:avLst>
              <a:gd name="adj" fmla="val 8000"/>
            </a:avLst>
          </a:prstGeom>
          <a:solidFill>
            <a:srgbClr val="E4F1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8E48D8F-968D-0065-82CA-67507B61D209}"/>
              </a:ext>
            </a:extLst>
          </p:cNvPr>
          <p:cNvSpPr txBox="1"/>
          <p:nvPr/>
        </p:nvSpPr>
        <p:spPr>
          <a:xfrm>
            <a:off x="812800" y="14986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7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Items</a:t>
            </a:r>
            <a:r>
              <a:rPr lang="zh-TW" altLang="en-US" sz="17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　展品主檔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62FD799-8D45-A0C0-ADCB-3BAC8CA58FB9}"/>
              </a:ext>
            </a:extLst>
          </p:cNvPr>
          <p:cNvSpPr txBox="1"/>
          <p:nvPr/>
        </p:nvSpPr>
        <p:spPr>
          <a:xfrm>
            <a:off x="812800" y="19050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每件展品一列，記錄目前狀態與借用者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9F8598A-16CD-4752-41B4-1BC9FAD8BC01}"/>
              </a:ext>
            </a:extLst>
          </p:cNvPr>
          <p:cNvSpPr txBox="1"/>
          <p:nvPr/>
        </p:nvSpPr>
        <p:spPr>
          <a:xfrm>
            <a:off x="812800" y="25654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200">
                <a:solidFill>
                  <a:srgbClr val="1F6F78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item_id, name, category, location, status, current_borrower_name, expected_return_date</a:t>
            </a:r>
            <a:endParaRPr lang="zh-TW" altLang="en-US" sz="1200">
              <a:solidFill>
                <a:srgbClr val="1F6F78"/>
              </a:solidFill>
              <a:latin typeface="Consolas" panose="020B0609020204030204" pitchFamily="49" charset="0"/>
              <a:ea typeface="Microsoft JhengHei" panose="020B0604030504040204" pitchFamily="34" charset="-120"/>
              <a:sym typeface="Consolas" panose="020B0609020204030204" pitchFamily="49" charset="0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CDB2F860-0F66-763E-2B53-ECD9B48738F8}"/>
              </a:ext>
            </a:extLst>
          </p:cNvPr>
          <p:cNvSpPr/>
          <p:nvPr/>
        </p:nvSpPr>
        <p:spPr>
          <a:xfrm>
            <a:off x="4368800" y="1320800"/>
            <a:ext cx="3454400" cy="2184400"/>
          </a:xfrm>
          <a:prstGeom prst="roundRect">
            <a:avLst>
              <a:gd name="adj" fmla="val 8000"/>
            </a:avLst>
          </a:prstGeom>
          <a:solidFill>
            <a:srgbClr val="E4F1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A9DDE3E-78B1-E383-5ACC-6857AAFBBF4B}"/>
              </a:ext>
            </a:extLst>
          </p:cNvPr>
          <p:cNvSpPr txBox="1"/>
          <p:nvPr/>
        </p:nvSpPr>
        <p:spPr>
          <a:xfrm>
            <a:off x="4572000" y="14986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7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Loans</a:t>
            </a:r>
            <a:r>
              <a:rPr lang="zh-TW" altLang="en-US" sz="17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　借用紀錄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505F1D2-5B68-3492-868B-103ECBE3B017}"/>
              </a:ext>
            </a:extLst>
          </p:cNvPr>
          <p:cNvSpPr txBox="1"/>
          <p:nvPr/>
        </p:nvSpPr>
        <p:spPr>
          <a:xfrm>
            <a:off x="4572000" y="19050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一件一列；同一張借用單共用 </a:t>
            </a:r>
            <a:r>
              <a:rPr lang="en-US" altLang="zh-TW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loan_id</a:t>
            </a:r>
            <a:endParaRPr lang="zh-TW" altLang="en-US" sz="1400">
              <a:solidFill>
                <a:srgbClr val="1F2A3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sym typeface="Microsoft JhengHei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2D91805-2AEE-F539-90B5-742976E7F62C}"/>
              </a:ext>
            </a:extLst>
          </p:cNvPr>
          <p:cNvSpPr txBox="1"/>
          <p:nvPr/>
        </p:nvSpPr>
        <p:spPr>
          <a:xfrm>
            <a:off x="4572000" y="25654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200">
                <a:solidFill>
                  <a:srgbClr val="1F6F78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loan_id, item_id, borrower_email, reason, expected_return_date, status, returned_at</a:t>
            </a:r>
            <a:endParaRPr lang="zh-TW" altLang="en-US" sz="1200">
              <a:solidFill>
                <a:srgbClr val="1F6F78"/>
              </a:solidFill>
              <a:latin typeface="Consolas" panose="020B0609020204030204" pitchFamily="49" charset="0"/>
              <a:ea typeface="Microsoft JhengHei" panose="020B0604030504040204" pitchFamily="34" charset="-120"/>
              <a:sym typeface="Consolas" panose="020B0609020204030204" pitchFamily="49" charset="0"/>
            </a:endParaRP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C81141B5-CB83-4FB8-671B-7B72A9CACC41}"/>
              </a:ext>
            </a:extLst>
          </p:cNvPr>
          <p:cNvSpPr/>
          <p:nvPr/>
        </p:nvSpPr>
        <p:spPr>
          <a:xfrm>
            <a:off x="8128000" y="1320800"/>
            <a:ext cx="3454400" cy="2184400"/>
          </a:xfrm>
          <a:prstGeom prst="roundRect">
            <a:avLst>
              <a:gd name="adj" fmla="val 8000"/>
            </a:avLst>
          </a:prstGeom>
          <a:solidFill>
            <a:srgbClr val="E4F1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33BF2581-155A-39F0-E116-372DE88DABF6}"/>
              </a:ext>
            </a:extLst>
          </p:cNvPr>
          <p:cNvSpPr txBox="1"/>
          <p:nvPr/>
        </p:nvSpPr>
        <p:spPr>
          <a:xfrm>
            <a:off x="8331200" y="14986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7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Logs</a:t>
            </a:r>
            <a:r>
              <a:rPr lang="zh-TW" altLang="en-US" sz="17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　異動日誌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3E721A0F-FD7E-BB5E-1A1C-8424BEEB5343}"/>
              </a:ext>
            </a:extLst>
          </p:cNvPr>
          <p:cNvSpPr txBox="1"/>
          <p:nvPr/>
        </p:nvSpPr>
        <p:spPr>
          <a:xfrm>
            <a:off x="8331200" y="19050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每次異動新增一筆，只增不改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B9A4542-E36C-13AC-3B69-0C84D61690B0}"/>
              </a:ext>
            </a:extLst>
          </p:cNvPr>
          <p:cNvSpPr txBox="1"/>
          <p:nvPr/>
        </p:nvSpPr>
        <p:spPr>
          <a:xfrm>
            <a:off x="8331200" y="25654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200">
                <a:solidFill>
                  <a:srgbClr val="1F6F78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timestamp, action, item_id, loan_id, borrower_email, operator, detail</a:t>
            </a:r>
            <a:endParaRPr lang="zh-TW" altLang="en-US" sz="1200">
              <a:solidFill>
                <a:srgbClr val="1F6F78"/>
              </a:solidFill>
              <a:latin typeface="Consolas" panose="020B0609020204030204" pitchFamily="49" charset="0"/>
              <a:ea typeface="Microsoft JhengHei" panose="020B0604030504040204" pitchFamily="34" charset="-120"/>
              <a:sym typeface="Consolas" panose="020B0609020204030204" pitchFamily="49" charset="0"/>
            </a:endParaRP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A1900422-FD2F-D3CA-0D19-3B3257F21A57}"/>
              </a:ext>
            </a:extLst>
          </p:cNvPr>
          <p:cNvSpPr/>
          <p:nvPr/>
        </p:nvSpPr>
        <p:spPr>
          <a:xfrm>
            <a:off x="609600" y="3708400"/>
            <a:ext cx="3454400" cy="2184400"/>
          </a:xfrm>
          <a:prstGeom prst="roundRect">
            <a:avLst>
              <a:gd name="adj" fmla="val 8000"/>
            </a:avLst>
          </a:prstGeom>
          <a:solidFill>
            <a:srgbClr val="E4F1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704AC93C-5E88-E885-B67B-11C7000E2C6B}"/>
              </a:ext>
            </a:extLst>
          </p:cNvPr>
          <p:cNvSpPr txBox="1"/>
          <p:nvPr/>
        </p:nvSpPr>
        <p:spPr>
          <a:xfrm>
            <a:off x="812800" y="3886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7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Borrowers</a:t>
            </a:r>
            <a:r>
              <a:rPr lang="zh-TW" altLang="en-US" sz="17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　常用借用者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854D5ABB-3A3F-E3B8-6944-CE8EED87C402}"/>
              </a:ext>
            </a:extLst>
          </p:cNvPr>
          <p:cNvSpPr txBox="1"/>
          <p:nvPr/>
        </p:nvSpPr>
        <p:spPr>
          <a:xfrm>
            <a:off x="812800" y="42926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借用時自動記錄，供管理者代填選擇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4924BA5D-1D69-EFEB-2621-B51B23585627}"/>
              </a:ext>
            </a:extLst>
          </p:cNvPr>
          <p:cNvSpPr txBox="1"/>
          <p:nvPr/>
        </p:nvSpPr>
        <p:spPr>
          <a:xfrm>
            <a:off x="812800" y="49530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200">
                <a:solidFill>
                  <a:srgbClr val="1F6F78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email, name, last_used_at</a:t>
            </a:r>
            <a:endParaRPr lang="zh-TW" altLang="en-US" sz="1200">
              <a:solidFill>
                <a:srgbClr val="1F6F78"/>
              </a:solidFill>
              <a:latin typeface="Consolas" panose="020B0609020204030204" pitchFamily="49" charset="0"/>
              <a:ea typeface="Microsoft JhengHei" panose="020B0604030504040204" pitchFamily="34" charset="-120"/>
              <a:sym typeface="Consolas" panose="020B0609020204030204" pitchFamily="49" charset="0"/>
            </a:endParaRP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BC98A4FB-94EA-A3E8-EE07-F12F0B03A20A}"/>
              </a:ext>
            </a:extLst>
          </p:cNvPr>
          <p:cNvSpPr/>
          <p:nvPr/>
        </p:nvSpPr>
        <p:spPr>
          <a:xfrm>
            <a:off x="4368800" y="3708400"/>
            <a:ext cx="3454400" cy="2184400"/>
          </a:xfrm>
          <a:prstGeom prst="roundRect">
            <a:avLst>
              <a:gd name="adj" fmla="val 8000"/>
            </a:avLst>
          </a:prstGeom>
          <a:solidFill>
            <a:srgbClr val="E4F1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BC151A92-115C-65AC-8E86-9931E962B175}"/>
              </a:ext>
            </a:extLst>
          </p:cNvPr>
          <p:cNvSpPr txBox="1"/>
          <p:nvPr/>
        </p:nvSpPr>
        <p:spPr>
          <a:xfrm>
            <a:off x="4572000" y="3886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7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Settings</a:t>
            </a:r>
            <a:r>
              <a:rPr lang="zh-TW" altLang="en-US" sz="17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　系統設定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B732F33C-F1AF-4A21-B1EE-EFD272B70AD6}"/>
              </a:ext>
            </a:extLst>
          </p:cNvPr>
          <p:cNvSpPr txBox="1"/>
          <p:nvPr/>
        </p:nvSpPr>
        <p:spPr>
          <a:xfrm>
            <a:off x="4572000" y="42926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管理者可直接在試算表修改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E6E8E979-6346-5AC2-2652-AD9E51B1C9DA}"/>
              </a:ext>
            </a:extLst>
          </p:cNvPr>
          <p:cNvSpPr txBox="1"/>
          <p:nvPr/>
        </p:nvSpPr>
        <p:spPr>
          <a:xfrm>
            <a:off x="4572000" y="49530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200">
                <a:solidFill>
                  <a:srgbClr val="1F6F78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REASONS, EMAIL_DOMAIN, ADMIN_EMAILS, REMINDER_HOUR, APP_URL</a:t>
            </a:r>
            <a:endParaRPr lang="zh-TW" altLang="en-US" sz="1200">
              <a:solidFill>
                <a:srgbClr val="1F6F78"/>
              </a:solidFill>
              <a:latin typeface="Consolas" panose="020B0609020204030204" pitchFamily="49" charset="0"/>
              <a:ea typeface="Microsoft JhengHei" panose="020B0604030504040204" pitchFamily="34" charset="-120"/>
              <a:sym typeface="Consolas" panose="020B0609020204030204" pitchFamily="49" charset="0"/>
            </a:endParaRP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AAD1FFCA-507C-381C-0B14-74C239E0DB53}"/>
              </a:ext>
            </a:extLst>
          </p:cNvPr>
          <p:cNvSpPr/>
          <p:nvPr/>
        </p:nvSpPr>
        <p:spPr>
          <a:xfrm>
            <a:off x="8128000" y="3708400"/>
            <a:ext cx="3454400" cy="2184400"/>
          </a:xfrm>
          <a:prstGeom prst="roundRect">
            <a:avLst>
              <a:gd name="adj" fmla="val 8000"/>
            </a:avLst>
          </a:prstGeom>
          <a:solidFill>
            <a:srgbClr val="FCEF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0761E2E8-94C1-641C-723C-BC2B1080C250}"/>
              </a:ext>
            </a:extLst>
          </p:cNvPr>
          <p:cNvSpPr txBox="1"/>
          <p:nvPr/>
        </p:nvSpPr>
        <p:spPr>
          <a:xfrm>
            <a:off x="8331200" y="3886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700" b="1">
                <a:solidFill>
                  <a:srgbClr val="A86A1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設計重點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5363A11D-058E-6B29-142A-5FF87B70AC74}"/>
              </a:ext>
            </a:extLst>
          </p:cNvPr>
          <p:cNvSpPr txBox="1"/>
          <p:nvPr/>
        </p:nvSpPr>
        <p:spPr>
          <a:xfrm>
            <a:off x="8331200" y="4318000"/>
            <a:ext cx="3098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03200" indent="-203200">
              <a:spcAft>
                <a:spcPts val="900"/>
              </a:spcAft>
              <a:buClr>
                <a:srgbClr val="A86A12"/>
              </a:buClr>
              <a:buFont typeface="+mj-lt"/>
              <a:buChar char="•"/>
            </a:pPr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依標題列名稱讀寫，欄位順序可調整</a:t>
            </a:r>
          </a:p>
          <a:p>
            <a:pPr marL="203200" indent="-203200">
              <a:spcAft>
                <a:spcPts val="900"/>
              </a:spcAft>
              <a:buClr>
                <a:srgbClr val="A86A12"/>
              </a:buClr>
              <a:buFont typeface="+mj-lt"/>
              <a:buChar char="•"/>
            </a:pPr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編號設為純文字，保留 </a:t>
            </a:r>
            <a:r>
              <a:rPr lang="en-US" altLang="zh-TW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001 </a:t>
            </a:r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的 </a:t>
            </a:r>
            <a:r>
              <a:rPr lang="en-US" altLang="zh-TW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0</a:t>
            </a:r>
          </a:p>
          <a:p>
            <a:pPr marL="203200" indent="-203200">
              <a:spcAft>
                <a:spcPts val="900"/>
              </a:spcAft>
              <a:buClr>
                <a:srgbClr val="A86A12"/>
              </a:buClr>
              <a:buFont typeface="+mj-lt"/>
              <a:buChar char="•"/>
            </a:pPr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日期存成真正的日期，可排序篩選</a:t>
            </a:r>
          </a:p>
        </p:txBody>
      </p:sp>
    </p:spTree>
    <p:extLst>
      <p:ext uri="{BB962C8B-B14F-4D97-AF65-F5344CB8AC3E}">
        <p14:creationId xmlns:p14="http://schemas.microsoft.com/office/powerpoint/2010/main" val="3949118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B7EB01-CAE1-0A74-40EA-649A32348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584200"/>
          </a:xfrm>
        </p:spPr>
        <p:txBody>
          <a:bodyPr wrap="square" lIns="0" tIns="0" rIns="0" bIns="0" anchor="t">
            <a:noAutofit/>
          </a:bodyPr>
          <a:lstStyle/>
          <a:p>
            <a:r>
              <a:rPr lang="zh-TW" altLang="en-US" sz="28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展品狀態：誰能在什麼時候改變它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FD91CF4-C353-E2BA-A8A2-6522F01E597C}"/>
              </a:ext>
            </a:extLst>
          </p:cNvPr>
          <p:cNvSpPr txBox="1"/>
          <p:nvPr/>
        </p:nvSpPr>
        <p:spPr>
          <a:xfrm>
            <a:off x="609600" y="2032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200" b="1">
                <a:solidFill>
                  <a:srgbClr val="E8A3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03 </a:t>
            </a:r>
            <a:r>
              <a:rPr lang="zh-TW" altLang="en-US" sz="1200" b="1">
                <a:solidFill>
                  <a:srgbClr val="E8A3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資料與介面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EA9A0BA-7E4D-2AF1-94B3-3012159FC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2CFFA-BCF7-4941-9F1D-DE24BA5E8539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6A662838-1E52-6F22-4D0D-1505442C2CC5}"/>
              </a:ext>
            </a:extLst>
          </p:cNvPr>
          <p:cNvSpPr/>
          <p:nvPr/>
        </p:nvSpPr>
        <p:spPr>
          <a:xfrm>
            <a:off x="1498600" y="1905000"/>
            <a:ext cx="1651000" cy="1651000"/>
          </a:xfrm>
          <a:prstGeom prst="ellipse">
            <a:avLst/>
          </a:prstGeom>
          <a:solidFill>
            <a:srgbClr val="E4F1EF"/>
          </a:solidFill>
          <a:ln w="15875">
            <a:solidFill>
              <a:srgbClr val="1F6F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>
            <a:noAutofit/>
          </a:bodyPr>
          <a:lstStyle/>
          <a:p>
            <a:pPr algn="ctr"/>
            <a:r>
              <a:rPr lang="zh-TW" altLang="en-US" sz="22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在庫</a:t>
            </a: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9A2CA78F-21CF-05A7-F068-0B77E3925020}"/>
              </a:ext>
            </a:extLst>
          </p:cNvPr>
          <p:cNvSpPr/>
          <p:nvPr/>
        </p:nvSpPr>
        <p:spPr>
          <a:xfrm>
            <a:off x="5054600" y="1905000"/>
            <a:ext cx="1651000" cy="1651000"/>
          </a:xfrm>
          <a:prstGeom prst="ellipse">
            <a:avLst/>
          </a:prstGeom>
          <a:solidFill>
            <a:srgbClr val="1F6F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zh-TW" altLang="en-US" sz="22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借出</a:t>
            </a:r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DA5B5754-641F-526F-32F5-DF80043CD473}"/>
              </a:ext>
            </a:extLst>
          </p:cNvPr>
          <p:cNvCxnSpPr/>
          <p:nvPr/>
        </p:nvCxnSpPr>
        <p:spPr>
          <a:xfrm>
            <a:off x="3124200" y="2476500"/>
            <a:ext cx="1955800" cy="0"/>
          </a:xfrm>
          <a:prstGeom prst="straightConnector1">
            <a:avLst/>
          </a:prstGeom>
          <a:ln w="31750">
            <a:solidFill>
              <a:srgbClr val="1F6F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E9E42E87-FD4B-4B3B-338D-414F83827FDE}"/>
              </a:ext>
            </a:extLst>
          </p:cNvPr>
          <p:cNvSpPr txBox="1"/>
          <p:nvPr/>
        </p:nvSpPr>
        <p:spPr>
          <a:xfrm>
            <a:off x="3175000" y="2159000"/>
            <a:ext cx="1879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1300" b="1">
                <a:solidFill>
                  <a:srgbClr val="1F6F7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掃碼借用</a:t>
            </a: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ED61679C-318A-5247-0D3E-AB90DF1AB09A}"/>
              </a:ext>
            </a:extLst>
          </p:cNvPr>
          <p:cNvCxnSpPr/>
          <p:nvPr/>
        </p:nvCxnSpPr>
        <p:spPr>
          <a:xfrm flipH="1">
            <a:off x="3098800" y="3048000"/>
            <a:ext cx="2006600" cy="0"/>
          </a:xfrm>
          <a:prstGeom prst="straightConnector1">
            <a:avLst/>
          </a:prstGeom>
          <a:ln w="31750">
            <a:solidFill>
              <a:srgbClr val="1F6F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BF3C71D-1E97-AD60-ADF8-BF9338F3DF38}"/>
              </a:ext>
            </a:extLst>
          </p:cNvPr>
          <p:cNvSpPr txBox="1"/>
          <p:nvPr/>
        </p:nvSpPr>
        <p:spPr>
          <a:xfrm>
            <a:off x="3175000" y="3149600"/>
            <a:ext cx="1879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1300" b="1">
                <a:solidFill>
                  <a:srgbClr val="1F6F7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掃碼歸還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462E722-955D-3F07-C41E-0B924BAAD26B}"/>
              </a:ext>
            </a:extLst>
          </p:cNvPr>
          <p:cNvSpPr txBox="1"/>
          <p:nvPr/>
        </p:nvSpPr>
        <p:spPr>
          <a:xfrm>
            <a:off x="4673600" y="3683000"/>
            <a:ext cx="241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1200">
                <a:solidFill>
                  <a:srgbClr val="5F6B7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移轉：換新借用單，</a:t>
            </a:r>
          </a:p>
          <a:p>
            <a:pPr algn="ctr"/>
            <a:r>
              <a:rPr lang="zh-TW" altLang="en-US" sz="1200">
                <a:solidFill>
                  <a:srgbClr val="5F6B7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仍是借出（管理者）</a:t>
            </a: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AE85C560-A4D1-12F8-DFD0-680DFB490A0D}"/>
              </a:ext>
            </a:extLst>
          </p:cNvPr>
          <p:cNvCxnSpPr/>
          <p:nvPr/>
        </p:nvCxnSpPr>
        <p:spPr>
          <a:xfrm>
            <a:off x="2324100" y="3581400"/>
            <a:ext cx="0" cy="990600"/>
          </a:xfrm>
          <a:prstGeom prst="straightConnector1">
            <a:avLst/>
          </a:prstGeom>
          <a:ln w="25400">
            <a:solidFill>
              <a:srgbClr val="5F6B7A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FCBA04C-F92C-B797-E014-1D5ABA15130D}"/>
              </a:ext>
            </a:extLst>
          </p:cNvPr>
          <p:cNvSpPr txBox="1"/>
          <p:nvPr/>
        </p:nvSpPr>
        <p:spPr>
          <a:xfrm>
            <a:off x="2438400" y="39370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200">
                <a:solidFill>
                  <a:srgbClr val="5F6B7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管理者變更／恢復在庫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B02EDA0C-23B1-E229-F220-A5864B37B04F}"/>
              </a:ext>
            </a:extLst>
          </p:cNvPr>
          <p:cNvSpPr/>
          <p:nvPr/>
        </p:nvSpPr>
        <p:spPr>
          <a:xfrm>
            <a:off x="711200" y="4597400"/>
            <a:ext cx="990600" cy="558800"/>
          </a:xfrm>
          <a:prstGeom prst="roundRect">
            <a:avLst>
              <a:gd name="adj" fmla="val 8000"/>
            </a:avLst>
          </a:prstGeom>
          <a:solidFill>
            <a:srgbClr val="FCEF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zh-TW" altLang="en-US" sz="1500" b="1">
                <a:solidFill>
                  <a:srgbClr val="A86A1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送修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F6893D87-56C7-E1AB-3984-2335EA543777}"/>
              </a:ext>
            </a:extLst>
          </p:cNvPr>
          <p:cNvSpPr/>
          <p:nvPr/>
        </p:nvSpPr>
        <p:spPr>
          <a:xfrm>
            <a:off x="1828800" y="4597400"/>
            <a:ext cx="990600" cy="558800"/>
          </a:xfrm>
          <a:prstGeom prst="roundRect">
            <a:avLst>
              <a:gd name="adj" fmla="val 8000"/>
            </a:avLst>
          </a:prstGeom>
          <a:solidFill>
            <a:srgbClr val="F9E1D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zh-TW" altLang="en-US" sz="1500" b="1">
                <a:solidFill>
                  <a:srgbClr val="B03A2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遺失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65B7F11A-5F00-2313-DF5F-FC733BD039C0}"/>
              </a:ext>
            </a:extLst>
          </p:cNvPr>
          <p:cNvSpPr/>
          <p:nvPr/>
        </p:nvSpPr>
        <p:spPr>
          <a:xfrm>
            <a:off x="2946400" y="4597400"/>
            <a:ext cx="990600" cy="55880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zh-TW" altLang="en-US" sz="1500" b="1">
                <a:solidFill>
                  <a:srgbClr val="5F6B7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報廢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358433FF-7C9E-A70F-B338-5639BAD1FE9F}"/>
              </a:ext>
            </a:extLst>
          </p:cNvPr>
          <p:cNvSpPr/>
          <p:nvPr/>
        </p:nvSpPr>
        <p:spPr>
          <a:xfrm>
            <a:off x="7493000" y="1397000"/>
            <a:ext cx="4089400" cy="309880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844D0C7C-0D99-87EE-29F4-0AACDE7AE7B0}"/>
              </a:ext>
            </a:extLst>
          </p:cNvPr>
          <p:cNvSpPr txBox="1"/>
          <p:nvPr/>
        </p:nvSpPr>
        <p:spPr>
          <a:xfrm>
            <a:off x="7772400" y="16002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規則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2044B864-88AB-14A4-F503-306D5704792E}"/>
              </a:ext>
            </a:extLst>
          </p:cNvPr>
          <p:cNvSpPr txBox="1"/>
          <p:nvPr/>
        </p:nvSpPr>
        <p:spPr>
          <a:xfrm>
            <a:off x="7772400" y="2057400"/>
            <a:ext cx="3581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03200" indent="-203200">
              <a:spcAft>
                <a:spcPts val="900"/>
              </a:spcAft>
              <a:buClr>
                <a:srgbClr val="1F6F78"/>
              </a:buClr>
              <a:buFont typeface="+mj-lt"/>
              <a:buChar char="•"/>
            </a:pPr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只有「在庫」能借用，只有「借出」能歸還</a:t>
            </a:r>
          </a:p>
          <a:p>
            <a:pPr marL="203200" indent="-203200">
              <a:spcAft>
                <a:spcPts val="900"/>
              </a:spcAft>
              <a:buClr>
                <a:srgbClr val="1F6F78"/>
              </a:buClr>
              <a:buFont typeface="+mj-lt"/>
              <a:buChar char="•"/>
            </a:pPr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送修、遺失、報廢只有管理者能設定</a:t>
            </a:r>
          </a:p>
          <a:p>
            <a:pPr marL="203200" indent="-203200">
              <a:spcAft>
                <a:spcPts val="900"/>
              </a:spcAft>
              <a:buClr>
                <a:srgbClr val="1F6F78"/>
              </a:buClr>
              <a:buFont typeface="+mj-lt"/>
              <a:buChar char="•"/>
            </a:pPr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借出中不能直接改成送修或遺失，要先歸還</a:t>
            </a:r>
          </a:p>
          <a:p>
            <a:pPr marL="203200" indent="-203200">
              <a:spcAft>
                <a:spcPts val="900"/>
              </a:spcAft>
              <a:buClr>
                <a:srgbClr val="1F6F78"/>
              </a:buClr>
              <a:buFont typeface="+mj-lt"/>
              <a:buChar char="•"/>
            </a:pPr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一張借用單整批檢查：有一件不能借，整張都不成立</a:t>
            </a:r>
          </a:p>
          <a:p>
            <a:pPr marL="203200" indent="-203200">
              <a:spcAft>
                <a:spcPts val="900"/>
              </a:spcAft>
              <a:buClr>
                <a:srgbClr val="1F6F78"/>
              </a:buClr>
              <a:buFont typeface="+mj-lt"/>
              <a:buChar char="•"/>
            </a:pPr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每次狀態改變都寫入 </a:t>
            </a:r>
            <a:r>
              <a:rPr lang="en-US" altLang="zh-TW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Logs</a:t>
            </a:r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，可查完整履歷</a:t>
            </a:r>
          </a:p>
        </p:txBody>
      </p:sp>
    </p:spTree>
    <p:extLst>
      <p:ext uri="{BB962C8B-B14F-4D97-AF65-F5344CB8AC3E}">
        <p14:creationId xmlns:p14="http://schemas.microsoft.com/office/powerpoint/2010/main" val="1307027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EBA678-7188-6DE2-3620-098030DD9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584200"/>
          </a:xfrm>
        </p:spPr>
        <p:txBody>
          <a:bodyPr wrap="square" lIns="0" tIns="0" rIns="0" bIns="0" anchor="t">
            <a:noAutofit/>
          </a:bodyPr>
          <a:lstStyle/>
          <a:p>
            <a:r>
              <a:rPr lang="zh-TW" altLang="en-US" sz="28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後端 </a:t>
            </a:r>
            <a:r>
              <a:rPr lang="en-US" altLang="zh-TW" sz="28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API</a:t>
            </a:r>
            <a:r>
              <a:rPr lang="zh-TW" altLang="en-US" sz="28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：一個網址，用 </a:t>
            </a:r>
            <a:r>
              <a:rPr lang="en-US" altLang="zh-TW" sz="28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action </a:t>
            </a:r>
            <a:r>
              <a:rPr lang="zh-TW" altLang="en-US" sz="28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區分功能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8857404-1D97-2B48-CBD1-1B283E65805A}"/>
              </a:ext>
            </a:extLst>
          </p:cNvPr>
          <p:cNvSpPr txBox="1"/>
          <p:nvPr/>
        </p:nvSpPr>
        <p:spPr>
          <a:xfrm>
            <a:off x="609600" y="2032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200" b="1">
                <a:solidFill>
                  <a:srgbClr val="E8A3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03 </a:t>
            </a:r>
            <a:r>
              <a:rPr lang="zh-TW" altLang="en-US" sz="1200" b="1">
                <a:solidFill>
                  <a:srgbClr val="E8A3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資料與介面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BD203E8-6270-D9BF-445B-F125DD5DB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2CFFA-BCF7-4941-9F1D-DE24BA5E8539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6B85A3C0-5D8D-18E5-47B4-DECD3D7A0705}"/>
              </a:ext>
            </a:extLst>
          </p:cNvPr>
          <p:cNvSpPr/>
          <p:nvPr/>
        </p:nvSpPr>
        <p:spPr>
          <a:xfrm>
            <a:off x="609600" y="1320800"/>
            <a:ext cx="5334000" cy="3683000"/>
          </a:xfrm>
          <a:prstGeom prst="roundRect">
            <a:avLst>
              <a:gd name="adj" fmla="val 8000"/>
            </a:avLst>
          </a:prstGeom>
          <a:solidFill>
            <a:srgbClr val="E4F1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4EF7F89-A9B2-271C-FDE6-BFB4F1D4E325}"/>
              </a:ext>
            </a:extLst>
          </p:cNvPr>
          <p:cNvSpPr txBox="1"/>
          <p:nvPr/>
        </p:nvSpPr>
        <p:spPr>
          <a:xfrm>
            <a:off x="863600" y="14986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6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一般使用者（不需登入）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F4A1C97-AF42-E700-DD96-84A8B33A9C50}"/>
              </a:ext>
            </a:extLst>
          </p:cNvPr>
          <p:cNvSpPr txBox="1"/>
          <p:nvPr/>
        </p:nvSpPr>
        <p:spPr>
          <a:xfrm>
            <a:off x="863600" y="1981200"/>
            <a:ext cx="177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400" b="1">
                <a:solidFill>
                  <a:srgbClr val="1F6F78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getConfig</a:t>
            </a:r>
            <a:endParaRPr lang="zh-TW" altLang="en-US" sz="1400" b="1">
              <a:solidFill>
                <a:srgbClr val="1F6F78"/>
              </a:solidFill>
              <a:latin typeface="Consolas" panose="020B0609020204030204" pitchFamily="49" charset="0"/>
              <a:ea typeface="Microsoft JhengHei" panose="020B0604030504040204" pitchFamily="34" charset="-120"/>
              <a:sym typeface="Consolas" panose="020B0609020204030204" pitchFamily="49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C18F4E8-04CA-94FA-3796-8901A5B34E56}"/>
              </a:ext>
            </a:extLst>
          </p:cNvPr>
          <p:cNvSpPr txBox="1"/>
          <p:nvPr/>
        </p:nvSpPr>
        <p:spPr>
          <a:xfrm>
            <a:off x="2667000" y="1981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讀取借用事由等設定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5FEA0E9-89FE-039D-F0BF-F02517A60798}"/>
              </a:ext>
            </a:extLst>
          </p:cNvPr>
          <p:cNvSpPr txBox="1"/>
          <p:nvPr/>
        </p:nvSpPr>
        <p:spPr>
          <a:xfrm>
            <a:off x="863600" y="2514600"/>
            <a:ext cx="177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400" b="1">
                <a:solidFill>
                  <a:srgbClr val="1F6F78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getItem</a:t>
            </a:r>
            <a:endParaRPr lang="zh-TW" altLang="en-US" sz="1400" b="1">
              <a:solidFill>
                <a:srgbClr val="1F6F78"/>
              </a:solidFill>
              <a:latin typeface="Consolas" panose="020B0609020204030204" pitchFamily="49" charset="0"/>
              <a:ea typeface="Microsoft JhengHei" panose="020B0604030504040204" pitchFamily="34" charset="-120"/>
              <a:sym typeface="Consolas" panose="020B0609020204030204" pitchFamily="49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FD15ED4-C07D-575B-D5F1-6C3EF8B1500E}"/>
              </a:ext>
            </a:extLst>
          </p:cNvPr>
          <p:cNvSpPr txBox="1"/>
          <p:nvPr/>
        </p:nvSpPr>
        <p:spPr>
          <a:xfrm>
            <a:off x="2667000" y="25146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查詢展品目前狀態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91CC635-DEB2-DDAF-6802-11CF9BF5E239}"/>
              </a:ext>
            </a:extLst>
          </p:cNvPr>
          <p:cNvSpPr txBox="1"/>
          <p:nvPr/>
        </p:nvSpPr>
        <p:spPr>
          <a:xfrm>
            <a:off x="863600" y="3048000"/>
            <a:ext cx="177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400" b="1">
                <a:solidFill>
                  <a:srgbClr val="1F6F78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checkout</a:t>
            </a:r>
            <a:endParaRPr lang="zh-TW" altLang="en-US" sz="1400" b="1">
              <a:solidFill>
                <a:srgbClr val="1F6F78"/>
              </a:solidFill>
              <a:latin typeface="Consolas" panose="020B0609020204030204" pitchFamily="49" charset="0"/>
              <a:ea typeface="Microsoft JhengHei" panose="020B0604030504040204" pitchFamily="34" charset="-120"/>
              <a:sym typeface="Consolas" panose="020B0609020204030204" pitchFamily="49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BFA5B29-579C-55C8-4A1E-ADE6E2FA875A}"/>
              </a:ext>
            </a:extLst>
          </p:cNvPr>
          <p:cNvSpPr txBox="1"/>
          <p:nvPr/>
        </p:nvSpPr>
        <p:spPr>
          <a:xfrm>
            <a:off x="2667000" y="30480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借用（一次多件）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35586C78-D043-4AEA-0129-BB9C0749F554}"/>
              </a:ext>
            </a:extLst>
          </p:cNvPr>
          <p:cNvSpPr txBox="1"/>
          <p:nvPr/>
        </p:nvSpPr>
        <p:spPr>
          <a:xfrm>
            <a:off x="863600" y="3581400"/>
            <a:ext cx="177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400" b="1">
                <a:solidFill>
                  <a:srgbClr val="1F6F78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checkin</a:t>
            </a:r>
            <a:endParaRPr lang="zh-TW" altLang="en-US" sz="1400" b="1">
              <a:solidFill>
                <a:srgbClr val="1F6F78"/>
              </a:solidFill>
              <a:latin typeface="Consolas" panose="020B0609020204030204" pitchFamily="49" charset="0"/>
              <a:ea typeface="Microsoft JhengHei" panose="020B0604030504040204" pitchFamily="34" charset="-120"/>
              <a:sym typeface="Consolas" panose="020B0609020204030204" pitchFamily="49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0669728-EAA3-1AAB-D1DE-73DA5D7DF384}"/>
              </a:ext>
            </a:extLst>
          </p:cNvPr>
          <p:cNvSpPr txBox="1"/>
          <p:nvPr/>
        </p:nvSpPr>
        <p:spPr>
          <a:xfrm>
            <a:off x="2667000" y="35814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歸還（可分批）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E486AB7-EA55-CFAE-0586-F3D89FE3D0B9}"/>
              </a:ext>
            </a:extLst>
          </p:cNvPr>
          <p:cNvSpPr txBox="1"/>
          <p:nvPr/>
        </p:nvSpPr>
        <p:spPr>
          <a:xfrm>
            <a:off x="863600" y="4114800"/>
            <a:ext cx="177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400" b="1">
                <a:solidFill>
                  <a:srgbClr val="1F6F78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myLoans</a:t>
            </a:r>
            <a:endParaRPr lang="zh-TW" altLang="en-US" sz="1400" b="1">
              <a:solidFill>
                <a:srgbClr val="1F6F78"/>
              </a:solidFill>
              <a:latin typeface="Consolas" panose="020B0609020204030204" pitchFamily="49" charset="0"/>
              <a:ea typeface="Microsoft JhengHei" panose="020B0604030504040204" pitchFamily="34" charset="-120"/>
              <a:sym typeface="Consolas" panose="020B0609020204030204" pitchFamily="49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B1EA2DC7-7933-F216-9C55-E9CE30CC7EB4}"/>
              </a:ext>
            </a:extLst>
          </p:cNvPr>
          <p:cNvSpPr txBox="1"/>
          <p:nvPr/>
        </p:nvSpPr>
        <p:spPr>
          <a:xfrm>
            <a:off x="2667000" y="41148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查詢自己借用中的展品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29235C6B-1E93-1CF4-B131-84C35E4D5F81}"/>
              </a:ext>
            </a:extLst>
          </p:cNvPr>
          <p:cNvSpPr/>
          <p:nvPr/>
        </p:nvSpPr>
        <p:spPr>
          <a:xfrm>
            <a:off x="6248400" y="1320800"/>
            <a:ext cx="5334000" cy="3683000"/>
          </a:xfrm>
          <a:prstGeom prst="roundRect">
            <a:avLst>
              <a:gd name="adj" fmla="val 8000"/>
            </a:avLst>
          </a:prstGeom>
          <a:solidFill>
            <a:srgbClr val="0F3B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E0121EE3-7564-1FED-4CB1-2F73E591DB7C}"/>
              </a:ext>
            </a:extLst>
          </p:cNvPr>
          <p:cNvSpPr txBox="1"/>
          <p:nvPr/>
        </p:nvSpPr>
        <p:spPr>
          <a:xfrm>
            <a:off x="6502400" y="14986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600" b="1">
                <a:solidFill>
                  <a:srgbClr val="E8A3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管理者（需管理者金鑰）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18ADC2EB-CF23-65FF-182E-97D5DB71AFB0}"/>
              </a:ext>
            </a:extLst>
          </p:cNvPr>
          <p:cNvSpPr txBox="1"/>
          <p:nvPr/>
        </p:nvSpPr>
        <p:spPr>
          <a:xfrm>
            <a:off x="6502400" y="19304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400" b="1">
                <a:solidFill>
                  <a:srgbClr val="C9E4E0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listItems</a:t>
            </a:r>
            <a:endParaRPr lang="zh-TW" altLang="en-US" sz="1400" b="1">
              <a:solidFill>
                <a:srgbClr val="C9E4E0"/>
              </a:solidFill>
              <a:latin typeface="Consolas" panose="020B0609020204030204" pitchFamily="49" charset="0"/>
              <a:ea typeface="Microsoft JhengHei" panose="020B0604030504040204" pitchFamily="34" charset="-120"/>
              <a:sym typeface="Consolas" panose="020B0609020204030204" pitchFamily="49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A1D67C2E-30E1-F600-2659-7D6E806E9136}"/>
              </a:ext>
            </a:extLst>
          </p:cNvPr>
          <p:cNvSpPr txBox="1"/>
          <p:nvPr/>
        </p:nvSpPr>
        <p:spPr>
          <a:xfrm>
            <a:off x="8483600" y="1930400"/>
            <a:ext cx="292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展品列表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66C30123-EFFE-7071-E3D4-A169F971C8D6}"/>
              </a:ext>
            </a:extLst>
          </p:cNvPr>
          <p:cNvSpPr txBox="1"/>
          <p:nvPr/>
        </p:nvSpPr>
        <p:spPr>
          <a:xfrm>
            <a:off x="6502400" y="22987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400" b="1">
                <a:solidFill>
                  <a:srgbClr val="C9E4E0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saveItem</a:t>
            </a:r>
            <a:endParaRPr lang="zh-TW" altLang="en-US" sz="1400" b="1">
              <a:solidFill>
                <a:srgbClr val="C9E4E0"/>
              </a:solidFill>
              <a:latin typeface="Consolas" panose="020B0609020204030204" pitchFamily="49" charset="0"/>
              <a:ea typeface="Microsoft JhengHei" panose="020B0604030504040204" pitchFamily="34" charset="-120"/>
              <a:sym typeface="Consolas" panose="020B0609020204030204" pitchFamily="49" charset="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D8E82666-D713-6848-E6F5-CF22D246E3AC}"/>
              </a:ext>
            </a:extLst>
          </p:cNvPr>
          <p:cNvSpPr txBox="1"/>
          <p:nvPr/>
        </p:nvSpPr>
        <p:spPr>
          <a:xfrm>
            <a:off x="8483600" y="2298700"/>
            <a:ext cx="292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新增／編輯展品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C87731-14A5-FBC5-65BC-1CD78BCA92E9}"/>
              </a:ext>
            </a:extLst>
          </p:cNvPr>
          <p:cNvSpPr txBox="1"/>
          <p:nvPr/>
        </p:nvSpPr>
        <p:spPr>
          <a:xfrm>
            <a:off x="6502400" y="26670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400" b="1">
                <a:solidFill>
                  <a:srgbClr val="C9E4E0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setItemStatus</a:t>
            </a:r>
            <a:endParaRPr lang="zh-TW" altLang="en-US" sz="1400" b="1">
              <a:solidFill>
                <a:srgbClr val="C9E4E0"/>
              </a:solidFill>
              <a:latin typeface="Consolas" panose="020B0609020204030204" pitchFamily="49" charset="0"/>
              <a:ea typeface="Microsoft JhengHei" panose="020B0604030504040204" pitchFamily="34" charset="-120"/>
              <a:sym typeface="Consolas" panose="020B0609020204030204" pitchFamily="49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68C3F556-1CB8-B48C-3851-10A324D6365C}"/>
              </a:ext>
            </a:extLst>
          </p:cNvPr>
          <p:cNvSpPr txBox="1"/>
          <p:nvPr/>
        </p:nvSpPr>
        <p:spPr>
          <a:xfrm>
            <a:off x="8483600" y="2667000"/>
            <a:ext cx="292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送修／遺失／報廢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A4FED6E1-EE17-4684-D64C-C1E08C89642D}"/>
              </a:ext>
            </a:extLst>
          </p:cNvPr>
          <p:cNvSpPr txBox="1"/>
          <p:nvPr/>
        </p:nvSpPr>
        <p:spPr>
          <a:xfrm>
            <a:off x="6502400" y="30353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400" b="1">
                <a:solidFill>
                  <a:srgbClr val="C9E4E0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transfer</a:t>
            </a:r>
            <a:endParaRPr lang="zh-TW" altLang="en-US" sz="1400" b="1">
              <a:solidFill>
                <a:srgbClr val="C9E4E0"/>
              </a:solidFill>
              <a:latin typeface="Consolas" panose="020B0609020204030204" pitchFamily="49" charset="0"/>
              <a:ea typeface="Microsoft JhengHei" panose="020B0604030504040204" pitchFamily="34" charset="-120"/>
              <a:sym typeface="Consolas" panose="020B0609020204030204" pitchFamily="49" charset="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A030C9D5-62A9-8F63-53E7-44CF143F2908}"/>
              </a:ext>
            </a:extLst>
          </p:cNvPr>
          <p:cNvSpPr txBox="1"/>
          <p:nvPr/>
        </p:nvSpPr>
        <p:spPr>
          <a:xfrm>
            <a:off x="8483600" y="3035300"/>
            <a:ext cx="292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移轉借用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BCD1A4EF-EB0C-E394-4F0E-EB21D4315092}"/>
              </a:ext>
            </a:extLst>
          </p:cNvPr>
          <p:cNvSpPr txBox="1"/>
          <p:nvPr/>
        </p:nvSpPr>
        <p:spPr>
          <a:xfrm>
            <a:off x="6502400" y="34036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400" b="1">
                <a:solidFill>
                  <a:srgbClr val="C9E4E0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getHistory</a:t>
            </a:r>
            <a:endParaRPr lang="zh-TW" altLang="en-US" sz="1400" b="1">
              <a:solidFill>
                <a:srgbClr val="C9E4E0"/>
              </a:solidFill>
              <a:latin typeface="Consolas" panose="020B0609020204030204" pitchFamily="49" charset="0"/>
              <a:ea typeface="Microsoft JhengHei" panose="020B0604030504040204" pitchFamily="34" charset="-120"/>
              <a:sym typeface="Consolas" panose="020B0609020204030204" pitchFamily="49" charset="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9202CF40-79DB-5C5D-FCA8-0504B2513E29}"/>
              </a:ext>
            </a:extLst>
          </p:cNvPr>
          <p:cNvSpPr txBox="1"/>
          <p:nvPr/>
        </p:nvSpPr>
        <p:spPr>
          <a:xfrm>
            <a:off x="8483600" y="3403600"/>
            <a:ext cx="292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單品履歷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172E833E-EAC9-23C1-FFD8-C5309C44E427}"/>
              </a:ext>
            </a:extLst>
          </p:cNvPr>
          <p:cNvSpPr txBox="1"/>
          <p:nvPr/>
        </p:nvSpPr>
        <p:spPr>
          <a:xfrm>
            <a:off x="6502400" y="37719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400" b="1">
                <a:solidFill>
                  <a:srgbClr val="C9E4E0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listOverdue</a:t>
            </a:r>
            <a:endParaRPr lang="zh-TW" altLang="en-US" sz="1400" b="1">
              <a:solidFill>
                <a:srgbClr val="C9E4E0"/>
              </a:solidFill>
              <a:latin typeface="Consolas" panose="020B0609020204030204" pitchFamily="49" charset="0"/>
              <a:ea typeface="Microsoft JhengHei" panose="020B0604030504040204" pitchFamily="34" charset="-120"/>
              <a:sym typeface="Consolas" panose="020B0609020204030204" pitchFamily="49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36D21C98-E87F-A181-9616-4E47386852FA}"/>
              </a:ext>
            </a:extLst>
          </p:cNvPr>
          <p:cNvSpPr txBox="1"/>
          <p:nvPr/>
        </p:nvSpPr>
        <p:spPr>
          <a:xfrm>
            <a:off x="8483600" y="3771900"/>
            <a:ext cx="292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逾期清單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7A5906F0-EEED-18AB-F6C3-52D6BACC757E}"/>
              </a:ext>
            </a:extLst>
          </p:cNvPr>
          <p:cNvSpPr txBox="1"/>
          <p:nvPr/>
        </p:nvSpPr>
        <p:spPr>
          <a:xfrm>
            <a:off x="6502400" y="41402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400" b="1">
                <a:solidFill>
                  <a:srgbClr val="C9E4E0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sendReminders</a:t>
            </a:r>
            <a:endParaRPr lang="zh-TW" altLang="en-US" sz="1400" b="1">
              <a:solidFill>
                <a:srgbClr val="C9E4E0"/>
              </a:solidFill>
              <a:latin typeface="Consolas" panose="020B0609020204030204" pitchFamily="49" charset="0"/>
              <a:ea typeface="Microsoft JhengHei" panose="020B0604030504040204" pitchFamily="34" charset="-120"/>
              <a:sym typeface="Consolas" panose="020B0609020204030204" pitchFamily="49" charset="0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8A917599-A247-53E9-99CA-F155B3A4F77F}"/>
              </a:ext>
            </a:extLst>
          </p:cNvPr>
          <p:cNvSpPr txBox="1"/>
          <p:nvPr/>
        </p:nvSpPr>
        <p:spPr>
          <a:xfrm>
            <a:off x="8483600" y="4140200"/>
            <a:ext cx="292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立即寄催還信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626D8FCC-98EA-7589-2835-6716256B1E1A}"/>
              </a:ext>
            </a:extLst>
          </p:cNvPr>
          <p:cNvSpPr txBox="1"/>
          <p:nvPr/>
        </p:nvSpPr>
        <p:spPr>
          <a:xfrm>
            <a:off x="6502400" y="45085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400" b="1">
                <a:solidFill>
                  <a:srgbClr val="C9E4E0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verifyAdmin</a:t>
            </a:r>
            <a:endParaRPr lang="zh-TW" altLang="en-US" sz="1400" b="1">
              <a:solidFill>
                <a:srgbClr val="C9E4E0"/>
              </a:solidFill>
              <a:latin typeface="Consolas" panose="020B0609020204030204" pitchFamily="49" charset="0"/>
              <a:ea typeface="Microsoft JhengHei" panose="020B0604030504040204" pitchFamily="34" charset="-120"/>
              <a:sym typeface="Consolas" panose="020B0609020204030204" pitchFamily="49" charset="0"/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F7C30790-58E3-1488-307B-48290777D3D1}"/>
              </a:ext>
            </a:extLst>
          </p:cNvPr>
          <p:cNvSpPr txBox="1"/>
          <p:nvPr/>
        </p:nvSpPr>
        <p:spPr>
          <a:xfrm>
            <a:off x="8483600" y="4508500"/>
            <a:ext cx="292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驗證金鑰</a:t>
            </a:r>
          </a:p>
        </p:txBody>
      </p:sp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B80762D4-927F-FC4E-DC27-E2B9C24C6A1A}"/>
              </a:ext>
            </a:extLst>
          </p:cNvPr>
          <p:cNvSpPr/>
          <p:nvPr/>
        </p:nvSpPr>
        <p:spPr>
          <a:xfrm>
            <a:off x="609600" y="5207000"/>
            <a:ext cx="10972800" cy="838200"/>
          </a:xfrm>
          <a:prstGeom prst="roundRect">
            <a:avLst>
              <a:gd name="adj" fmla="val 8000"/>
            </a:avLst>
          </a:prstGeom>
          <a:solidFill>
            <a:srgbClr val="1F2A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BE364B21-B2F2-C2BC-1559-D15E62AA03F8}"/>
              </a:ext>
            </a:extLst>
          </p:cNvPr>
          <p:cNvSpPr txBox="1"/>
          <p:nvPr/>
        </p:nvSpPr>
        <p:spPr>
          <a:xfrm>
            <a:off x="863600" y="5334000"/>
            <a:ext cx="10464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TW" sz="1300">
                <a:solidFill>
                  <a:srgbClr val="C9E4E0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POST {"action":"checkout", "itemIds":["A31","A32"], ...}  →  {"ok":true, "data":{...}}</a:t>
            </a:r>
          </a:p>
          <a:p>
            <a:pPr>
              <a:spcAft>
                <a:spcPts val="600"/>
              </a:spcAft>
            </a:pPr>
            <a:r>
              <a:rPr lang="zh-TW" altLang="en-US" sz="1200">
                <a:solidFill>
                  <a:srgbClr val="9FB8B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以 </a:t>
            </a:r>
            <a:r>
              <a:rPr lang="en-US" altLang="zh-TW" sz="1200">
                <a:solidFill>
                  <a:srgbClr val="9FB8B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text/plain </a:t>
            </a:r>
            <a:r>
              <a:rPr lang="zh-TW" altLang="en-US" sz="1200">
                <a:solidFill>
                  <a:srgbClr val="9FB8B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送出，避開瀏覽器 </a:t>
            </a:r>
            <a:r>
              <a:rPr lang="en-US" altLang="zh-TW" sz="1200">
                <a:solidFill>
                  <a:srgbClr val="9FB8B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CORS </a:t>
            </a:r>
            <a:r>
              <a:rPr lang="zh-TW" altLang="en-US" sz="1200">
                <a:solidFill>
                  <a:srgbClr val="9FB8B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預檢；失敗時回傳 </a:t>
            </a:r>
            <a:r>
              <a:rPr lang="en-US" altLang="zh-TW" sz="1200">
                <a:solidFill>
                  <a:srgbClr val="9FB8B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{"ok":false, "error":"</a:t>
            </a:r>
            <a:r>
              <a:rPr lang="zh-TW" altLang="en-US" sz="1200">
                <a:solidFill>
                  <a:srgbClr val="9FB8B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錯誤訊息</a:t>
            </a:r>
            <a:r>
              <a:rPr lang="en-US" altLang="zh-TW" sz="1200">
                <a:solidFill>
                  <a:srgbClr val="9FB8B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"}</a:t>
            </a:r>
            <a:endParaRPr lang="zh-TW" altLang="en-US" sz="1200">
              <a:solidFill>
                <a:srgbClr val="9FB8BD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sym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66945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ED64A7-D993-49E2-BB71-88BA377DA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584200"/>
          </a:xfrm>
        </p:spPr>
        <p:txBody>
          <a:bodyPr wrap="square" lIns="0" tIns="0" rIns="0" bIns="0" anchor="t">
            <a:noAutofit/>
          </a:bodyPr>
          <a:lstStyle/>
          <a:p>
            <a:r>
              <a:rPr lang="zh-TW" altLang="en-US" sz="28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每日自動催還：不用再靠 </a:t>
            </a:r>
            <a:r>
              <a:rPr lang="en-US" altLang="zh-TW" sz="28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LINE </a:t>
            </a:r>
            <a:r>
              <a:rPr lang="zh-TW" altLang="en-US" sz="28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群組追人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7868E51-8C25-E817-0241-3A39937F818B}"/>
              </a:ext>
            </a:extLst>
          </p:cNvPr>
          <p:cNvSpPr txBox="1"/>
          <p:nvPr/>
        </p:nvSpPr>
        <p:spPr>
          <a:xfrm>
            <a:off x="609600" y="2032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200" b="1">
                <a:solidFill>
                  <a:srgbClr val="E8A3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04 </a:t>
            </a:r>
            <a:r>
              <a:rPr lang="zh-TW" altLang="en-US" sz="1200" b="1">
                <a:solidFill>
                  <a:srgbClr val="E8A3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維運與安全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59F072C-0E56-1CDA-0D92-6466CA18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2CFFA-BCF7-4941-9F1D-DE24BA5E8539}" type="slidenum">
              <a:rPr lang="zh-TW" altLang="en-US" smtClean="0"/>
              <a:t>10</a:t>
            </a:fld>
            <a:endParaRPr lang="zh-TW" altLang="en-US"/>
          </a:p>
        </p:txBody>
      </p: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09467AF2-FC30-6E2C-FD92-DB4D8EAE940C}"/>
              </a:ext>
            </a:extLst>
          </p:cNvPr>
          <p:cNvCxnSpPr/>
          <p:nvPr/>
        </p:nvCxnSpPr>
        <p:spPr>
          <a:xfrm>
            <a:off x="838200" y="1854200"/>
            <a:ext cx="0" cy="355600"/>
          </a:xfrm>
          <a:prstGeom prst="straightConnector1">
            <a:avLst/>
          </a:prstGeom>
          <a:ln w="19050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橢圓 5">
            <a:extLst>
              <a:ext uri="{FF2B5EF4-FFF2-40B4-BE49-F238E27FC236}">
                <a16:creationId xmlns:a16="http://schemas.microsoft.com/office/drawing/2014/main" id="{7952ADC2-E438-F6B6-4FCE-6A3EB33297DF}"/>
              </a:ext>
            </a:extLst>
          </p:cNvPr>
          <p:cNvSpPr/>
          <p:nvPr/>
        </p:nvSpPr>
        <p:spPr>
          <a:xfrm>
            <a:off x="609600" y="1397000"/>
            <a:ext cx="457200" cy="457200"/>
          </a:xfrm>
          <a:prstGeom prst="ellipse">
            <a:avLst/>
          </a:prstGeom>
          <a:solidFill>
            <a:srgbClr val="1F6F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altLang="zh-TW" sz="15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1</a:t>
            </a:r>
            <a:endParaRPr lang="zh-TW" altLang="en-US" sz="1500" b="1">
              <a:solidFill>
                <a:srgbClr val="FFFFFF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sym typeface="Microsoft JhengHe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A3BA2F9-5683-CF84-2E6F-BF564C166345}"/>
              </a:ext>
            </a:extLst>
          </p:cNvPr>
          <p:cNvSpPr txBox="1"/>
          <p:nvPr/>
        </p:nvSpPr>
        <p:spPr>
          <a:xfrm>
            <a:off x="1244600" y="14859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每天 </a:t>
            </a:r>
            <a:r>
              <a:rPr lang="en-US" altLang="zh-TW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17:00</a:t>
            </a:r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，</a:t>
            </a:r>
            <a:r>
              <a:rPr lang="en-US" altLang="zh-TW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Apps Script </a:t>
            </a:r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觸發條件自動執行</a:t>
            </a: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58EEAFA1-7D64-5EAC-F473-48DC70DB21C5}"/>
              </a:ext>
            </a:extLst>
          </p:cNvPr>
          <p:cNvCxnSpPr/>
          <p:nvPr/>
        </p:nvCxnSpPr>
        <p:spPr>
          <a:xfrm>
            <a:off x="838200" y="2692400"/>
            <a:ext cx="0" cy="355600"/>
          </a:xfrm>
          <a:prstGeom prst="straightConnector1">
            <a:avLst/>
          </a:prstGeom>
          <a:ln w="19050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橢圓 8">
            <a:extLst>
              <a:ext uri="{FF2B5EF4-FFF2-40B4-BE49-F238E27FC236}">
                <a16:creationId xmlns:a16="http://schemas.microsoft.com/office/drawing/2014/main" id="{C5C8DA99-FD15-1362-0E2E-60BF9931F47A}"/>
              </a:ext>
            </a:extLst>
          </p:cNvPr>
          <p:cNvSpPr/>
          <p:nvPr/>
        </p:nvSpPr>
        <p:spPr>
          <a:xfrm>
            <a:off x="609600" y="2235200"/>
            <a:ext cx="457200" cy="457200"/>
          </a:xfrm>
          <a:prstGeom prst="ellipse">
            <a:avLst/>
          </a:prstGeom>
          <a:solidFill>
            <a:srgbClr val="1F6F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altLang="zh-TW" sz="15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2</a:t>
            </a:r>
            <a:endParaRPr lang="zh-TW" altLang="en-US" sz="1500" b="1">
              <a:solidFill>
                <a:srgbClr val="FFFFFF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sym typeface="Microsoft JhengHei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8B00AB1-3781-9907-475C-B5E12BB27D63}"/>
              </a:ext>
            </a:extLst>
          </p:cNvPr>
          <p:cNvSpPr txBox="1"/>
          <p:nvPr/>
        </p:nvSpPr>
        <p:spPr>
          <a:xfrm>
            <a:off x="1244600" y="23241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找出「借出中」且預計歸還日早於今天的展品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1AB9046-5737-AC93-8CB4-E0E96C6439D4}"/>
              </a:ext>
            </a:extLst>
          </p:cNvPr>
          <p:cNvCxnSpPr/>
          <p:nvPr/>
        </p:nvCxnSpPr>
        <p:spPr>
          <a:xfrm>
            <a:off x="838200" y="3530600"/>
            <a:ext cx="0" cy="355600"/>
          </a:xfrm>
          <a:prstGeom prst="straightConnector1">
            <a:avLst/>
          </a:prstGeom>
          <a:ln w="19050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id="{1ADEDA93-1B6F-4AEB-A6F8-3E56919D438E}"/>
              </a:ext>
            </a:extLst>
          </p:cNvPr>
          <p:cNvSpPr/>
          <p:nvPr/>
        </p:nvSpPr>
        <p:spPr>
          <a:xfrm>
            <a:off x="609600" y="3073400"/>
            <a:ext cx="457200" cy="457200"/>
          </a:xfrm>
          <a:prstGeom prst="ellipse">
            <a:avLst/>
          </a:prstGeom>
          <a:solidFill>
            <a:srgbClr val="1F6F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altLang="zh-TW" sz="15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3</a:t>
            </a:r>
            <a:endParaRPr lang="zh-TW" altLang="en-US" sz="1500" b="1">
              <a:solidFill>
                <a:srgbClr val="FFFFFF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sym typeface="Microsoft JhengHei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9551228-EF0C-EE9C-3576-05E04506875A}"/>
              </a:ext>
            </a:extLst>
          </p:cNvPr>
          <p:cNvSpPr txBox="1"/>
          <p:nvPr/>
        </p:nvSpPr>
        <p:spPr>
          <a:xfrm>
            <a:off x="1244600" y="31623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同一位借用者的多件展品合併成一封信</a:t>
            </a: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7BDC8D73-B148-CFFA-045A-9D0BC7787E51}"/>
              </a:ext>
            </a:extLst>
          </p:cNvPr>
          <p:cNvCxnSpPr/>
          <p:nvPr/>
        </p:nvCxnSpPr>
        <p:spPr>
          <a:xfrm>
            <a:off x="838200" y="4368800"/>
            <a:ext cx="0" cy="355600"/>
          </a:xfrm>
          <a:prstGeom prst="straightConnector1">
            <a:avLst/>
          </a:prstGeom>
          <a:ln w="19050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橢圓 14">
            <a:extLst>
              <a:ext uri="{FF2B5EF4-FFF2-40B4-BE49-F238E27FC236}">
                <a16:creationId xmlns:a16="http://schemas.microsoft.com/office/drawing/2014/main" id="{526355C9-43B6-C4B1-B0B1-7399652CAC2F}"/>
              </a:ext>
            </a:extLst>
          </p:cNvPr>
          <p:cNvSpPr/>
          <p:nvPr/>
        </p:nvSpPr>
        <p:spPr>
          <a:xfrm>
            <a:off x="609600" y="3911600"/>
            <a:ext cx="457200" cy="457200"/>
          </a:xfrm>
          <a:prstGeom prst="ellipse">
            <a:avLst/>
          </a:prstGeom>
          <a:solidFill>
            <a:srgbClr val="1F6F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altLang="zh-TW" sz="15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4</a:t>
            </a:r>
            <a:endParaRPr lang="zh-TW" altLang="en-US" sz="1500" b="1">
              <a:solidFill>
                <a:srgbClr val="FFFFFF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sym typeface="Microsoft JhengHei" panose="020B0604030504040204" pitchFamily="34" charset="-12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202C0D1-F5BA-D6AB-74CF-A42BF2E91403}"/>
              </a:ext>
            </a:extLst>
          </p:cNvPr>
          <p:cNvSpPr txBox="1"/>
          <p:nvPr/>
        </p:nvSpPr>
        <p:spPr>
          <a:xfrm>
            <a:off x="1244600" y="40005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寄給借用者，副本給 </a:t>
            </a:r>
            <a:r>
              <a:rPr lang="en-US" altLang="zh-TW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Settings </a:t>
            </a:r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的 </a:t>
            </a:r>
            <a:r>
              <a:rPr lang="en-US" altLang="zh-TW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ADMIN_EMAILS</a:t>
            </a:r>
            <a:endParaRPr lang="zh-TW" altLang="en-US" sz="1400">
              <a:solidFill>
                <a:srgbClr val="1F2A3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sym typeface="Microsoft JhengHei" panose="020B0604030504040204" pitchFamily="34" charset="-12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EAB78770-EDF4-F17D-12CC-5FF636DBE01F}"/>
              </a:ext>
            </a:extLst>
          </p:cNvPr>
          <p:cNvSpPr/>
          <p:nvPr/>
        </p:nvSpPr>
        <p:spPr>
          <a:xfrm>
            <a:off x="609600" y="4749800"/>
            <a:ext cx="457200" cy="457200"/>
          </a:xfrm>
          <a:prstGeom prst="ellipse">
            <a:avLst/>
          </a:prstGeom>
          <a:solidFill>
            <a:srgbClr val="1F6F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altLang="zh-TW" sz="15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5</a:t>
            </a:r>
            <a:endParaRPr lang="zh-TW" altLang="en-US" sz="1500" b="1">
              <a:solidFill>
                <a:srgbClr val="FFFFFF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sym typeface="Microsoft JhengHei" panose="020B0604030504040204" pitchFamily="34" charset="-12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39C8293A-79E8-6A5A-9176-35E514B11419}"/>
              </a:ext>
            </a:extLst>
          </p:cNvPr>
          <p:cNvSpPr txBox="1"/>
          <p:nvPr/>
        </p:nvSpPr>
        <p:spPr>
          <a:xfrm>
            <a:off x="1244600" y="48387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記錄催還次數，並寫入 </a:t>
            </a:r>
            <a:r>
              <a:rPr lang="en-US" altLang="zh-TW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Logs</a:t>
            </a:r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「催還通知」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9E8340F4-2300-3E6A-1FE0-A4CE60DDD6B5}"/>
              </a:ext>
            </a:extLst>
          </p:cNvPr>
          <p:cNvSpPr/>
          <p:nvPr/>
        </p:nvSpPr>
        <p:spPr>
          <a:xfrm>
            <a:off x="6350000" y="1320800"/>
            <a:ext cx="5232400" cy="2463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CE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1A35805A-2509-2704-3917-31CAE1F8C088}"/>
              </a:ext>
            </a:extLst>
          </p:cNvPr>
          <p:cNvSpPr txBox="1"/>
          <p:nvPr/>
        </p:nvSpPr>
        <p:spPr>
          <a:xfrm>
            <a:off x="6604000" y="1498600"/>
            <a:ext cx="472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200">
                <a:solidFill>
                  <a:srgbClr val="5F6B7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寄件者：展品借還管理系統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92CD9996-2979-D1CE-17A1-F4A4F18DC834}"/>
              </a:ext>
            </a:extLst>
          </p:cNvPr>
          <p:cNvSpPr txBox="1"/>
          <p:nvPr/>
        </p:nvSpPr>
        <p:spPr>
          <a:xfrm>
            <a:off x="6604000" y="1752600"/>
            <a:ext cx="472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5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【</a:t>
            </a:r>
            <a:r>
              <a:rPr lang="zh-TW" altLang="en-US" sz="15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展品催還</a:t>
            </a:r>
            <a:r>
              <a:rPr lang="en-US" altLang="zh-TW" sz="15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】</a:t>
            </a:r>
            <a:r>
              <a:rPr lang="zh-TW" altLang="en-US" sz="15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您有 </a:t>
            </a:r>
            <a:r>
              <a:rPr lang="en-US" altLang="zh-TW" sz="15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2 </a:t>
            </a:r>
            <a:r>
              <a:rPr lang="zh-TW" altLang="en-US" sz="15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件展品已逾期未歸還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0CE4A3DF-BFFD-1B60-DD6C-A3F2B0AECD31}"/>
              </a:ext>
            </a:extLst>
          </p:cNvPr>
          <p:cNvSpPr txBox="1"/>
          <p:nvPr/>
        </p:nvSpPr>
        <p:spPr>
          <a:xfrm>
            <a:off x="6604000" y="2108200"/>
            <a:ext cx="472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2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Bob </a:t>
            </a:r>
            <a:r>
              <a:rPr lang="zh-TW" altLang="en-US" sz="12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您好：以下展品已超過預計歸還日期，請儘速歸還。</a:t>
            </a:r>
          </a:p>
        </p:txBody>
      </p:sp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B74C0650-AA77-FCBE-EE13-AF25D0EE73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371866"/>
              </p:ext>
            </p:extLst>
          </p:nvPr>
        </p:nvGraphicFramePr>
        <p:xfrm>
          <a:off x="6604000" y="2489200"/>
          <a:ext cx="4724400" cy="1066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1200">
                  <a:extLst>
                    <a:ext uri="{9D8B030D-6E8A-4147-A177-3AD203B41FA5}">
                      <a16:colId xmlns:a16="http://schemas.microsoft.com/office/drawing/2014/main" val="222010102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4026022884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752957488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392093857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r>
                        <a:rPr lang="zh-TW" altLang="en-US" sz="1100" b="1">
                          <a:solidFill>
                            <a:srgbClr val="FFFFFF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編號</a:t>
                      </a:r>
                    </a:p>
                  </a:txBody>
                  <a:tcPr marL="127000" marR="127000" marT="63500" marB="63500" anchor="ctr">
                    <a:solidFill>
                      <a:srgbClr val="0F3B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100" b="1">
                          <a:solidFill>
                            <a:srgbClr val="FFFFFF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名稱</a:t>
                      </a:r>
                    </a:p>
                  </a:txBody>
                  <a:tcPr marL="127000" marR="127000" marT="63500" marB="63500" anchor="ctr">
                    <a:solidFill>
                      <a:srgbClr val="0F3B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100" b="1">
                          <a:solidFill>
                            <a:srgbClr val="FFFFFF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預計歸還</a:t>
                      </a:r>
                    </a:p>
                  </a:txBody>
                  <a:tcPr marL="127000" marR="127000" marT="63500" marB="63500" anchor="ctr">
                    <a:solidFill>
                      <a:srgbClr val="0F3B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100" b="1">
                          <a:solidFill>
                            <a:srgbClr val="FFFFFF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逾期</a:t>
                      </a:r>
                    </a:p>
                  </a:txBody>
                  <a:tcPr marL="127000" marR="127000" marT="63500" marB="63500" anchor="ctr">
                    <a:solidFill>
                      <a:srgbClr val="0F3B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18221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r>
                        <a:rPr lang="en-US" altLang="zh-TW" sz="1100" b="1">
                          <a:solidFill>
                            <a:srgbClr val="0F3B47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A31</a:t>
                      </a:r>
                      <a:endParaRPr lang="zh-TW" altLang="en-US" sz="1100" b="1">
                        <a:solidFill>
                          <a:srgbClr val="0F3B47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sym typeface="Microsoft JhengHei" panose="020B0604030504040204" pitchFamily="34" charset="-120"/>
                      </a:endParaRPr>
                    </a:p>
                  </a:txBody>
                  <a:tcPr marL="127000" marR="1270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>
                          <a:solidFill>
                            <a:srgbClr val="1F2A3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55 </a:t>
                      </a:r>
                      <a:r>
                        <a:rPr lang="zh-TW" altLang="en-US" sz="1100" b="0">
                          <a:solidFill>
                            <a:srgbClr val="1F2A3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吋展示螢幕</a:t>
                      </a:r>
                    </a:p>
                  </a:txBody>
                  <a:tcPr marL="127000" marR="1270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>
                          <a:solidFill>
                            <a:srgbClr val="1F2A3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2026-10-09</a:t>
                      </a:r>
                      <a:endParaRPr lang="zh-TW" altLang="en-US" sz="1100" b="0">
                        <a:solidFill>
                          <a:srgbClr val="1F2A30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sym typeface="Microsoft JhengHei" panose="020B0604030504040204" pitchFamily="34" charset="-120"/>
                      </a:endParaRPr>
                    </a:p>
                  </a:txBody>
                  <a:tcPr marL="127000" marR="1270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>
                          <a:solidFill>
                            <a:srgbClr val="1F2A3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1 </a:t>
                      </a:r>
                      <a:r>
                        <a:rPr lang="zh-TW" altLang="en-US" sz="1100" b="0">
                          <a:solidFill>
                            <a:srgbClr val="1F2A3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天</a:t>
                      </a:r>
                    </a:p>
                  </a:txBody>
                  <a:tcPr marL="127000" marR="1270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514556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r>
                        <a:rPr lang="en-US" altLang="zh-TW" sz="1100" b="1">
                          <a:solidFill>
                            <a:srgbClr val="0F3B47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A32</a:t>
                      </a:r>
                      <a:endParaRPr lang="zh-TW" altLang="en-US" sz="1100" b="1">
                        <a:solidFill>
                          <a:srgbClr val="0F3B47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sym typeface="Microsoft JhengHei" panose="020B0604030504040204" pitchFamily="34" charset="-120"/>
                      </a:endParaRPr>
                    </a:p>
                  </a:txBody>
                  <a:tcPr marL="127000" marR="127000" marT="63500" marB="635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100" b="0">
                          <a:solidFill>
                            <a:srgbClr val="1F2A3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智慧手錶樣品</a:t>
                      </a:r>
                    </a:p>
                  </a:txBody>
                  <a:tcPr marL="127000" marR="127000" marT="63500" marB="635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>
                          <a:solidFill>
                            <a:srgbClr val="1F2A3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2026-10-09</a:t>
                      </a:r>
                      <a:endParaRPr lang="zh-TW" altLang="en-US" sz="1100" b="0">
                        <a:solidFill>
                          <a:srgbClr val="1F2A30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sym typeface="Microsoft JhengHei" panose="020B0604030504040204" pitchFamily="34" charset="-120"/>
                      </a:endParaRPr>
                    </a:p>
                  </a:txBody>
                  <a:tcPr marL="127000" marR="127000" marT="63500" marB="635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>
                          <a:solidFill>
                            <a:srgbClr val="1F2A3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1 </a:t>
                      </a:r>
                      <a:r>
                        <a:rPr lang="zh-TW" altLang="en-US" sz="1100" b="0">
                          <a:solidFill>
                            <a:srgbClr val="1F2A3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 panose="020B0604030504040204" pitchFamily="34" charset="-120"/>
                        </a:rPr>
                        <a:t>天</a:t>
                      </a:r>
                    </a:p>
                  </a:txBody>
                  <a:tcPr marL="127000" marR="127000" marT="63500" marB="63500" anchor="ctr"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464679"/>
                  </a:ext>
                </a:extLst>
              </a:tr>
            </a:tbl>
          </a:graphicData>
        </a:graphic>
      </p:graphicFrame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9D250332-7071-E339-8537-C808CCBF1249}"/>
              </a:ext>
            </a:extLst>
          </p:cNvPr>
          <p:cNvSpPr/>
          <p:nvPr/>
        </p:nvSpPr>
        <p:spPr>
          <a:xfrm>
            <a:off x="6350000" y="3987800"/>
            <a:ext cx="2514600" cy="1270000"/>
          </a:xfrm>
          <a:prstGeom prst="roundRect">
            <a:avLst>
              <a:gd name="adj" fmla="val 8000"/>
            </a:avLst>
          </a:prstGeom>
          <a:solidFill>
            <a:srgbClr val="E4F1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altLang="zh-TW" sz="3000" b="1">
                <a:solidFill>
                  <a:srgbClr val="1F6F7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10/10</a:t>
            </a:r>
          </a:p>
          <a:p>
            <a:pPr algn="ctr"/>
            <a:r>
              <a:rPr lang="en-US" altLang="zh-TW" sz="1200">
                <a:solidFill>
                  <a:srgbClr val="5F6B7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10/9 </a:t>
            </a:r>
            <a:r>
              <a:rPr lang="zh-TW" altLang="en-US" sz="1200">
                <a:solidFill>
                  <a:srgbClr val="5F6B7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到期，隔天起算逾期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1E8813F6-688C-A340-93E6-254BBCAFA3DC}"/>
              </a:ext>
            </a:extLst>
          </p:cNvPr>
          <p:cNvSpPr/>
          <p:nvPr/>
        </p:nvSpPr>
        <p:spPr>
          <a:xfrm>
            <a:off x="9067800" y="3987800"/>
            <a:ext cx="2514600" cy="1270000"/>
          </a:xfrm>
          <a:prstGeom prst="roundRect">
            <a:avLst>
              <a:gd name="adj" fmla="val 8000"/>
            </a:avLst>
          </a:prstGeom>
          <a:solidFill>
            <a:srgbClr val="FCEF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zh-TW" altLang="en-US" sz="3000" b="1">
                <a:solidFill>
                  <a:srgbClr val="A86A1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約 </a:t>
            </a:r>
            <a:r>
              <a:rPr lang="en-US" altLang="zh-TW" sz="3000" b="1">
                <a:solidFill>
                  <a:srgbClr val="A86A1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100 </a:t>
            </a:r>
            <a:r>
              <a:rPr lang="zh-TW" altLang="en-US" sz="3000" b="1">
                <a:solidFill>
                  <a:srgbClr val="A86A1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封</a:t>
            </a:r>
          </a:p>
          <a:p>
            <a:pPr algn="ctr"/>
            <a:r>
              <a:rPr lang="zh-TW" altLang="en-US" sz="1200">
                <a:solidFill>
                  <a:srgbClr val="5F6B7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一般 </a:t>
            </a:r>
            <a:r>
              <a:rPr lang="en-US" altLang="zh-TW" sz="1200">
                <a:solidFill>
                  <a:srgbClr val="5F6B7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Gmail </a:t>
            </a:r>
            <a:r>
              <a:rPr lang="zh-TW" altLang="en-US" sz="1200">
                <a:solidFill>
                  <a:srgbClr val="5F6B7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帳號每天寄信上限</a:t>
            </a:r>
          </a:p>
        </p:txBody>
      </p:sp>
    </p:spTree>
    <p:extLst>
      <p:ext uri="{BB962C8B-B14F-4D97-AF65-F5344CB8AC3E}">
        <p14:creationId xmlns:p14="http://schemas.microsoft.com/office/powerpoint/2010/main" val="4022540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1CE8C1-21EE-6F07-895B-52A8018A5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584200"/>
          </a:xfrm>
        </p:spPr>
        <p:txBody>
          <a:bodyPr wrap="square" lIns="0" tIns="0" rIns="0" bIns="0" anchor="t">
            <a:noAutofit/>
          </a:bodyPr>
          <a:lstStyle/>
          <a:p>
            <a:r>
              <a:rPr lang="zh-TW" altLang="en-US" sz="28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程式碼結構與部署方式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C179E0C-D885-C866-62E6-80535B625EBE}"/>
              </a:ext>
            </a:extLst>
          </p:cNvPr>
          <p:cNvSpPr txBox="1"/>
          <p:nvPr/>
        </p:nvSpPr>
        <p:spPr>
          <a:xfrm>
            <a:off x="609600" y="2032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200" b="1">
                <a:solidFill>
                  <a:srgbClr val="E8A3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04 </a:t>
            </a:r>
            <a:r>
              <a:rPr lang="zh-TW" altLang="en-US" sz="1200" b="1">
                <a:solidFill>
                  <a:srgbClr val="E8A3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維運與安全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96B3F9A-192D-A02B-E820-6B78AE18C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2CFFA-BCF7-4941-9F1D-DE24BA5E8539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4A89025C-90EC-0BAA-F5EC-93681C258679}"/>
              </a:ext>
            </a:extLst>
          </p:cNvPr>
          <p:cNvSpPr/>
          <p:nvPr/>
        </p:nvSpPr>
        <p:spPr>
          <a:xfrm>
            <a:off x="609600" y="1320800"/>
            <a:ext cx="5461000" cy="4191000"/>
          </a:xfrm>
          <a:prstGeom prst="roundRect">
            <a:avLst>
              <a:gd name="adj" fmla="val 8000"/>
            </a:avLst>
          </a:prstGeom>
          <a:solidFill>
            <a:srgbClr val="1F2A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D72AC83-7CDC-49F4-398B-2BD3964506BD}"/>
              </a:ext>
            </a:extLst>
          </p:cNvPr>
          <p:cNvSpPr txBox="1"/>
          <p:nvPr/>
        </p:nvSpPr>
        <p:spPr>
          <a:xfrm>
            <a:off x="863600" y="1574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1100"/>
              </a:spcAft>
            </a:pPr>
            <a:r>
              <a:rPr lang="en-US" altLang="zh-TW" sz="1300" b="1">
                <a:solidFill>
                  <a:srgbClr val="E8A33D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sample-inventory-system/</a:t>
            </a:r>
          </a:p>
          <a:p>
            <a:pPr>
              <a:spcAft>
                <a:spcPts val="1100"/>
              </a:spcAft>
            </a:pPr>
            <a:r>
              <a:rPr lang="en-US" altLang="zh-TW" sz="1300">
                <a:solidFill>
                  <a:srgbClr val="C9E4E0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├─ apps-script/  </a:t>
            </a:r>
            <a:r>
              <a:rPr lang="zh-TW" altLang="en-US" sz="1300">
                <a:solidFill>
                  <a:srgbClr val="C9E4E0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後端 </a:t>
            </a:r>
            <a:r>
              <a:rPr lang="en-US" altLang="zh-TW" sz="1300">
                <a:solidFill>
                  <a:srgbClr val="C9E4E0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7 </a:t>
            </a:r>
            <a:r>
              <a:rPr lang="zh-TW" altLang="en-US" sz="1300">
                <a:solidFill>
                  <a:srgbClr val="C9E4E0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個 </a:t>
            </a:r>
            <a:r>
              <a:rPr lang="en-US" altLang="zh-TW" sz="1300">
                <a:solidFill>
                  <a:srgbClr val="C9E4E0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.gs</a:t>
            </a:r>
          </a:p>
          <a:p>
            <a:pPr>
              <a:spcAft>
                <a:spcPts val="1100"/>
              </a:spcAft>
            </a:pPr>
            <a:r>
              <a:rPr lang="en-US" altLang="zh-TW" sz="1300">
                <a:solidFill>
                  <a:srgbClr val="C9E4E0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│    Code </a:t>
            </a:r>
            <a:r>
              <a:rPr lang="zh-TW" altLang="en-US" sz="1300">
                <a:solidFill>
                  <a:srgbClr val="C9E4E0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路由・</a:t>
            </a:r>
            <a:r>
              <a:rPr lang="en-US" altLang="zh-TW" sz="1300">
                <a:solidFill>
                  <a:srgbClr val="C9E4E0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Db </a:t>
            </a:r>
            <a:r>
              <a:rPr lang="zh-TW" altLang="en-US" sz="1300">
                <a:solidFill>
                  <a:srgbClr val="C9E4E0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試算表存取</a:t>
            </a:r>
          </a:p>
          <a:p>
            <a:pPr>
              <a:spcAft>
                <a:spcPts val="1100"/>
              </a:spcAft>
            </a:pPr>
            <a:r>
              <a:rPr lang="zh-TW" altLang="en-US" sz="1300">
                <a:solidFill>
                  <a:srgbClr val="C9E4E0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│    </a:t>
            </a:r>
            <a:r>
              <a:rPr lang="en-US" altLang="zh-TW" sz="1300">
                <a:solidFill>
                  <a:srgbClr val="C9E4E0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Items</a:t>
            </a:r>
            <a:r>
              <a:rPr lang="zh-TW" altLang="en-US" sz="1300">
                <a:solidFill>
                  <a:srgbClr val="C9E4E0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・</a:t>
            </a:r>
            <a:r>
              <a:rPr lang="en-US" altLang="zh-TW" sz="1300">
                <a:solidFill>
                  <a:srgbClr val="C9E4E0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Loans</a:t>
            </a:r>
            <a:r>
              <a:rPr lang="zh-TW" altLang="en-US" sz="1300">
                <a:solidFill>
                  <a:srgbClr val="C9E4E0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・</a:t>
            </a:r>
            <a:r>
              <a:rPr lang="en-US" altLang="zh-TW" sz="1300">
                <a:solidFill>
                  <a:srgbClr val="C9E4E0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Notify</a:t>
            </a:r>
            <a:r>
              <a:rPr lang="zh-TW" altLang="en-US" sz="1300">
                <a:solidFill>
                  <a:srgbClr val="C9E4E0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・</a:t>
            </a:r>
            <a:r>
              <a:rPr lang="en-US" altLang="zh-TW" sz="1300">
                <a:solidFill>
                  <a:srgbClr val="C9E4E0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Setup</a:t>
            </a:r>
          </a:p>
          <a:p>
            <a:pPr>
              <a:spcAft>
                <a:spcPts val="1100"/>
              </a:spcAft>
            </a:pPr>
            <a:r>
              <a:rPr lang="en-US" altLang="zh-TW" sz="1300">
                <a:solidFill>
                  <a:srgbClr val="C9E4E0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├─ web/          </a:t>
            </a:r>
            <a:r>
              <a:rPr lang="zh-TW" altLang="en-US" sz="1300">
                <a:solidFill>
                  <a:srgbClr val="C9E4E0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手機前端（免建置）</a:t>
            </a:r>
          </a:p>
          <a:p>
            <a:pPr>
              <a:spcAft>
                <a:spcPts val="1100"/>
              </a:spcAft>
            </a:pPr>
            <a:r>
              <a:rPr lang="zh-TW" altLang="en-US" sz="1300">
                <a:solidFill>
                  <a:srgbClr val="C9E4E0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│    </a:t>
            </a:r>
            <a:r>
              <a:rPr lang="en-US" altLang="zh-TW" sz="1300">
                <a:solidFill>
                  <a:srgbClr val="C9E4E0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index.html </a:t>
            </a:r>
            <a:r>
              <a:rPr lang="zh-TW" altLang="en-US" sz="1300">
                <a:solidFill>
                  <a:srgbClr val="C9E4E0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借還・</a:t>
            </a:r>
            <a:r>
              <a:rPr lang="en-US" altLang="zh-TW" sz="1300">
                <a:solidFill>
                  <a:srgbClr val="C9E4E0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labels.html </a:t>
            </a:r>
            <a:r>
              <a:rPr lang="zh-TW" altLang="en-US" sz="1300">
                <a:solidFill>
                  <a:srgbClr val="C9E4E0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標籤</a:t>
            </a:r>
          </a:p>
          <a:p>
            <a:pPr>
              <a:spcAft>
                <a:spcPts val="1100"/>
              </a:spcAft>
            </a:pPr>
            <a:r>
              <a:rPr lang="zh-TW" altLang="en-US" sz="1300">
                <a:solidFill>
                  <a:srgbClr val="C9E4E0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│    </a:t>
            </a:r>
            <a:r>
              <a:rPr lang="en-US" altLang="zh-TW" sz="1300">
                <a:solidFill>
                  <a:srgbClr val="C9E4E0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js/views </a:t>
            </a:r>
            <a:r>
              <a:rPr lang="zh-TW" altLang="en-US" sz="1300">
                <a:solidFill>
                  <a:srgbClr val="C9E4E0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畫面・</a:t>
            </a:r>
            <a:r>
              <a:rPr lang="en-US" altLang="zh-TW" sz="1300">
                <a:solidFill>
                  <a:srgbClr val="C9E4E0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js/demo </a:t>
            </a:r>
            <a:r>
              <a:rPr lang="zh-TW" altLang="en-US" sz="1300">
                <a:solidFill>
                  <a:srgbClr val="C9E4E0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示範模式</a:t>
            </a:r>
          </a:p>
          <a:p>
            <a:pPr>
              <a:spcAft>
                <a:spcPts val="1100"/>
              </a:spcAft>
            </a:pPr>
            <a:r>
              <a:rPr lang="zh-TW" altLang="en-US" sz="1300">
                <a:solidFill>
                  <a:srgbClr val="C9E4E0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├─ </a:t>
            </a:r>
            <a:r>
              <a:rPr lang="en-US" altLang="zh-TW" sz="1300">
                <a:solidFill>
                  <a:srgbClr val="C9E4E0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tests/        </a:t>
            </a:r>
            <a:r>
              <a:rPr lang="zh-TW" altLang="en-US" sz="1300">
                <a:solidFill>
                  <a:srgbClr val="C9E4E0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後端自動化測試 </a:t>
            </a:r>
            <a:r>
              <a:rPr lang="en-US" altLang="zh-TW" sz="1300">
                <a:solidFill>
                  <a:srgbClr val="C9E4E0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12 </a:t>
            </a:r>
            <a:r>
              <a:rPr lang="zh-TW" altLang="en-US" sz="1300">
                <a:solidFill>
                  <a:srgbClr val="C9E4E0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項</a:t>
            </a:r>
          </a:p>
          <a:p>
            <a:pPr>
              <a:spcAft>
                <a:spcPts val="1100"/>
              </a:spcAft>
            </a:pPr>
            <a:r>
              <a:rPr lang="zh-TW" altLang="en-US" sz="1300">
                <a:solidFill>
                  <a:srgbClr val="C9E4E0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├─ </a:t>
            </a:r>
            <a:r>
              <a:rPr lang="en-US" altLang="zh-TW" sz="1300">
                <a:solidFill>
                  <a:srgbClr val="C9E4E0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tools/        </a:t>
            </a:r>
            <a:r>
              <a:rPr lang="zh-TW" altLang="en-US" sz="1300">
                <a:solidFill>
                  <a:srgbClr val="C9E4E0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本機預覽伺服器</a:t>
            </a:r>
          </a:p>
          <a:p>
            <a:pPr>
              <a:spcAft>
                <a:spcPts val="1100"/>
              </a:spcAft>
            </a:pPr>
            <a:r>
              <a:rPr lang="zh-TW" altLang="en-US" sz="1300">
                <a:solidFill>
                  <a:srgbClr val="C9E4E0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└─ </a:t>
            </a:r>
            <a:r>
              <a:rPr lang="en-US" altLang="zh-TW" sz="1300">
                <a:solidFill>
                  <a:srgbClr val="C9E4E0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.github/      </a:t>
            </a:r>
            <a:r>
              <a:rPr lang="zh-TW" altLang="en-US" sz="1300">
                <a:solidFill>
                  <a:srgbClr val="C9E4E0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自動部署到 </a:t>
            </a:r>
            <a:r>
              <a:rPr lang="en-US" altLang="zh-TW" sz="1300">
                <a:solidFill>
                  <a:srgbClr val="C9E4E0"/>
                </a:solidFill>
                <a:latin typeface="Consolas" panose="020B0609020204030204" pitchFamily="49" charset="0"/>
                <a:ea typeface="Microsoft JhengHei" panose="020B0604030504040204" pitchFamily="34" charset="-120"/>
                <a:sym typeface="Consolas" panose="020B0609020204030204" pitchFamily="49" charset="0"/>
              </a:rPr>
              <a:t>GitHub Pages</a:t>
            </a:r>
            <a:endParaRPr lang="zh-TW" altLang="en-US" sz="1300">
              <a:solidFill>
                <a:srgbClr val="C9E4E0"/>
              </a:solidFill>
              <a:latin typeface="Consolas" panose="020B0609020204030204" pitchFamily="49" charset="0"/>
              <a:ea typeface="Microsoft JhengHei" panose="020B0604030504040204" pitchFamily="34" charset="-120"/>
              <a:sym typeface="Consolas" panose="020B0609020204030204" pitchFamily="49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868C986-9045-4CC8-9DEE-E6DFCB59B7CC}"/>
              </a:ext>
            </a:extLst>
          </p:cNvPr>
          <p:cNvSpPr txBox="1"/>
          <p:nvPr/>
        </p:nvSpPr>
        <p:spPr>
          <a:xfrm>
            <a:off x="6350000" y="1346200"/>
            <a:ext cx="5232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6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前端更新（約 </a:t>
            </a:r>
            <a:r>
              <a:rPr lang="en-US" altLang="zh-TW" sz="16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1 </a:t>
            </a:r>
            <a:r>
              <a:rPr lang="zh-TW" altLang="en-US" sz="16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分鐘自動上線）</a:t>
            </a:r>
          </a:p>
        </p:txBody>
      </p:sp>
      <p:sp>
        <p:nvSpPr>
          <p:cNvPr id="8" name="箭號: ＞形 7">
            <a:extLst>
              <a:ext uri="{FF2B5EF4-FFF2-40B4-BE49-F238E27FC236}">
                <a16:creationId xmlns:a16="http://schemas.microsoft.com/office/drawing/2014/main" id="{7DC1EE51-BCEB-0002-1835-887D376C3897}"/>
              </a:ext>
            </a:extLst>
          </p:cNvPr>
          <p:cNvSpPr/>
          <p:nvPr/>
        </p:nvSpPr>
        <p:spPr>
          <a:xfrm>
            <a:off x="6350000" y="1752600"/>
            <a:ext cx="1778000" cy="711200"/>
          </a:xfrm>
          <a:prstGeom prst="chevron">
            <a:avLst/>
          </a:prstGeom>
          <a:solidFill>
            <a:srgbClr val="E4F1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zh-TW" altLang="en-US" sz="13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修改 </a:t>
            </a:r>
            <a:r>
              <a:rPr lang="en-US" altLang="zh-TW" sz="13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web/</a:t>
            </a:r>
            <a:endParaRPr lang="zh-TW" altLang="en-US" sz="1300" b="1">
              <a:solidFill>
                <a:srgbClr val="0F3B47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sym typeface="Microsoft JhengHei" panose="020B0604030504040204" pitchFamily="34" charset="-120"/>
            </a:endParaRPr>
          </a:p>
        </p:txBody>
      </p:sp>
      <p:sp>
        <p:nvSpPr>
          <p:cNvPr id="9" name="箭號: ＞形 8">
            <a:extLst>
              <a:ext uri="{FF2B5EF4-FFF2-40B4-BE49-F238E27FC236}">
                <a16:creationId xmlns:a16="http://schemas.microsoft.com/office/drawing/2014/main" id="{748DE849-7CE9-7F6D-04D4-4E6606819D39}"/>
              </a:ext>
            </a:extLst>
          </p:cNvPr>
          <p:cNvSpPr/>
          <p:nvPr/>
        </p:nvSpPr>
        <p:spPr>
          <a:xfrm>
            <a:off x="8102600" y="1752600"/>
            <a:ext cx="1778000" cy="711200"/>
          </a:xfrm>
          <a:prstGeom prst="chevron">
            <a:avLst/>
          </a:prstGeom>
          <a:solidFill>
            <a:srgbClr val="E4F1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altLang="zh-TW" sz="13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git push</a:t>
            </a:r>
            <a:endParaRPr lang="zh-TW" altLang="en-US" sz="1300" b="1">
              <a:solidFill>
                <a:srgbClr val="0F3B47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sym typeface="Microsoft JhengHei" panose="020B0604030504040204" pitchFamily="34" charset="-120"/>
            </a:endParaRPr>
          </a:p>
        </p:txBody>
      </p:sp>
      <p:sp>
        <p:nvSpPr>
          <p:cNvPr id="10" name="箭號: ＞形 9">
            <a:extLst>
              <a:ext uri="{FF2B5EF4-FFF2-40B4-BE49-F238E27FC236}">
                <a16:creationId xmlns:a16="http://schemas.microsoft.com/office/drawing/2014/main" id="{8CB796B0-B58B-74C3-F817-65C9CB8EAF1E}"/>
              </a:ext>
            </a:extLst>
          </p:cNvPr>
          <p:cNvSpPr/>
          <p:nvPr/>
        </p:nvSpPr>
        <p:spPr>
          <a:xfrm>
            <a:off x="9855200" y="1752600"/>
            <a:ext cx="1778000" cy="711200"/>
          </a:xfrm>
          <a:prstGeom prst="chevron">
            <a:avLst/>
          </a:prstGeom>
          <a:solidFill>
            <a:srgbClr val="1F6F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altLang="zh-TW" sz="13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GitHub Pages </a:t>
            </a:r>
            <a:r>
              <a:rPr lang="zh-TW" altLang="en-US" sz="13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上線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6506BE3-98F4-7479-25D8-B2B1BE6FEAF7}"/>
              </a:ext>
            </a:extLst>
          </p:cNvPr>
          <p:cNvSpPr txBox="1"/>
          <p:nvPr/>
        </p:nvSpPr>
        <p:spPr>
          <a:xfrm>
            <a:off x="6350000" y="2794000"/>
            <a:ext cx="5232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6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後端更新</a:t>
            </a:r>
          </a:p>
        </p:txBody>
      </p:sp>
      <p:sp>
        <p:nvSpPr>
          <p:cNvPr id="12" name="箭號: ＞形 11">
            <a:extLst>
              <a:ext uri="{FF2B5EF4-FFF2-40B4-BE49-F238E27FC236}">
                <a16:creationId xmlns:a16="http://schemas.microsoft.com/office/drawing/2014/main" id="{0D14E5D6-096B-05CD-D934-31210BFAF809}"/>
              </a:ext>
            </a:extLst>
          </p:cNvPr>
          <p:cNvSpPr/>
          <p:nvPr/>
        </p:nvSpPr>
        <p:spPr>
          <a:xfrm>
            <a:off x="6350000" y="3200400"/>
            <a:ext cx="1778000" cy="711200"/>
          </a:xfrm>
          <a:prstGeom prst="chevron">
            <a:avLst/>
          </a:prstGeom>
          <a:solidFill>
            <a:srgbClr val="E4F1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zh-TW" altLang="en-US" sz="13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修改後端</a:t>
            </a:r>
          </a:p>
        </p:txBody>
      </p:sp>
      <p:sp>
        <p:nvSpPr>
          <p:cNvPr id="13" name="箭號: ＞形 12">
            <a:extLst>
              <a:ext uri="{FF2B5EF4-FFF2-40B4-BE49-F238E27FC236}">
                <a16:creationId xmlns:a16="http://schemas.microsoft.com/office/drawing/2014/main" id="{66E8A6D4-0C54-C7BD-3188-0EDF54CD63CE}"/>
              </a:ext>
            </a:extLst>
          </p:cNvPr>
          <p:cNvSpPr/>
          <p:nvPr/>
        </p:nvSpPr>
        <p:spPr>
          <a:xfrm>
            <a:off x="8102600" y="3200400"/>
            <a:ext cx="1778000" cy="711200"/>
          </a:xfrm>
          <a:prstGeom prst="chevron">
            <a:avLst/>
          </a:prstGeom>
          <a:solidFill>
            <a:srgbClr val="E4F1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zh-TW" altLang="en-US" sz="13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貼到 </a:t>
            </a:r>
            <a:r>
              <a:rPr lang="en-US" altLang="zh-TW" sz="13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Apps Script</a:t>
            </a:r>
            <a:endParaRPr lang="zh-TW" altLang="en-US" sz="1300" b="1">
              <a:solidFill>
                <a:srgbClr val="0F3B47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sym typeface="Microsoft JhengHei" panose="020B0604030504040204" pitchFamily="34" charset="-120"/>
            </a:endParaRPr>
          </a:p>
        </p:txBody>
      </p:sp>
      <p:sp>
        <p:nvSpPr>
          <p:cNvPr id="14" name="箭號: ＞形 13">
            <a:extLst>
              <a:ext uri="{FF2B5EF4-FFF2-40B4-BE49-F238E27FC236}">
                <a16:creationId xmlns:a16="http://schemas.microsoft.com/office/drawing/2014/main" id="{A0B81418-0F81-BBF6-29BC-4266186A3414}"/>
              </a:ext>
            </a:extLst>
          </p:cNvPr>
          <p:cNvSpPr/>
          <p:nvPr/>
        </p:nvSpPr>
        <p:spPr>
          <a:xfrm>
            <a:off x="9855200" y="3200400"/>
            <a:ext cx="1778000" cy="711200"/>
          </a:xfrm>
          <a:prstGeom prst="chevron">
            <a:avLst/>
          </a:prstGeom>
          <a:solidFill>
            <a:srgbClr val="1F6F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zh-TW" altLang="en-US" sz="13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發布新版本（網址不變）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376D355C-11BD-1AD0-AF5F-2D5CE9FA6A25}"/>
              </a:ext>
            </a:extLst>
          </p:cNvPr>
          <p:cNvSpPr/>
          <p:nvPr/>
        </p:nvSpPr>
        <p:spPr>
          <a:xfrm>
            <a:off x="6350000" y="4241800"/>
            <a:ext cx="5232400" cy="1270000"/>
          </a:xfrm>
          <a:prstGeom prst="roundRect">
            <a:avLst>
              <a:gd name="adj" fmla="val 8000"/>
            </a:avLst>
          </a:prstGeom>
          <a:solidFill>
            <a:srgbClr val="FCEF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50800" rIns="203200" bIns="50800" rtlCol="0" anchor="ctr"/>
          <a:lstStyle/>
          <a:p>
            <a:r>
              <a:rPr lang="zh-TW" altLang="en-US" sz="1500" b="1">
                <a:solidFill>
                  <a:srgbClr val="A86A1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示範模式</a:t>
            </a:r>
          </a:p>
          <a:p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在 </a:t>
            </a:r>
            <a:r>
              <a:rPr lang="en-US" altLang="zh-TW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localhost </a:t>
            </a:r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預覽時，瀏覽器直接執行同一份後端程式（搭配模擬的 </a:t>
            </a:r>
            <a:r>
              <a:rPr lang="en-US" altLang="zh-TW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Google </a:t>
            </a:r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服務），測試不會動到正式資料。</a:t>
            </a:r>
          </a:p>
        </p:txBody>
      </p:sp>
    </p:spTree>
    <p:extLst>
      <p:ext uri="{BB962C8B-B14F-4D97-AF65-F5344CB8AC3E}">
        <p14:creationId xmlns:p14="http://schemas.microsoft.com/office/powerpoint/2010/main" val="722897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B704BF-0F70-46E7-88F4-FFED229FF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584200"/>
          </a:xfrm>
        </p:spPr>
        <p:txBody>
          <a:bodyPr wrap="square" lIns="0" tIns="0" rIns="0" bIns="0" anchor="t">
            <a:noAutofit/>
          </a:bodyPr>
          <a:lstStyle/>
          <a:p>
            <a:r>
              <a:rPr lang="zh-TW" altLang="en-US" sz="28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安全與權限設計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CABC8BE-8844-6BBE-0C86-75575704E8CE}"/>
              </a:ext>
            </a:extLst>
          </p:cNvPr>
          <p:cNvSpPr txBox="1"/>
          <p:nvPr/>
        </p:nvSpPr>
        <p:spPr>
          <a:xfrm>
            <a:off x="609600" y="2032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200" b="1">
                <a:solidFill>
                  <a:srgbClr val="E8A3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04 </a:t>
            </a:r>
            <a:r>
              <a:rPr lang="zh-TW" altLang="en-US" sz="1200" b="1">
                <a:solidFill>
                  <a:srgbClr val="E8A3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維運與安全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7088AD6-1E8F-D0E2-6D2B-0817A819B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2CFFA-BCF7-4941-9F1D-DE24BA5E8539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0A27CE94-9745-8296-CE7D-B7E0D1BBF32D}"/>
              </a:ext>
            </a:extLst>
          </p:cNvPr>
          <p:cNvSpPr/>
          <p:nvPr/>
        </p:nvSpPr>
        <p:spPr>
          <a:xfrm>
            <a:off x="609600" y="1320800"/>
            <a:ext cx="5384800" cy="1879600"/>
          </a:xfrm>
          <a:prstGeom prst="roundRect">
            <a:avLst>
              <a:gd name="adj" fmla="val 8000"/>
            </a:avLst>
          </a:prstGeom>
          <a:solidFill>
            <a:srgbClr val="E4F1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58929E89-F2B9-6648-207E-D573DAC7D5C3}"/>
              </a:ext>
            </a:extLst>
          </p:cNvPr>
          <p:cNvSpPr/>
          <p:nvPr/>
        </p:nvSpPr>
        <p:spPr>
          <a:xfrm>
            <a:off x="863600" y="1574800"/>
            <a:ext cx="457200" cy="457200"/>
          </a:xfrm>
          <a:prstGeom prst="ellipse">
            <a:avLst/>
          </a:prstGeom>
          <a:solidFill>
            <a:srgbClr val="1F6F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altLang="zh-TW" sz="16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1</a:t>
            </a:r>
            <a:endParaRPr lang="zh-TW" altLang="en-US" sz="1600" b="1">
              <a:solidFill>
                <a:srgbClr val="FFFFFF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sym typeface="Microsoft JhengHe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CD111D7-24E4-1033-F9B6-D2876AC67965}"/>
              </a:ext>
            </a:extLst>
          </p:cNvPr>
          <p:cNvSpPr txBox="1"/>
          <p:nvPr/>
        </p:nvSpPr>
        <p:spPr>
          <a:xfrm>
            <a:off x="1498600" y="1638300"/>
            <a:ext cx="419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7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公開 </a:t>
            </a:r>
            <a:r>
              <a:rPr lang="en-US" altLang="zh-TW" sz="17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repo </a:t>
            </a:r>
            <a:r>
              <a:rPr lang="zh-TW" altLang="en-US" sz="17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不放任何秘密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E6AFC6C-A21E-30A7-2827-8F145A600A85}"/>
              </a:ext>
            </a:extLst>
          </p:cNvPr>
          <p:cNvSpPr txBox="1"/>
          <p:nvPr/>
        </p:nvSpPr>
        <p:spPr>
          <a:xfrm>
            <a:off x="1498600" y="2108200"/>
            <a:ext cx="419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管理者金鑰存在 </a:t>
            </a:r>
            <a:r>
              <a:rPr lang="en-US" altLang="zh-TW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Apps Script </a:t>
            </a:r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的指令碼屬性，密碼與帳號資料都不進 </a:t>
            </a:r>
            <a:r>
              <a:rPr lang="en-US" altLang="zh-TW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Git</a:t>
            </a:r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；</a:t>
            </a:r>
            <a:r>
              <a:rPr lang="en-US" altLang="zh-TW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commit </a:t>
            </a:r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使用 </a:t>
            </a:r>
            <a:r>
              <a:rPr lang="en-US" altLang="zh-TW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GitHub noreply </a:t>
            </a:r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信箱。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56D9348F-5BBB-0634-821E-16C2B1159E2E}"/>
              </a:ext>
            </a:extLst>
          </p:cNvPr>
          <p:cNvSpPr/>
          <p:nvPr/>
        </p:nvSpPr>
        <p:spPr>
          <a:xfrm>
            <a:off x="6197600" y="1320800"/>
            <a:ext cx="5384800" cy="1879600"/>
          </a:xfrm>
          <a:prstGeom prst="roundRect">
            <a:avLst>
              <a:gd name="adj" fmla="val 8000"/>
            </a:avLst>
          </a:prstGeom>
          <a:solidFill>
            <a:srgbClr val="E4F1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F0ECEA4B-96FE-DE3A-B104-22804682BD85}"/>
              </a:ext>
            </a:extLst>
          </p:cNvPr>
          <p:cNvSpPr/>
          <p:nvPr/>
        </p:nvSpPr>
        <p:spPr>
          <a:xfrm>
            <a:off x="6451600" y="1574800"/>
            <a:ext cx="457200" cy="457200"/>
          </a:xfrm>
          <a:prstGeom prst="ellipse">
            <a:avLst/>
          </a:prstGeom>
          <a:solidFill>
            <a:srgbClr val="1F6F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altLang="zh-TW" sz="16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2</a:t>
            </a:r>
            <a:endParaRPr lang="zh-TW" altLang="en-US" sz="1600" b="1">
              <a:solidFill>
                <a:srgbClr val="FFFFFF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sym typeface="Microsoft JhengHei" panose="020B0604030504040204" pitchFamily="34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4CBBE75-ED66-342C-2525-660F50A0AAD4}"/>
              </a:ext>
            </a:extLst>
          </p:cNvPr>
          <p:cNvSpPr txBox="1"/>
          <p:nvPr/>
        </p:nvSpPr>
        <p:spPr>
          <a:xfrm>
            <a:off x="7086600" y="1638300"/>
            <a:ext cx="419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7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管理功能需要金鑰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99B0261F-8C1D-E25F-89AE-97A6A9F4BC01}"/>
              </a:ext>
            </a:extLst>
          </p:cNvPr>
          <p:cNvSpPr txBox="1"/>
          <p:nvPr/>
        </p:nvSpPr>
        <p:spPr>
          <a:xfrm>
            <a:off x="7086600" y="2108200"/>
            <a:ext cx="419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新增展品、變更狀態、移轉、查履歷、寄催還信都會檢查金鑰；外流時執行 </a:t>
            </a:r>
            <a:r>
              <a:rPr lang="en-US" altLang="zh-TW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resetAdminKey() </a:t>
            </a:r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立即更換。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E2EC004C-B6CB-4ADA-BC62-3A5824D9CCE6}"/>
              </a:ext>
            </a:extLst>
          </p:cNvPr>
          <p:cNvSpPr/>
          <p:nvPr/>
        </p:nvSpPr>
        <p:spPr>
          <a:xfrm>
            <a:off x="609600" y="3403600"/>
            <a:ext cx="5384800" cy="1879600"/>
          </a:xfrm>
          <a:prstGeom prst="roundRect">
            <a:avLst>
              <a:gd name="adj" fmla="val 8000"/>
            </a:avLst>
          </a:prstGeom>
          <a:solidFill>
            <a:srgbClr val="E4F1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E09CE9E0-995A-0313-E9A9-777CE8C7E92F}"/>
              </a:ext>
            </a:extLst>
          </p:cNvPr>
          <p:cNvSpPr/>
          <p:nvPr/>
        </p:nvSpPr>
        <p:spPr>
          <a:xfrm>
            <a:off x="863600" y="3657600"/>
            <a:ext cx="457200" cy="457200"/>
          </a:xfrm>
          <a:prstGeom prst="ellipse">
            <a:avLst/>
          </a:prstGeom>
          <a:solidFill>
            <a:srgbClr val="1F6F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altLang="zh-TW" sz="16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3</a:t>
            </a:r>
            <a:endParaRPr lang="zh-TW" altLang="en-US" sz="1600" b="1">
              <a:solidFill>
                <a:srgbClr val="FFFFFF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sym typeface="Microsoft JhengHei" panose="020B0604030504040204" pitchFamily="34" charset="-12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39959B7-094B-0AE9-0D51-F8AD6E1AA21C}"/>
              </a:ext>
            </a:extLst>
          </p:cNvPr>
          <p:cNvSpPr txBox="1"/>
          <p:nvPr/>
        </p:nvSpPr>
        <p:spPr>
          <a:xfrm>
            <a:off x="1498600" y="3721100"/>
            <a:ext cx="419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7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個資最小揭露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0177F853-2E55-CEB8-3AFD-58E872082818}"/>
              </a:ext>
            </a:extLst>
          </p:cNvPr>
          <p:cNvSpPr txBox="1"/>
          <p:nvPr/>
        </p:nvSpPr>
        <p:spPr>
          <a:xfrm>
            <a:off x="1498600" y="4191000"/>
            <a:ext cx="419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一般查詢只回傳借用者姓名；借用者 </a:t>
            </a:r>
            <a:r>
              <a:rPr lang="en-US" altLang="zh-TW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Email </a:t>
            </a:r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名單與單品履歷只有管理者看得到。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D8101F12-1AF3-7A91-A645-9AB0A612E122}"/>
              </a:ext>
            </a:extLst>
          </p:cNvPr>
          <p:cNvSpPr/>
          <p:nvPr/>
        </p:nvSpPr>
        <p:spPr>
          <a:xfrm>
            <a:off x="6197600" y="3403600"/>
            <a:ext cx="5384800" cy="1879600"/>
          </a:xfrm>
          <a:prstGeom prst="roundRect">
            <a:avLst>
              <a:gd name="adj" fmla="val 8000"/>
            </a:avLst>
          </a:prstGeom>
          <a:solidFill>
            <a:srgbClr val="E4F1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B8C76CEF-F64C-5BA0-28D0-229AB1C9A3AF}"/>
              </a:ext>
            </a:extLst>
          </p:cNvPr>
          <p:cNvSpPr/>
          <p:nvPr/>
        </p:nvSpPr>
        <p:spPr>
          <a:xfrm>
            <a:off x="6451600" y="3657600"/>
            <a:ext cx="457200" cy="457200"/>
          </a:xfrm>
          <a:prstGeom prst="ellipse">
            <a:avLst/>
          </a:prstGeom>
          <a:solidFill>
            <a:srgbClr val="1F6F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altLang="zh-TW" sz="16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4</a:t>
            </a:r>
            <a:endParaRPr lang="zh-TW" altLang="en-US" sz="1600" b="1">
              <a:solidFill>
                <a:srgbClr val="FFFFFF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sym typeface="Microsoft JhengHei" panose="020B0604030504040204" pitchFamily="34" charset="-12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9A6B2C8E-F954-DF04-F9B1-C7C833023909}"/>
              </a:ext>
            </a:extLst>
          </p:cNvPr>
          <p:cNvSpPr txBox="1"/>
          <p:nvPr/>
        </p:nvSpPr>
        <p:spPr>
          <a:xfrm>
            <a:off x="7086600" y="3721100"/>
            <a:ext cx="419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700" b="1">
                <a:solidFill>
                  <a:srgbClr val="0F3B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資料一致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34F685F-058B-8FAA-BEEC-AD66E88043A2}"/>
              </a:ext>
            </a:extLst>
          </p:cNvPr>
          <p:cNvSpPr txBox="1"/>
          <p:nvPr/>
        </p:nvSpPr>
        <p:spPr>
          <a:xfrm>
            <a:off x="7086600" y="4191000"/>
            <a:ext cx="419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>
                <a:solidFill>
                  <a:srgbClr val="1F2A3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寫入時加鎖，兩人同時借同一件不會衝突；整批檢查，借用單不會只成功一半。</a:t>
            </a:r>
          </a:p>
        </p:txBody>
      </p:sp>
    </p:spTree>
    <p:extLst>
      <p:ext uri="{BB962C8B-B14F-4D97-AF65-F5344CB8AC3E}">
        <p14:creationId xmlns:p14="http://schemas.microsoft.com/office/powerpoint/2010/main" val="2510205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C21667-51FD-DFE2-CB13-E6181146B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584200"/>
          </a:xfrm>
        </p:spPr>
        <p:txBody>
          <a:bodyPr wrap="square" lIns="0" tIns="0" rIns="0" bIns="0" anchor="t">
            <a:noAutofit/>
          </a:bodyPr>
          <a:lstStyle/>
          <a:p>
            <a:r>
              <a:rPr lang="zh-TW" altLang="en-US" sz="28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目前限制與下一步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F4C1D25-A7C3-7593-DA07-FB215E6941B1}"/>
              </a:ext>
            </a:extLst>
          </p:cNvPr>
          <p:cNvSpPr txBox="1"/>
          <p:nvPr/>
        </p:nvSpPr>
        <p:spPr>
          <a:xfrm>
            <a:off x="609600" y="2032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200" b="1">
                <a:solidFill>
                  <a:srgbClr val="E8A3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總結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7279567-EFB4-E391-8B29-41BDDD9A5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2CFFA-BCF7-4941-9F1D-DE24BA5E8539}" type="slidenum">
              <a:rPr lang="zh-TW" altLang="en-US" smtClean="0"/>
              <a:t>13</a:t>
            </a:fld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B93B0BDD-A80F-BDB8-3189-B2EBC66EE4D5}"/>
              </a:ext>
            </a:extLst>
          </p:cNvPr>
          <p:cNvSpPr/>
          <p:nvPr/>
        </p:nvSpPr>
        <p:spPr>
          <a:xfrm>
            <a:off x="609600" y="1397000"/>
            <a:ext cx="5334000" cy="2921000"/>
          </a:xfrm>
          <a:prstGeom prst="roundRect">
            <a:avLst>
              <a:gd name="adj" fmla="val 8000"/>
            </a:avLst>
          </a:prstGeom>
          <a:solidFill>
            <a:srgbClr val="164E5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D1E9892-01AA-9A83-4ED4-9AFBF3D168F6}"/>
              </a:ext>
            </a:extLst>
          </p:cNvPr>
          <p:cNvSpPr txBox="1"/>
          <p:nvPr/>
        </p:nvSpPr>
        <p:spPr>
          <a:xfrm>
            <a:off x="914400" y="1625600"/>
            <a:ext cx="472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b="1">
                <a:solidFill>
                  <a:srgbClr val="E8A3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目前限制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DB3731B-36E7-13C3-2F29-4B76B56DBF92}"/>
              </a:ext>
            </a:extLst>
          </p:cNvPr>
          <p:cNvSpPr txBox="1"/>
          <p:nvPr/>
        </p:nvSpPr>
        <p:spPr>
          <a:xfrm>
            <a:off x="914400" y="2108200"/>
            <a:ext cx="472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03200" indent="-203200">
              <a:spcAft>
                <a:spcPts val="900"/>
              </a:spcAft>
              <a:buClr>
                <a:srgbClr val="E8A33D"/>
              </a:buClr>
              <a:buFont typeface="+mj-lt"/>
              <a:buChar char="•"/>
            </a:pPr>
            <a:r>
              <a:rPr lang="en-US" altLang="zh-TW" sz="140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API </a:t>
            </a:r>
            <a:r>
              <a:rPr lang="zh-TW" altLang="en-US" sz="140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網址公開：知道網址的人就能呼叫借用／歸還（為了免登入的取捨）</a:t>
            </a:r>
          </a:p>
          <a:p>
            <a:pPr marL="203200" indent="-203200">
              <a:spcAft>
                <a:spcPts val="900"/>
              </a:spcAft>
              <a:buClr>
                <a:srgbClr val="E8A33D"/>
              </a:buClr>
              <a:buFont typeface="+mj-lt"/>
              <a:buChar char="•"/>
            </a:pPr>
            <a:r>
              <a:rPr lang="zh-TW" altLang="en-US" sz="140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一般 </a:t>
            </a:r>
            <a:r>
              <a:rPr lang="en-US" altLang="zh-TW" sz="140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Gmail </a:t>
            </a:r>
            <a:r>
              <a:rPr lang="zh-TW" altLang="en-US" sz="140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每天約 </a:t>
            </a:r>
            <a:r>
              <a:rPr lang="en-US" altLang="zh-TW" sz="140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100 </a:t>
            </a:r>
            <a:r>
              <a:rPr lang="zh-TW" altLang="en-US" sz="140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封信；試算表適合數千筆以內的資料</a:t>
            </a:r>
          </a:p>
          <a:p>
            <a:pPr marL="203200" indent="-203200">
              <a:spcAft>
                <a:spcPts val="900"/>
              </a:spcAft>
              <a:buClr>
                <a:srgbClr val="E8A33D"/>
              </a:buClr>
              <a:buFont typeface="+mj-lt"/>
              <a:buChar char="•"/>
            </a:pPr>
            <a:r>
              <a:rPr lang="zh-TW" altLang="en-US" sz="140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移轉在畫面上一次一件（後端已支援多件）</a:t>
            </a:r>
          </a:p>
          <a:p>
            <a:pPr marL="203200" indent="-203200">
              <a:spcAft>
                <a:spcPts val="900"/>
              </a:spcAft>
              <a:buClr>
                <a:srgbClr val="E8A33D"/>
              </a:buClr>
              <a:buFont typeface="+mj-lt"/>
              <a:buChar char="•"/>
            </a:pPr>
            <a:r>
              <a:rPr lang="zh-TW" altLang="en-US" sz="140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後端改版要手動貼到 </a:t>
            </a:r>
            <a:r>
              <a:rPr lang="en-US" altLang="zh-TW" sz="140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Apps Script </a:t>
            </a:r>
            <a:r>
              <a:rPr lang="zh-TW" altLang="en-US" sz="140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並發布新版本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408F0BC1-10FC-3C7C-5338-C88AB6B24CC1}"/>
              </a:ext>
            </a:extLst>
          </p:cNvPr>
          <p:cNvSpPr/>
          <p:nvPr/>
        </p:nvSpPr>
        <p:spPr>
          <a:xfrm>
            <a:off x="6248400" y="1397000"/>
            <a:ext cx="5334000" cy="2921000"/>
          </a:xfrm>
          <a:prstGeom prst="roundRect">
            <a:avLst>
              <a:gd name="adj" fmla="val 8000"/>
            </a:avLst>
          </a:prstGeom>
          <a:solidFill>
            <a:srgbClr val="164E5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3D9BC3E-57DE-35D6-EA3A-99855E94FFBD}"/>
              </a:ext>
            </a:extLst>
          </p:cNvPr>
          <p:cNvSpPr txBox="1"/>
          <p:nvPr/>
        </p:nvSpPr>
        <p:spPr>
          <a:xfrm>
            <a:off x="6553200" y="1625600"/>
            <a:ext cx="472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b="1">
                <a:solidFill>
                  <a:srgbClr val="E8A3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建議下一步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6BB2B8C-6F4F-F5B6-49DD-08F90DADCC2B}"/>
              </a:ext>
            </a:extLst>
          </p:cNvPr>
          <p:cNvSpPr txBox="1"/>
          <p:nvPr/>
        </p:nvSpPr>
        <p:spPr>
          <a:xfrm>
            <a:off x="6553200" y="2108200"/>
            <a:ext cx="472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03200" indent="-203200">
              <a:spcAft>
                <a:spcPts val="900"/>
              </a:spcAft>
              <a:buClr>
                <a:srgbClr val="E8A33D"/>
              </a:buClr>
              <a:buFont typeface="+mj-lt"/>
              <a:buChar char="•"/>
            </a:pPr>
            <a:r>
              <a:rPr lang="zh-TW" altLang="en-US" sz="140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用 </a:t>
            </a:r>
            <a:r>
              <a:rPr lang="en-US" altLang="zh-TW" sz="140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TEST01–05 </a:t>
            </a:r>
            <a:r>
              <a:rPr lang="zh-TW" altLang="en-US" sz="140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實測手機掃碼借還</a:t>
            </a:r>
          </a:p>
          <a:p>
            <a:pPr marL="203200" indent="-203200">
              <a:spcAft>
                <a:spcPts val="900"/>
              </a:spcAft>
              <a:buClr>
                <a:srgbClr val="E8A33D"/>
              </a:buClr>
              <a:buFont typeface="+mj-lt"/>
              <a:buChar char="•"/>
            </a:pPr>
            <a:r>
              <a:rPr lang="zh-TW" altLang="en-US" sz="140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建立正式展品並列印 </a:t>
            </a:r>
            <a:r>
              <a:rPr lang="en-US" altLang="zh-TW" sz="140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QR </a:t>
            </a:r>
            <a:r>
              <a:rPr lang="zh-TW" altLang="en-US" sz="140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標籤</a:t>
            </a:r>
          </a:p>
          <a:p>
            <a:pPr marL="203200" indent="-203200">
              <a:spcAft>
                <a:spcPts val="900"/>
              </a:spcAft>
              <a:buClr>
                <a:srgbClr val="E8A33D"/>
              </a:buClr>
              <a:buFont typeface="+mj-lt"/>
              <a:buChar char="•"/>
            </a:pPr>
            <a:r>
              <a:rPr lang="zh-TW" altLang="en-US" sz="140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在 </a:t>
            </a:r>
            <a:r>
              <a:rPr lang="en-US" altLang="zh-TW" sz="140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Settings </a:t>
            </a:r>
            <a:r>
              <a:rPr lang="zh-TW" altLang="en-US" sz="140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設定 </a:t>
            </a:r>
            <a:r>
              <a:rPr lang="en-US" altLang="zh-TW" sz="140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EMAIL_DOMAIN</a:t>
            </a:r>
            <a:r>
              <a:rPr lang="zh-TW" altLang="en-US" sz="140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、</a:t>
            </a:r>
            <a:r>
              <a:rPr lang="en-US" altLang="zh-TW" sz="140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ADMIN_EMAILS</a:t>
            </a:r>
          </a:p>
          <a:p>
            <a:pPr marL="203200" indent="-203200">
              <a:spcAft>
                <a:spcPts val="900"/>
              </a:spcAft>
              <a:buClr>
                <a:srgbClr val="E8A33D"/>
              </a:buClr>
              <a:buFont typeface="+mj-lt"/>
              <a:buChar char="•"/>
            </a:pPr>
            <a:r>
              <a:rPr lang="zh-TW" altLang="en-US" sz="140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視需要加入：公司帳號登入、批次移轉、</a:t>
            </a:r>
            <a:r>
              <a:rPr lang="en-US" altLang="zh-TW" sz="140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clasp </a:t>
            </a:r>
            <a:r>
              <a:rPr lang="zh-TW" altLang="en-US" sz="140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自動部署後端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C7BF24C-D98A-7BD6-EC0A-01D40CAE13E3}"/>
              </a:ext>
            </a:extLst>
          </p:cNvPr>
          <p:cNvSpPr txBox="1"/>
          <p:nvPr/>
        </p:nvSpPr>
        <p:spPr>
          <a:xfrm>
            <a:off x="609600" y="4724400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b="1">
                <a:solidFill>
                  <a:srgbClr val="C9E4E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設計目標：讓同仁願意用</a:t>
            </a:r>
            <a:r>
              <a:rPr lang="en-US" altLang="zh-TW" b="1">
                <a:solidFill>
                  <a:srgbClr val="C9E4E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——</a:t>
            </a:r>
            <a:r>
              <a:rPr lang="zh-TW" altLang="en-US" b="1">
                <a:solidFill>
                  <a:srgbClr val="C9E4E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 panose="020B0604030504040204" pitchFamily="34" charset="-120"/>
              </a:rPr>
              <a:t>掃一下就能借，追蹤與催還交給系統。</a:t>
            </a:r>
          </a:p>
        </p:txBody>
      </p:sp>
    </p:spTree>
    <p:extLst>
      <p:ext uri="{BB962C8B-B14F-4D97-AF65-F5344CB8AC3E}">
        <p14:creationId xmlns:p14="http://schemas.microsoft.com/office/powerpoint/2010/main" val="4189381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rgbClr val="1F2A30"/>
      </a:dk1>
      <a:lt1>
        <a:srgbClr val="FFFFFF"/>
      </a:lt1>
      <a:dk2>
        <a:srgbClr val="0F3B47"/>
      </a:dk2>
      <a:lt2>
        <a:srgbClr val="F3F5F7"/>
      </a:lt2>
      <a:accent1>
        <a:srgbClr val="1F6F78"/>
      </a:accent1>
      <a:accent2>
        <a:srgbClr val="E8A33D"/>
      </a:accent2>
      <a:accent3>
        <a:srgbClr val="0F3B47"/>
      </a:accent3>
      <a:accent4>
        <a:srgbClr val="5F6B7A"/>
      </a:accent4>
      <a:accent5>
        <a:srgbClr val="B03A2E"/>
      </a:accent5>
      <a:accent6>
        <a:srgbClr val="C9CED4"/>
      </a:accent6>
      <a:hlink>
        <a:srgbClr val="467886"/>
      </a:hlink>
      <a:folHlink>
        <a:srgbClr val="96607D"/>
      </a:folHlink>
    </a:clrScheme>
    <a:fontScheme name="Office">
      <a:majorFont>
        <a:latin typeface="Microsoft JhengHei" panose="02110004020202020204"/>
        <a:ea typeface="Microsoft JhengHei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 panose="02110004020202020204"/>
        <a:ea typeface="Microsoft JhengHei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2466</Words>
  <Application>Microsoft Office PowerPoint</Application>
  <PresentationFormat>自訂</PresentationFormat>
  <Paragraphs>290</Paragraphs>
  <Slides>13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8" baseType="lpstr">
      <vt:lpstr>微軟正黑體</vt:lpstr>
      <vt:lpstr>Aptos</vt:lpstr>
      <vt:lpstr>Arial</vt:lpstr>
      <vt:lpstr>Consolas</vt:lpstr>
      <vt:lpstr>Office 佈景主題</vt:lpstr>
      <vt:lpstr>智慧展品借還管理系統</vt:lpstr>
      <vt:lpstr>四個元件組成，零安裝、零伺服器</vt:lpstr>
      <vt:lpstr>需求書的每一項，系統怎麼做</vt:lpstr>
      <vt:lpstr>系統架構：前端、後端、資料分開</vt:lpstr>
      <vt:lpstr>使用流程：像掃碼點餐一樣借還展品</vt:lpstr>
      <vt:lpstr>分批歸還：借 10 件去日本，5 件轉往美國</vt:lpstr>
      <vt:lpstr>資料結構：五張工作表就是資料庫</vt:lpstr>
      <vt:lpstr>展品狀態：誰能在什麼時候改變它</vt:lpstr>
      <vt:lpstr>後端 API：一個網址，用 action 區分功能</vt:lpstr>
      <vt:lpstr>每日自動催還：不用再靠 LINE 群組追人</vt:lpstr>
      <vt:lpstr>程式碼結構與部署方式</vt:lpstr>
      <vt:lpstr>安全與權限設計</vt:lpstr>
      <vt:lpstr>目前限制與下一步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WilsonWCWang(王威眾)</dc:creator>
  <cp:lastModifiedBy>WilsonWCWang(王威眾)</cp:lastModifiedBy>
  <cp:revision>1</cp:revision>
  <dcterms:created xsi:type="dcterms:W3CDTF">2026-10-13T02:47:00Z</dcterms:created>
  <dcterms:modified xsi:type="dcterms:W3CDTF">2026-10-13T02:47:00Z</dcterms:modified>
</cp:coreProperties>
</file>